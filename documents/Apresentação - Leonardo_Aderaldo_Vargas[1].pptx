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68" r:id="rId2"/>
    <p:sldId id="260" r:id="rId3"/>
    <p:sldId id="266" r:id="rId4"/>
    <p:sldId id="270" r:id="rId5"/>
    <p:sldId id="271" r:id="rId6"/>
    <p:sldId id="293" r:id="rId7"/>
    <p:sldId id="280" r:id="rId8"/>
    <p:sldId id="281" r:id="rId9"/>
    <p:sldId id="282" r:id="rId10"/>
    <p:sldId id="287" r:id="rId11"/>
    <p:sldId id="285" r:id="rId12"/>
    <p:sldId id="264" r:id="rId13"/>
    <p:sldId id="291" r:id="rId14"/>
    <p:sldId id="290" r:id="rId15"/>
    <p:sldId id="294" r:id="rId16"/>
    <p:sldId id="289" r:id="rId17"/>
    <p:sldId id="292" r:id="rId18"/>
    <p:sldId id="286" r:id="rId19"/>
    <p:sldId id="277" r:id="rId20"/>
    <p:sldId id="265" r:id="rId21"/>
    <p:sldId id="261" r:id="rId22"/>
    <p:sldId id="256" r:id="rId23"/>
    <p:sldId id="259" r:id="rId24"/>
    <p:sldId id="288" r:id="rId25"/>
    <p:sldId id="295" r:id="rId26"/>
    <p:sldId id="296" r:id="rId27"/>
    <p:sldId id="257" r:id="rId2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00"/>
    <a:srgbClr val="1B7B56"/>
    <a:srgbClr val="28396E"/>
    <a:srgbClr val="31579B"/>
    <a:srgbClr val="35D397"/>
    <a:srgbClr val="20E8DE"/>
    <a:srgbClr val="255971"/>
    <a:srgbClr val="E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Estilo Médio 3 - Ênfase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Estilo Claro 1 - Ênfase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95" autoAdjust="0"/>
    <p:restoredTop sz="96374" autoAdjust="0"/>
  </p:normalViewPr>
  <p:slideViewPr>
    <p:cSldViewPr snapToGrid="0">
      <p:cViewPr varScale="1">
        <p:scale>
          <a:sx n="114" d="100"/>
          <a:sy n="114" d="100"/>
        </p:scale>
        <p:origin x="2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C0A46B42-B3DA-321B-629E-FECF9C8D0D4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EEFAA4C2-A975-19ED-BDF0-C28F8E6F1A6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B69BD-CB27-4A1A-983A-A6ED6D75C17E}" type="datetime1">
              <a:rPr lang="pt-BR" smtClean="0"/>
              <a:t>01/04/2024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567C4B6-5C1D-5718-3AAC-F9285D75EF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38DF120C-E3A8-FE1D-4391-AE5AB47441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39DC-3B21-4B5A-B76D-61E9311CA0C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2608727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EDFD52-8232-44B9-AC80-6D564CAB91DC}" type="datetime1">
              <a:rPr lang="pt-BR" smtClean="0"/>
              <a:t>01/04/2024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F66B2-F1BD-4275-A55B-3341E8CCAD9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8065377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039F8-79D0-3634-2D7D-981188E35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969A409-3DAD-AA71-E42E-B84551A7C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0646A50-EBA2-624F-B89E-9C5E0218C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4E3F906-2A56-9F1B-51C6-B5D22F849AF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EC381E1E-DB6E-4558-AD48-DB52F10173E4}" type="datetime1">
              <a:rPr lang="pt-BR" smtClean="0"/>
              <a:t>01/04/2024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4013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D41FB85-B4F3-412D-522F-D39B81DAB0A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5C2757C-D1CD-4C5E-BAF9-27DCC06D3810}" type="datetime1">
              <a:rPr lang="pt-BR" smtClean="0"/>
              <a:t>01/04/2024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5603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D1C914E-C1FE-DAF3-3EF2-12A41BBE8A7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A3D09DF9-7ABE-47EE-9D5A-057B0BDDB37E}" type="datetime1">
              <a:rPr lang="pt-BR" smtClean="0"/>
              <a:t>01/04/2024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14980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92EB0B2-877B-9616-B429-2AA928FD323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00317193-B4EB-407D-877C-6976646099D1}" type="datetime1">
              <a:rPr lang="pt-BR" smtClean="0"/>
              <a:t>01/04/2024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74564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38F3A61-D520-DB9F-40A9-5E42F7015636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E7B7DFF-F8FB-4C0E-8C86-4079A45B7041}" type="datetime1">
              <a:rPr lang="pt-BR" smtClean="0"/>
              <a:t>01/04/2024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2997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FA6B907-8C22-9DCF-84B8-730C823B4B16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E34D738-CFBF-4E9E-AF95-BC880C56FF70}" type="datetime1">
              <a:rPr lang="pt-BR" smtClean="0"/>
              <a:t>01/04/2024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37107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5062B78-53A6-F0DE-55D5-9E7F1396555A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E6568E6A-331C-446D-A41E-8386A39134BE}" type="datetime1">
              <a:rPr lang="pt-BR" smtClean="0"/>
              <a:t>01/04/2024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08818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039F8-79D0-3634-2D7D-981188E35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969A409-3DAD-AA71-E42E-B84551A7C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0646A50-EBA2-624F-B89E-9C5E0218C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9CE59-BA8C-2DE2-C6F8-F627FD3A175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60D6DD7A-049D-48AF-BBA8-7B892D9718B2}" type="datetime1">
              <a:rPr lang="pt-BR" smtClean="0"/>
              <a:t>01/04/2024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57041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D41FB85-B4F3-412D-522F-D39B81DAB0A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5C2757C-D1CD-4C5E-BAF9-27DCC06D3810}" type="datetime1">
              <a:rPr lang="pt-BR" smtClean="0"/>
              <a:t>01/04/2024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1698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3ED363C-222B-D7A6-EE7C-66C32007889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E3300461-0019-4533-BED9-E2C3FBE09230}" type="datetime1">
              <a:rPr lang="pt-BR" smtClean="0"/>
              <a:t>01/04/2024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12589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D1C914E-C1FE-DAF3-3EF2-12A41BBE8A7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A3D09DF9-7ABE-47EE-9D5A-057B0BDDB37E}" type="datetime1">
              <a:rPr lang="pt-BR" smtClean="0"/>
              <a:t>01/04/2024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47683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D1C914E-C1FE-DAF3-3EF2-12A41BBE8A7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A3D09DF9-7ABE-47EE-9D5A-057B0BDDB37E}" type="datetime1">
              <a:rPr lang="pt-BR" smtClean="0"/>
              <a:t>01/04/2024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45972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92EB0B2-877B-9616-B429-2AA928FD323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00317193-B4EB-407D-877C-6976646099D1}" type="datetime1">
              <a:rPr lang="pt-BR" smtClean="0"/>
              <a:t>01/04/2024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2727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ED0EC86-9FEC-90B3-7733-AF05B8100AF6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6641616E-97E0-4060-BBC6-D4EB86FDB686}" type="datetime1">
              <a:rPr lang="pt-BR" smtClean="0"/>
              <a:t>01/04/2024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53462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21D9619-A6BA-91A6-0974-9FDDC0A3D04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E2D5A151-DBE1-4ED8-9772-8A20C2FA96C9}" type="datetime1">
              <a:rPr lang="pt-BR" smtClean="0"/>
              <a:t>01/04/2024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6069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C9D2D8-E4C8-B49C-E7D6-EEAC5393FD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355C1C7-C611-F4BD-5795-9A879EE03D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18166C8-07C1-2265-FCA8-13334F9A0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359C0-2312-4F57-A8E5-E0A8DC77DF78}" type="datetime1">
              <a:rPr lang="pt-BR" smtClean="0"/>
              <a:t>01/04/2024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4A7ED47-5785-4F8C-E3A1-603F65598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29CD81D-804B-76CD-9CF3-301415E14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4099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CBC998-00C3-9A85-34B9-0695AE5CD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48748DF-40E8-EDC7-E654-29B5B203E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7F5E018-A9B8-701A-39D7-B03729819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53A92-E73C-442A-B5A0-9D03FFCB0BEB}" type="datetime1">
              <a:rPr lang="pt-BR" smtClean="0"/>
              <a:t>01/04/2024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C26880-163A-68C1-C850-4256F0901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5BC0D8D-EE58-7287-3428-16A99D96F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3157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218C22-7673-E414-E1F4-BEA9420FB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BB4491F-225B-E300-A6F4-20BC6E96B4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DA0F34F-B931-3009-3289-67E832DEE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39524-EDFE-4C92-9961-7A6D2C580F17}" type="datetime1">
              <a:rPr lang="pt-BR" smtClean="0"/>
              <a:t>01/04/2024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A2C34BE-6C82-6FF7-C2B2-71006DED6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E8AA20-1A98-5842-29F8-F69ACB770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133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1E7094-6BF6-18FB-AF07-469215570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ED57CD6-0568-151B-9FDF-515C8D933E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6574F4D-7E5D-F090-7099-7252005550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7D78F14-37AA-D8FB-93F4-06EB32961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AD20B-C6B5-446D-A9C3-0349A256FAC9}" type="datetime1">
              <a:rPr lang="pt-BR" smtClean="0"/>
              <a:t>01/04/2024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8FE04EF-C1DC-ADBA-6757-F9628B235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0726B0A-D338-A4ED-7246-5310364C2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09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96E1AC-D281-FDD1-E23F-BC31D8893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6BEAC8B-2FE7-3315-AB8D-A139AB09A7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6461A84-CF23-A8DA-9681-AED895727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9D3BCFA-C726-2B62-9012-D7F165904B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9C3618-3E6F-9E58-A894-B5877164F3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125D3ED-3BEC-6EC1-77F9-BB4CD4476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2B46C-69BD-4D96-8A07-3BD849B191BA}" type="datetime1">
              <a:rPr lang="pt-BR" smtClean="0"/>
              <a:t>01/04/2024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DE03D79-E06F-FDC8-5D76-958D1D555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2456782-8E1A-DB7C-E357-FFCED7283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605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7D19E-B5B2-D6B0-4AE2-C98F16C17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D754B723-A0DA-2EF7-AA9D-D68075E55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3446AB-B3D1-44AF-B0B8-572CA35A4065}" type="datetime1">
              <a:rPr lang="pt-BR" smtClean="0"/>
              <a:t>01/04/2024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48C669DF-BABA-CB25-9CA2-628D9C19B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CDC9150-CDDE-674F-3180-DCA99F103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8483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94C91C3-3533-ED05-4E65-C3DE05B94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D27EF-4355-421D-8F97-AC23166224DF}" type="datetime1">
              <a:rPr lang="pt-BR" smtClean="0"/>
              <a:t>01/04/2024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B14C646-1C99-FE0B-C506-F6B0082B7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BFAF1F-8184-9EE4-A794-B778DEAA5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5510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75B76F-AE9F-9416-AED2-08AAEF385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D2EAF8-1CB2-CFB2-CBEF-19B3357270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7BD6FB7-5157-81EB-DA97-B94A2253B1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4430D09-7816-C1B6-5B9B-A155D8367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0AB08-F387-4D4C-887C-6801A88F2883}" type="datetime1">
              <a:rPr lang="pt-BR" smtClean="0"/>
              <a:t>01/04/2024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F35EC13-93DE-E6A6-B401-4A7F31E92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91B9913-89F4-AA78-4B5C-0BC1625DF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0621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C24762-6922-304D-5E1C-0AC7740B8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32D3D00-BE85-518F-3158-569F64FDAA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DFDBD05-A222-F0AC-63C9-4C530AEA2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C04A596-474B-C749-7E70-30233BE9B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A432F-795B-4E70-81FF-E54956944181}" type="datetime1">
              <a:rPr lang="pt-BR" smtClean="0"/>
              <a:t>01/04/2024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900FAC6-B5FB-C064-BB86-51547BE12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3D012B3-2497-A531-E4C1-4D1DD5D61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39898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8A8FB9-5892-0BA5-66DA-E942EAF26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DF9C2AA-8F29-222B-9F63-E96A97CBF5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CB7751B-7D38-29F5-709F-C61EB8702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78B7B-8486-465E-938D-5ACE3D23524C}" type="datetime1">
              <a:rPr lang="pt-BR" smtClean="0"/>
              <a:t>01/04/2024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582934D-2D9D-D0F9-BBFA-BC76CD504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4B98626-C058-771B-3346-B6E901C25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63149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C97D384-80DD-1A62-5D42-D09252B1A5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AB6E437-46BF-75FE-88E1-3C160AB9D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8DBFB66-9A31-B6D8-B770-7BF43E531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9A634-47D3-4891-9A01-0627FC37D046}" type="datetime1">
              <a:rPr lang="pt-BR" smtClean="0"/>
              <a:t>01/04/2024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62B9907-3DE3-A458-62FD-E056AB227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A1C2EA7-C072-2684-D809-E2B1AD6B3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4039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C4E640E-091B-52C7-F7BE-9CC993514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D22B5C4-5420-FEC1-01AE-5C2789EF14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B128AF7-EF84-5525-BB4B-0056FFD1C5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0E7452-49DC-4374-BC6E-A89F79B6E1B9}" type="datetime1">
              <a:rPr lang="pt-BR" smtClean="0"/>
              <a:t>01/04/2024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4BBB326-4791-79B1-C265-3A6A86BDAF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24E8B97-B14C-33A8-F3C3-803530AD4A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2E7D2D-E592-41F1-8B20-DBD4249F33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5628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2.png"/><Relationship Id="rId9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Relationship Id="rId9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6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200.png"/><Relationship Id="rId7" Type="http://schemas.openxmlformats.org/officeDocument/2006/relationships/image" Target="../media/image37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0.png"/><Relationship Id="rId5" Type="http://schemas.openxmlformats.org/officeDocument/2006/relationships/image" Target="../media/image38.png"/><Relationship Id="rId10" Type="http://schemas.openxmlformats.org/officeDocument/2006/relationships/image" Target="../media/image90.png"/><Relationship Id="rId4" Type="http://schemas.openxmlformats.org/officeDocument/2006/relationships/image" Target="../media/image370.png"/><Relationship Id="rId9" Type="http://schemas.openxmlformats.org/officeDocument/2006/relationships/image" Target="../media/image8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1D3BA-1DAD-B90C-343F-10465245B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id="{DB56AC0E-6DE4-929A-0030-3823BD42DA49}"/>
              </a:ext>
            </a:extLst>
          </p:cNvPr>
          <p:cNvSpPr/>
          <p:nvPr/>
        </p:nvSpPr>
        <p:spPr>
          <a:xfrm rot="5400000" flipH="1">
            <a:off x="6675591" y="1912044"/>
            <a:ext cx="6858000" cy="3033911"/>
          </a:xfrm>
          <a:prstGeom prst="rect">
            <a:avLst/>
          </a:prstGeom>
          <a:solidFill>
            <a:srgbClr val="28396E"/>
          </a:solidFill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F25803EA-18D0-16CE-25E9-17C4A65400D3}"/>
              </a:ext>
            </a:extLst>
          </p:cNvPr>
          <p:cNvSpPr/>
          <p:nvPr/>
        </p:nvSpPr>
        <p:spPr>
          <a:xfrm rot="5400000" flipH="1">
            <a:off x="3703739" y="-325074"/>
            <a:ext cx="50334" cy="7457813"/>
          </a:xfrm>
          <a:prstGeom prst="rect">
            <a:avLst/>
          </a:prstGeom>
          <a:solidFill>
            <a:srgbClr val="28396E"/>
          </a:solidFill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AC865A7-2DB1-2A8E-0FE6-D9B3ACF98C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0453" y="418011"/>
            <a:ext cx="5051394" cy="753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E5F632A6-14AA-909E-394D-E2E611445D62}"/>
              </a:ext>
            </a:extLst>
          </p:cNvPr>
          <p:cNvSpPr txBox="1"/>
          <p:nvPr/>
        </p:nvSpPr>
        <p:spPr>
          <a:xfrm>
            <a:off x="310392" y="2732334"/>
            <a:ext cx="7222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ANÁLISE DE RISCO DE CRÉDITO DIRECIONADA POR MODELAGEM MATEMÁTICA E APRENDIZADO DE MÁQUINA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6953C422-B6AB-06A2-6F92-0DE72FCCB37F}"/>
              </a:ext>
            </a:extLst>
          </p:cNvPr>
          <p:cNvSpPr txBox="1"/>
          <p:nvPr/>
        </p:nvSpPr>
        <p:spPr>
          <a:xfrm>
            <a:off x="796140" y="4776504"/>
            <a:ext cx="6661673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Autor: Leonardo Aderaldo Vargas</a:t>
            </a:r>
          </a:p>
          <a:p>
            <a:pPr algn="r"/>
            <a:endParaRPr lang="pt-BR" sz="1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pt-BR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Orientador: Prof. Dr. Leopoldo André </a:t>
            </a:r>
            <a:r>
              <a:rPr lang="pt-BR" sz="14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Lusquino</a:t>
            </a:r>
            <a:r>
              <a:rPr lang="pt-BR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Filho </a:t>
            </a:r>
          </a:p>
          <a:p>
            <a:pPr algn="r"/>
            <a:endParaRPr lang="pt-BR" sz="1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pt-BR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Coorientador: Prof. Dr. Galdenoro </a:t>
            </a:r>
            <a:r>
              <a:rPr lang="pt-BR" sz="14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Botura</a:t>
            </a:r>
            <a:r>
              <a:rPr lang="pt-BR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Junior</a:t>
            </a:r>
          </a:p>
          <a:p>
            <a:pPr algn="r"/>
            <a:endParaRPr lang="pt-BR" sz="1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BDC2468-2AFB-53D5-76BB-534D2DAC6E72}"/>
              </a:ext>
            </a:extLst>
          </p:cNvPr>
          <p:cNvSpPr txBox="1"/>
          <p:nvPr/>
        </p:nvSpPr>
        <p:spPr>
          <a:xfrm>
            <a:off x="3047301" y="3246431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</p:txBody>
      </p:sp>
      <p:grpSp>
        <p:nvGrpSpPr>
          <p:cNvPr id="14" name="Group 4">
            <a:extLst>
              <a:ext uri="{FF2B5EF4-FFF2-40B4-BE49-F238E27FC236}">
                <a16:creationId xmlns:a16="http://schemas.microsoft.com/office/drawing/2014/main" id="{0BA0A289-53F4-6A3B-66BC-4DA06E71C2C2}"/>
              </a:ext>
            </a:extLst>
          </p:cNvPr>
          <p:cNvGrpSpPr/>
          <p:nvPr/>
        </p:nvGrpSpPr>
        <p:grpSpPr>
          <a:xfrm>
            <a:off x="8292378" y="0"/>
            <a:ext cx="3718851" cy="6858000"/>
            <a:chOff x="0" y="0"/>
            <a:chExt cx="7437701" cy="13716000"/>
          </a:xfrm>
        </p:grpSpPr>
        <p:pic>
          <p:nvPicPr>
            <p:cNvPr id="15" name="Picture 5">
              <a:extLst>
                <a:ext uri="{FF2B5EF4-FFF2-40B4-BE49-F238E27FC236}">
                  <a16:creationId xmlns:a16="http://schemas.microsoft.com/office/drawing/2014/main" id="{6D9E8A31-3F00-0D67-1BC1-4023164F46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6034" r="38040"/>
            <a:stretch>
              <a:fillRect/>
            </a:stretch>
          </p:blipFill>
          <p:spPr>
            <a:xfrm>
              <a:off x="0" y="0"/>
              <a:ext cx="7437701" cy="1371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88815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7F4C-AF70-B8BD-1B83-56C4DB838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tângulo 69">
            <a:extLst>
              <a:ext uri="{FF2B5EF4-FFF2-40B4-BE49-F238E27FC236}">
                <a16:creationId xmlns:a16="http://schemas.microsoft.com/office/drawing/2014/main" id="{7587138A-62D4-9F62-ACB4-6EF5579FE493}"/>
              </a:ext>
            </a:extLst>
          </p:cNvPr>
          <p:cNvSpPr/>
          <p:nvPr/>
        </p:nvSpPr>
        <p:spPr>
          <a:xfrm>
            <a:off x="4921186" y="906322"/>
            <a:ext cx="7170132" cy="582007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5" name="Retângulo 114">
            <a:extLst>
              <a:ext uri="{FF2B5EF4-FFF2-40B4-BE49-F238E27FC236}">
                <a16:creationId xmlns:a16="http://schemas.microsoft.com/office/drawing/2014/main" id="{D0DEFCD0-8546-5AC5-51DC-B84CF902E850}"/>
              </a:ext>
            </a:extLst>
          </p:cNvPr>
          <p:cNvSpPr/>
          <p:nvPr/>
        </p:nvSpPr>
        <p:spPr>
          <a:xfrm>
            <a:off x="49806" y="3212796"/>
            <a:ext cx="4797159" cy="35136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27587643-221F-F995-2257-DB62164C6B3D}"/>
              </a:ext>
            </a:extLst>
          </p:cNvPr>
          <p:cNvSpPr/>
          <p:nvPr/>
        </p:nvSpPr>
        <p:spPr>
          <a:xfrm>
            <a:off x="49806" y="906322"/>
            <a:ext cx="4797159" cy="19748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2" name="Shape 4">
            <a:extLst>
              <a:ext uri="{FF2B5EF4-FFF2-40B4-BE49-F238E27FC236}">
                <a16:creationId xmlns:a16="http://schemas.microsoft.com/office/drawing/2014/main" id="{A72051EB-422B-1DEB-BFF7-6D3752DFFEED}"/>
              </a:ext>
            </a:extLst>
          </p:cNvPr>
          <p:cNvSpPr/>
          <p:nvPr/>
        </p:nvSpPr>
        <p:spPr>
          <a:xfrm>
            <a:off x="689984" y="5534200"/>
            <a:ext cx="391558" cy="63862"/>
          </a:xfrm>
          <a:prstGeom prst="roundRect">
            <a:avLst>
              <a:gd name="adj" fmla="val 225103"/>
            </a:avLst>
          </a:prstGeom>
          <a:solidFill>
            <a:srgbClr val="C9CAC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319D6D40-DEEB-A805-8A25-34247A2899F0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O QUE É CRÉDITO?</a:t>
            </a:r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18583CAA-B3B5-FD2C-21B6-FA489503C998}"/>
              </a:ext>
            </a:extLst>
          </p:cNvPr>
          <p:cNvSpPr/>
          <p:nvPr/>
        </p:nvSpPr>
        <p:spPr>
          <a:xfrm>
            <a:off x="212881" y="712493"/>
            <a:ext cx="1615919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Definição</a:t>
            </a:r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09C159D4-42ED-AFFE-F40A-F6AFE9DE67DB}"/>
              </a:ext>
            </a:extLst>
          </p:cNvPr>
          <p:cNvSpPr txBox="1"/>
          <p:nvPr/>
        </p:nvSpPr>
        <p:spPr>
          <a:xfrm>
            <a:off x="193140" y="1368563"/>
            <a:ext cx="4502685" cy="789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Crédito é um tipo de recurso que os clientes solicitam a instituições financeiras quando não possuem capital suficiente para realizar uma compra. </a:t>
            </a:r>
          </a:p>
        </p:txBody>
      </p:sp>
      <p:sp>
        <p:nvSpPr>
          <p:cNvPr id="101" name="Shape 3">
            <a:extLst>
              <a:ext uri="{FF2B5EF4-FFF2-40B4-BE49-F238E27FC236}">
                <a16:creationId xmlns:a16="http://schemas.microsoft.com/office/drawing/2014/main" id="{48A9D43D-BAC0-7132-5C21-D8DACA3B5096}"/>
              </a:ext>
            </a:extLst>
          </p:cNvPr>
          <p:cNvSpPr/>
          <p:nvPr/>
        </p:nvSpPr>
        <p:spPr>
          <a:xfrm>
            <a:off x="418501" y="4625639"/>
            <a:ext cx="109153" cy="1870380"/>
          </a:xfrm>
          <a:prstGeom prst="roundRect">
            <a:avLst>
              <a:gd name="adj" fmla="val 225103"/>
            </a:avLst>
          </a:prstGeom>
          <a:solidFill>
            <a:srgbClr val="C9CAC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2" name="Shape 4">
            <a:extLst>
              <a:ext uri="{FF2B5EF4-FFF2-40B4-BE49-F238E27FC236}">
                <a16:creationId xmlns:a16="http://schemas.microsoft.com/office/drawing/2014/main" id="{70BCC0B4-C852-C21A-11CF-FAC26D579E12}"/>
              </a:ext>
            </a:extLst>
          </p:cNvPr>
          <p:cNvSpPr/>
          <p:nvPr/>
        </p:nvSpPr>
        <p:spPr>
          <a:xfrm>
            <a:off x="704106" y="4973561"/>
            <a:ext cx="391558" cy="63862"/>
          </a:xfrm>
          <a:prstGeom prst="roundRect">
            <a:avLst>
              <a:gd name="adj" fmla="val 225103"/>
            </a:avLst>
          </a:prstGeom>
          <a:solidFill>
            <a:srgbClr val="C9CAC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3" name="Shape 5">
            <a:extLst>
              <a:ext uri="{FF2B5EF4-FFF2-40B4-BE49-F238E27FC236}">
                <a16:creationId xmlns:a16="http://schemas.microsoft.com/office/drawing/2014/main" id="{C6AE7C43-96C7-363E-4F7E-C43D76F48B60}"/>
              </a:ext>
            </a:extLst>
          </p:cNvPr>
          <p:cNvSpPr/>
          <p:nvPr/>
        </p:nvSpPr>
        <p:spPr>
          <a:xfrm>
            <a:off x="228450" y="4756927"/>
            <a:ext cx="475655" cy="475655"/>
          </a:xfrm>
          <a:prstGeom prst="roundRect">
            <a:avLst>
              <a:gd name="adj" fmla="val 20003"/>
            </a:avLst>
          </a:prstGeom>
          <a:solidFill>
            <a:srgbClr val="E3E4E8"/>
          </a:solidFill>
          <a:ln w="7620">
            <a:solidFill>
              <a:srgbClr val="C9CAC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4" name="Text 6">
            <a:extLst>
              <a:ext uri="{FF2B5EF4-FFF2-40B4-BE49-F238E27FC236}">
                <a16:creationId xmlns:a16="http://schemas.microsoft.com/office/drawing/2014/main" id="{3A64A869-EA90-8D5B-7A70-98F7DCB1C12A}"/>
              </a:ext>
            </a:extLst>
          </p:cNvPr>
          <p:cNvSpPr/>
          <p:nvPr/>
        </p:nvSpPr>
        <p:spPr>
          <a:xfrm>
            <a:off x="404901" y="4796456"/>
            <a:ext cx="122753" cy="39647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3122"/>
              </a:lnSpc>
              <a:buNone/>
            </a:pPr>
            <a:r>
              <a:rPr lang="en-US" sz="2497" b="1" dirty="0">
                <a:solidFill>
                  <a:srgbClr val="28396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1</a:t>
            </a:r>
            <a:endParaRPr lang="en-US" sz="2497" dirty="0">
              <a:solidFill>
                <a:srgbClr val="28396E"/>
              </a:solidFill>
            </a:endParaRPr>
          </a:p>
        </p:txBody>
      </p:sp>
      <p:sp>
        <p:nvSpPr>
          <p:cNvPr id="106" name="Shape 10">
            <a:extLst>
              <a:ext uri="{FF2B5EF4-FFF2-40B4-BE49-F238E27FC236}">
                <a16:creationId xmlns:a16="http://schemas.microsoft.com/office/drawing/2014/main" id="{C69B97AE-38C7-1D93-E05F-77EE25F4F137}"/>
              </a:ext>
            </a:extLst>
          </p:cNvPr>
          <p:cNvSpPr/>
          <p:nvPr/>
        </p:nvSpPr>
        <p:spPr>
          <a:xfrm>
            <a:off x="242425" y="5315728"/>
            <a:ext cx="475655" cy="475655"/>
          </a:xfrm>
          <a:prstGeom prst="roundRect">
            <a:avLst>
              <a:gd name="adj" fmla="val 20003"/>
            </a:avLst>
          </a:prstGeom>
          <a:solidFill>
            <a:srgbClr val="E3E4E8"/>
          </a:solidFill>
          <a:ln w="7620">
            <a:solidFill>
              <a:srgbClr val="C9CAC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7" name="Text 11">
            <a:extLst>
              <a:ext uri="{FF2B5EF4-FFF2-40B4-BE49-F238E27FC236}">
                <a16:creationId xmlns:a16="http://schemas.microsoft.com/office/drawing/2014/main" id="{935E23F4-D648-C6D9-CF79-CACC0D91641F}"/>
              </a:ext>
            </a:extLst>
          </p:cNvPr>
          <p:cNvSpPr/>
          <p:nvPr/>
        </p:nvSpPr>
        <p:spPr>
          <a:xfrm>
            <a:off x="391849" y="5355256"/>
            <a:ext cx="176689" cy="39647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3122"/>
              </a:lnSpc>
              <a:buNone/>
            </a:pPr>
            <a:r>
              <a:rPr lang="en-US" sz="2497" b="1" dirty="0">
                <a:solidFill>
                  <a:srgbClr val="28396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2</a:t>
            </a:r>
            <a:endParaRPr lang="en-US" sz="2497" dirty="0">
              <a:solidFill>
                <a:srgbClr val="28396E"/>
              </a:solidFill>
            </a:endParaRPr>
          </a:p>
        </p:txBody>
      </p:sp>
      <p:sp>
        <p:nvSpPr>
          <p:cNvPr id="109" name="Shape 15">
            <a:extLst>
              <a:ext uri="{FF2B5EF4-FFF2-40B4-BE49-F238E27FC236}">
                <a16:creationId xmlns:a16="http://schemas.microsoft.com/office/drawing/2014/main" id="{94F1BA35-A10F-4802-070F-40FB930BA397}"/>
              </a:ext>
            </a:extLst>
          </p:cNvPr>
          <p:cNvSpPr/>
          <p:nvPr/>
        </p:nvSpPr>
        <p:spPr>
          <a:xfrm>
            <a:off x="258930" y="5907740"/>
            <a:ext cx="475655" cy="475655"/>
          </a:xfrm>
          <a:prstGeom prst="roundRect">
            <a:avLst>
              <a:gd name="adj" fmla="val 20003"/>
            </a:avLst>
          </a:prstGeom>
          <a:solidFill>
            <a:srgbClr val="E3E4E8"/>
          </a:solidFill>
          <a:ln w="7620">
            <a:solidFill>
              <a:srgbClr val="C9CAC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0" name="Text 16">
            <a:extLst>
              <a:ext uri="{FF2B5EF4-FFF2-40B4-BE49-F238E27FC236}">
                <a16:creationId xmlns:a16="http://schemas.microsoft.com/office/drawing/2014/main" id="{7D237C83-489F-9E90-CDF2-48649180A98D}"/>
              </a:ext>
            </a:extLst>
          </p:cNvPr>
          <p:cNvSpPr/>
          <p:nvPr/>
        </p:nvSpPr>
        <p:spPr>
          <a:xfrm>
            <a:off x="404901" y="5947268"/>
            <a:ext cx="183594" cy="39647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3122"/>
              </a:lnSpc>
              <a:buNone/>
            </a:pPr>
            <a:r>
              <a:rPr lang="en-US" sz="2497" b="1" dirty="0">
                <a:solidFill>
                  <a:srgbClr val="28396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3</a:t>
            </a:r>
            <a:endParaRPr lang="en-US" sz="2497" dirty="0">
              <a:solidFill>
                <a:srgbClr val="28396E"/>
              </a:solidFill>
            </a:endParaRPr>
          </a:p>
        </p:txBody>
      </p:sp>
      <p:sp>
        <p:nvSpPr>
          <p:cNvPr id="111" name="CaixaDeTexto 110">
            <a:extLst>
              <a:ext uri="{FF2B5EF4-FFF2-40B4-BE49-F238E27FC236}">
                <a16:creationId xmlns:a16="http://schemas.microsoft.com/office/drawing/2014/main" id="{DA3E3D01-8FC8-A3E1-C27E-A491E7CB070B}"/>
              </a:ext>
            </a:extLst>
          </p:cNvPr>
          <p:cNvSpPr txBox="1"/>
          <p:nvPr/>
        </p:nvSpPr>
        <p:spPr>
          <a:xfrm>
            <a:off x="863676" y="4803830"/>
            <a:ext cx="3359032" cy="335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>
              <a:lnSpc>
                <a:spcPct val="150000"/>
              </a:lnSpc>
              <a:spcAft>
                <a:spcPts val="1000"/>
              </a:spcAft>
            </a:pPr>
            <a:r>
              <a:rPr lang="pt-BR" sz="1200" b="1" dirty="0">
                <a:latin typeface="Arial" panose="020B0604020202020204" pitchFamily="34" charset="0"/>
                <a:cs typeface="Arial" panose="020B0604020202020204" pitchFamily="34" charset="0"/>
              </a:rPr>
              <a:t>Facilidade em adquirir bens e serviços</a:t>
            </a:r>
            <a:endParaRPr lang="pt-BR" sz="1200" b="1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Shape 4">
            <a:extLst>
              <a:ext uri="{FF2B5EF4-FFF2-40B4-BE49-F238E27FC236}">
                <a16:creationId xmlns:a16="http://schemas.microsoft.com/office/drawing/2014/main" id="{B06E445A-FB00-5969-31F2-5B5CED9E467F}"/>
              </a:ext>
            </a:extLst>
          </p:cNvPr>
          <p:cNvSpPr/>
          <p:nvPr/>
        </p:nvSpPr>
        <p:spPr>
          <a:xfrm>
            <a:off x="736722" y="6117714"/>
            <a:ext cx="391558" cy="63862"/>
          </a:xfrm>
          <a:prstGeom prst="roundRect">
            <a:avLst>
              <a:gd name="adj" fmla="val 225103"/>
            </a:avLst>
          </a:prstGeom>
          <a:solidFill>
            <a:srgbClr val="C9CAC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4" name="CaixaDeTexto 113">
            <a:extLst>
              <a:ext uri="{FF2B5EF4-FFF2-40B4-BE49-F238E27FC236}">
                <a16:creationId xmlns:a16="http://schemas.microsoft.com/office/drawing/2014/main" id="{F78B1A6C-3EAF-59AC-87EF-CE7560BA5219}"/>
              </a:ext>
            </a:extLst>
          </p:cNvPr>
          <p:cNvSpPr txBox="1"/>
          <p:nvPr/>
        </p:nvSpPr>
        <p:spPr>
          <a:xfrm>
            <a:off x="849808" y="5355154"/>
            <a:ext cx="1860548" cy="335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>
              <a:lnSpc>
                <a:spcPct val="150000"/>
              </a:lnSpc>
              <a:spcAft>
                <a:spcPts val="1000"/>
              </a:spcAft>
            </a:pPr>
            <a:r>
              <a:rPr lang="pt-BR" sz="1200" b="1" dirty="0">
                <a:latin typeface="Arial" panose="020B0604020202020204" pitchFamily="34" charset="0"/>
                <a:cs typeface="Arial" panose="020B0604020202020204" pitchFamily="34" charset="0"/>
              </a:rPr>
              <a:t>Inclusão financeira</a:t>
            </a:r>
            <a:endParaRPr lang="pt-BR" sz="1200" b="1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Fluxograma: Conector 118">
            <a:extLst>
              <a:ext uri="{FF2B5EF4-FFF2-40B4-BE49-F238E27FC236}">
                <a16:creationId xmlns:a16="http://schemas.microsoft.com/office/drawing/2014/main" id="{4D41F019-0AEA-69D7-4030-4E5C9E1CDF26}"/>
              </a:ext>
            </a:extLst>
          </p:cNvPr>
          <p:cNvSpPr/>
          <p:nvPr/>
        </p:nvSpPr>
        <p:spPr>
          <a:xfrm>
            <a:off x="234162" y="742926"/>
            <a:ext cx="527838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20" name="Retângulo 119">
            <a:extLst>
              <a:ext uri="{FF2B5EF4-FFF2-40B4-BE49-F238E27FC236}">
                <a16:creationId xmlns:a16="http://schemas.microsoft.com/office/drawing/2014/main" id="{ADF8F066-22E9-4045-7CD3-A8696687481C}"/>
              </a:ext>
            </a:extLst>
          </p:cNvPr>
          <p:cNvSpPr/>
          <p:nvPr/>
        </p:nvSpPr>
        <p:spPr>
          <a:xfrm>
            <a:off x="211499" y="2979354"/>
            <a:ext cx="1617301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Vantagens</a:t>
            </a:r>
          </a:p>
        </p:txBody>
      </p:sp>
      <p:sp>
        <p:nvSpPr>
          <p:cNvPr id="123" name="CaixaDeTexto 122">
            <a:extLst>
              <a:ext uri="{FF2B5EF4-FFF2-40B4-BE49-F238E27FC236}">
                <a16:creationId xmlns:a16="http://schemas.microsoft.com/office/drawing/2014/main" id="{00C5EAAD-72D7-B90A-336A-427F26267309}"/>
              </a:ext>
            </a:extLst>
          </p:cNvPr>
          <p:cNvSpPr txBox="1"/>
          <p:nvPr/>
        </p:nvSpPr>
        <p:spPr>
          <a:xfrm>
            <a:off x="228450" y="3739166"/>
            <a:ext cx="4502685" cy="547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Esta modalidade foi responsável por grandes avanços econômicos, em especial:</a:t>
            </a:r>
          </a:p>
        </p:txBody>
      </p:sp>
      <p:sp>
        <p:nvSpPr>
          <p:cNvPr id="124" name="CaixaDeTexto 123">
            <a:extLst>
              <a:ext uri="{FF2B5EF4-FFF2-40B4-BE49-F238E27FC236}">
                <a16:creationId xmlns:a16="http://schemas.microsoft.com/office/drawing/2014/main" id="{09003E58-E236-DDCB-817C-A5BE451F65EA}"/>
              </a:ext>
            </a:extLst>
          </p:cNvPr>
          <p:cNvSpPr txBox="1"/>
          <p:nvPr/>
        </p:nvSpPr>
        <p:spPr>
          <a:xfrm>
            <a:off x="880556" y="5927261"/>
            <a:ext cx="3342152" cy="612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>
              <a:lnSpc>
                <a:spcPct val="150000"/>
              </a:lnSpc>
              <a:spcAft>
                <a:spcPts val="1000"/>
              </a:spcAft>
            </a:pPr>
            <a:r>
              <a:rPr lang="pt-BR" sz="1200" b="1" dirty="0">
                <a:latin typeface="Arial" panose="020B0604020202020204" pitchFamily="34" charset="0"/>
                <a:cs typeface="Arial" panose="020B0604020202020204" pitchFamily="34" charset="0"/>
              </a:rPr>
              <a:t>Estímulo ao consumo e ao crescimento econômico </a:t>
            </a:r>
            <a:endParaRPr lang="pt-BR" sz="1200" b="1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6" name="Retângulo 125">
            <a:extLst>
              <a:ext uri="{FF2B5EF4-FFF2-40B4-BE49-F238E27FC236}">
                <a16:creationId xmlns:a16="http://schemas.microsoft.com/office/drawing/2014/main" id="{8BCEFF00-8106-C8A3-E8E0-9BA6CFB2DE77}"/>
              </a:ext>
            </a:extLst>
          </p:cNvPr>
          <p:cNvSpPr/>
          <p:nvPr/>
        </p:nvSpPr>
        <p:spPr>
          <a:xfrm>
            <a:off x="5185867" y="718630"/>
            <a:ext cx="2355836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Risco da Operação</a:t>
            </a:r>
          </a:p>
        </p:txBody>
      </p:sp>
      <p:sp>
        <p:nvSpPr>
          <p:cNvPr id="2" name="Fluxograma: Conector 1">
            <a:extLst>
              <a:ext uri="{FF2B5EF4-FFF2-40B4-BE49-F238E27FC236}">
                <a16:creationId xmlns:a16="http://schemas.microsoft.com/office/drawing/2014/main" id="{BD87BD9F-7598-DE46-F48E-2AEFE15C8DE2}"/>
              </a:ext>
            </a:extLst>
          </p:cNvPr>
          <p:cNvSpPr/>
          <p:nvPr/>
        </p:nvSpPr>
        <p:spPr>
          <a:xfrm>
            <a:off x="228450" y="3010886"/>
            <a:ext cx="527838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3" name="Fluxograma: Conector 2">
            <a:extLst>
              <a:ext uri="{FF2B5EF4-FFF2-40B4-BE49-F238E27FC236}">
                <a16:creationId xmlns:a16="http://schemas.microsoft.com/office/drawing/2014/main" id="{3226C987-D870-FC1F-7464-442C2AF504A4}"/>
              </a:ext>
            </a:extLst>
          </p:cNvPr>
          <p:cNvSpPr/>
          <p:nvPr/>
        </p:nvSpPr>
        <p:spPr>
          <a:xfrm>
            <a:off x="5212170" y="753462"/>
            <a:ext cx="527838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851BFD1-7DCD-F8A7-E89B-F9D8BEC84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929205" y="529930"/>
            <a:ext cx="257202" cy="365125"/>
          </a:xfrm>
        </p:spPr>
        <p:txBody>
          <a:bodyPr/>
          <a:lstStyle/>
          <a:p>
            <a:fld id="{4A2E7D2D-E592-41F1-8B20-DBD4249F3386}" type="slidenum">
              <a:rPr lang="pt-BR" b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2</a:t>
            </a:fld>
            <a:endParaRPr lang="pt-BR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6129213-B90A-6AB1-BF1A-B199E2AC5D6F}"/>
              </a:ext>
            </a:extLst>
          </p:cNvPr>
          <p:cNvSpPr txBox="1"/>
          <p:nvPr/>
        </p:nvSpPr>
        <p:spPr>
          <a:xfrm>
            <a:off x="4990299" y="1307443"/>
            <a:ext cx="7008561" cy="1160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Por ser realizada sob condições de incerteza, há chances da não recuperação do valor. Nesse âmbito</a:t>
            </a:r>
            <a:r>
              <a:rPr lang="pt-BR" sz="1050" b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, a análise de risco de crédito surge como norteador do processo, sendo responsável por melhorar a discriminação entre bons e maus clientes. </a:t>
            </a:r>
            <a:r>
              <a:rPr lang="pt-BR" sz="105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endParaRPr lang="pt-BR" sz="1050" b="1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endParaRPr lang="pt-BR" sz="1050" b="1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Google Shape;2205;p34">
            <a:extLst>
              <a:ext uri="{FF2B5EF4-FFF2-40B4-BE49-F238E27FC236}">
                <a16:creationId xmlns:a16="http://schemas.microsoft.com/office/drawing/2014/main" id="{6E21D1B3-D2A0-0400-8F93-6D8FE88CA45C}"/>
              </a:ext>
            </a:extLst>
          </p:cNvPr>
          <p:cNvSpPr/>
          <p:nvPr/>
        </p:nvSpPr>
        <p:spPr>
          <a:xfrm>
            <a:off x="5625857" y="2099743"/>
            <a:ext cx="804865" cy="804865"/>
          </a:xfrm>
          <a:prstGeom prst="ellipse">
            <a:avLst/>
          </a:prstGeom>
          <a:solidFill>
            <a:srgbClr val="28396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206;p34">
            <a:extLst>
              <a:ext uri="{FF2B5EF4-FFF2-40B4-BE49-F238E27FC236}">
                <a16:creationId xmlns:a16="http://schemas.microsoft.com/office/drawing/2014/main" id="{D4EF93A5-20F5-151C-E072-AA08F8F36B91}"/>
              </a:ext>
            </a:extLst>
          </p:cNvPr>
          <p:cNvSpPr/>
          <p:nvPr/>
        </p:nvSpPr>
        <p:spPr>
          <a:xfrm>
            <a:off x="5685709" y="2159674"/>
            <a:ext cx="684999" cy="68499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" name="Google Shape;2208;p34">
            <a:extLst>
              <a:ext uri="{FF2B5EF4-FFF2-40B4-BE49-F238E27FC236}">
                <a16:creationId xmlns:a16="http://schemas.microsoft.com/office/drawing/2014/main" id="{D6F0463F-7D13-D25D-F086-B5C2B9413C42}"/>
              </a:ext>
            </a:extLst>
          </p:cNvPr>
          <p:cNvSpPr/>
          <p:nvPr/>
        </p:nvSpPr>
        <p:spPr>
          <a:xfrm>
            <a:off x="5855220" y="2514467"/>
            <a:ext cx="345977" cy="116019"/>
          </a:xfrm>
          <a:custGeom>
            <a:avLst/>
            <a:gdLst/>
            <a:ahLst/>
            <a:cxnLst/>
            <a:rect l="l" t="t" r="r" b="b"/>
            <a:pathLst>
              <a:path w="10807" h="3624" extrusionOk="0">
                <a:moveTo>
                  <a:pt x="2111" y="1"/>
                </a:moveTo>
                <a:cubicBezTo>
                  <a:pt x="945" y="1"/>
                  <a:pt x="0" y="946"/>
                  <a:pt x="0" y="2080"/>
                </a:cubicBezTo>
                <a:lnTo>
                  <a:pt x="0" y="3183"/>
                </a:lnTo>
                <a:cubicBezTo>
                  <a:pt x="0" y="3435"/>
                  <a:pt x="221" y="3624"/>
                  <a:pt x="441" y="3624"/>
                </a:cubicBezTo>
                <a:lnTo>
                  <a:pt x="10365" y="3624"/>
                </a:lnTo>
                <a:cubicBezTo>
                  <a:pt x="10618" y="3624"/>
                  <a:pt x="10807" y="3435"/>
                  <a:pt x="10807" y="3183"/>
                </a:cubicBezTo>
                <a:lnTo>
                  <a:pt x="10807" y="2080"/>
                </a:lnTo>
                <a:cubicBezTo>
                  <a:pt x="10807" y="946"/>
                  <a:pt x="9861" y="1"/>
                  <a:pt x="8727" y="1"/>
                </a:cubicBezTo>
                <a:close/>
              </a:path>
            </a:pathLst>
          </a:custGeom>
          <a:solidFill>
            <a:srgbClr val="28396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2210;p34">
            <a:extLst>
              <a:ext uri="{FF2B5EF4-FFF2-40B4-BE49-F238E27FC236}">
                <a16:creationId xmlns:a16="http://schemas.microsoft.com/office/drawing/2014/main" id="{DD2B2F15-E140-9E1F-8A51-EAA713A4B895}"/>
              </a:ext>
            </a:extLst>
          </p:cNvPr>
          <p:cNvSpPr/>
          <p:nvPr/>
        </p:nvSpPr>
        <p:spPr>
          <a:xfrm>
            <a:off x="5935415" y="2261021"/>
            <a:ext cx="185586" cy="211838"/>
          </a:xfrm>
          <a:custGeom>
            <a:avLst/>
            <a:gdLst/>
            <a:ahLst/>
            <a:cxnLst/>
            <a:rect l="l" t="t" r="r" b="b"/>
            <a:pathLst>
              <a:path w="5797" h="6617" extrusionOk="0">
                <a:moveTo>
                  <a:pt x="2930" y="0"/>
                </a:moveTo>
                <a:cubicBezTo>
                  <a:pt x="1292" y="0"/>
                  <a:pt x="0" y="1292"/>
                  <a:pt x="0" y="2867"/>
                </a:cubicBezTo>
                <a:cubicBezTo>
                  <a:pt x="32" y="3812"/>
                  <a:pt x="504" y="4694"/>
                  <a:pt x="1260" y="5230"/>
                </a:cubicBezTo>
                <a:lnTo>
                  <a:pt x="1260" y="6616"/>
                </a:lnTo>
                <a:lnTo>
                  <a:pt x="4568" y="6616"/>
                </a:lnTo>
                <a:lnTo>
                  <a:pt x="4568" y="5230"/>
                </a:lnTo>
                <a:cubicBezTo>
                  <a:pt x="5356" y="4694"/>
                  <a:pt x="5797" y="3812"/>
                  <a:pt x="5797" y="2867"/>
                </a:cubicBezTo>
                <a:cubicBezTo>
                  <a:pt x="5797" y="1260"/>
                  <a:pt x="4505" y="0"/>
                  <a:pt x="2930" y="0"/>
                </a:cubicBezTo>
                <a:close/>
              </a:path>
            </a:pathLst>
          </a:custGeom>
          <a:solidFill>
            <a:srgbClr val="28396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" name="Google Shape;2209;p34">
            <a:extLst>
              <a:ext uri="{FF2B5EF4-FFF2-40B4-BE49-F238E27FC236}">
                <a16:creationId xmlns:a16="http://schemas.microsoft.com/office/drawing/2014/main" id="{4C856F45-88EA-E1A6-40F7-AF941F606827}"/>
              </a:ext>
            </a:extLst>
          </p:cNvPr>
          <p:cNvSpPr/>
          <p:nvPr/>
        </p:nvSpPr>
        <p:spPr>
          <a:xfrm>
            <a:off x="5882447" y="2642825"/>
            <a:ext cx="291521" cy="27276"/>
          </a:xfrm>
          <a:custGeom>
            <a:avLst/>
            <a:gdLst/>
            <a:ahLst/>
            <a:cxnLst/>
            <a:rect l="l" t="t" r="r" b="b"/>
            <a:pathLst>
              <a:path w="9106" h="852" extrusionOk="0">
                <a:moveTo>
                  <a:pt x="0" y="1"/>
                </a:moveTo>
                <a:lnTo>
                  <a:pt x="0" y="442"/>
                </a:lnTo>
                <a:cubicBezTo>
                  <a:pt x="0" y="694"/>
                  <a:pt x="190" y="851"/>
                  <a:pt x="442" y="851"/>
                </a:cubicBezTo>
                <a:lnTo>
                  <a:pt x="8696" y="851"/>
                </a:lnTo>
                <a:cubicBezTo>
                  <a:pt x="8948" y="851"/>
                  <a:pt x="9105" y="631"/>
                  <a:pt x="9105" y="442"/>
                </a:cubicBezTo>
                <a:lnTo>
                  <a:pt x="9105" y="1"/>
                </a:lnTo>
                <a:close/>
              </a:path>
            </a:pathLst>
          </a:custGeom>
          <a:solidFill>
            <a:srgbClr val="28396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Chave Esquerda 11">
            <a:extLst>
              <a:ext uri="{FF2B5EF4-FFF2-40B4-BE49-F238E27FC236}">
                <a16:creationId xmlns:a16="http://schemas.microsoft.com/office/drawing/2014/main" id="{D8B97323-4A64-3F30-8B2E-2C644EB51039}"/>
              </a:ext>
            </a:extLst>
          </p:cNvPr>
          <p:cNvSpPr/>
          <p:nvPr/>
        </p:nvSpPr>
        <p:spPr>
          <a:xfrm rot="5400000">
            <a:off x="5893465" y="2416599"/>
            <a:ext cx="271063" cy="1354235"/>
          </a:xfrm>
          <a:prstGeom prst="leftBrace">
            <a:avLst/>
          </a:prstGeom>
          <a:noFill/>
          <a:ln w="28575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Google Shape;6658;p77">
            <a:extLst>
              <a:ext uri="{FF2B5EF4-FFF2-40B4-BE49-F238E27FC236}">
                <a16:creationId xmlns:a16="http://schemas.microsoft.com/office/drawing/2014/main" id="{5EDCBA3E-037E-299F-D6B1-A41F2DCC944F}"/>
              </a:ext>
            </a:extLst>
          </p:cNvPr>
          <p:cNvSpPr/>
          <p:nvPr/>
        </p:nvSpPr>
        <p:spPr>
          <a:xfrm>
            <a:off x="4955954" y="3259537"/>
            <a:ext cx="873056" cy="290924"/>
          </a:xfrm>
          <a:prstGeom prst="roundRect">
            <a:avLst>
              <a:gd name="adj" fmla="val 50000"/>
            </a:avLst>
          </a:prstGeom>
          <a:solidFill>
            <a:srgbClr val="1B7B5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dirty="0">
                <a:solidFill>
                  <a:srgbClr val="FFFFFF"/>
                </a:solidFill>
              </a:rPr>
              <a:t>Pagar</a:t>
            </a:r>
            <a:endParaRPr sz="1000" dirty="0">
              <a:solidFill>
                <a:srgbClr val="FFFFFF"/>
              </a:solidFill>
            </a:endParaRPr>
          </a:p>
        </p:txBody>
      </p:sp>
      <p:sp>
        <p:nvSpPr>
          <p:cNvPr id="14" name="Google Shape;6658;p77">
            <a:extLst>
              <a:ext uri="{FF2B5EF4-FFF2-40B4-BE49-F238E27FC236}">
                <a16:creationId xmlns:a16="http://schemas.microsoft.com/office/drawing/2014/main" id="{65D7D7CB-5CA1-A171-5BC0-8562B3CC5486}"/>
              </a:ext>
            </a:extLst>
          </p:cNvPr>
          <p:cNvSpPr/>
          <p:nvPr/>
        </p:nvSpPr>
        <p:spPr>
          <a:xfrm>
            <a:off x="6310190" y="3251900"/>
            <a:ext cx="873056" cy="290924"/>
          </a:xfrm>
          <a:prstGeom prst="roundRect">
            <a:avLst>
              <a:gd name="adj" fmla="val 50000"/>
            </a:avLst>
          </a:prstGeom>
          <a:solidFill>
            <a:srgbClr val="9933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dirty="0">
                <a:solidFill>
                  <a:srgbClr val="FFFFFF"/>
                </a:solidFill>
              </a:rPr>
              <a:t>Não Pagar</a:t>
            </a:r>
            <a:endParaRPr sz="1000" dirty="0">
              <a:solidFill>
                <a:srgbClr val="FFFFFF"/>
              </a:solidFill>
            </a:endParaRPr>
          </a:p>
        </p:txBody>
      </p:sp>
      <p:pic>
        <p:nvPicPr>
          <p:cNvPr id="47" name="Gráfico 46" descr="Homem">
            <a:extLst>
              <a:ext uri="{FF2B5EF4-FFF2-40B4-BE49-F238E27FC236}">
                <a16:creationId xmlns:a16="http://schemas.microsoft.com/office/drawing/2014/main" id="{4C838848-09FC-9685-779C-82026361E3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46032" y="4453075"/>
            <a:ext cx="914400" cy="914400"/>
          </a:xfrm>
          <a:prstGeom prst="rect">
            <a:avLst/>
          </a:prstGeom>
        </p:spPr>
      </p:pic>
      <p:pic>
        <p:nvPicPr>
          <p:cNvPr id="48" name="Gráfico 47" descr="Adicionar">
            <a:extLst>
              <a:ext uri="{FF2B5EF4-FFF2-40B4-BE49-F238E27FC236}">
                <a16:creationId xmlns:a16="http://schemas.microsoft.com/office/drawing/2014/main" id="{DFD5E534-2FF7-B95A-A9CA-66431D6786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91583" y="4812737"/>
            <a:ext cx="290924" cy="290924"/>
          </a:xfrm>
          <a:prstGeom prst="rect">
            <a:avLst/>
          </a:prstGeom>
        </p:spPr>
      </p:pic>
      <p:sp>
        <p:nvSpPr>
          <p:cNvPr id="49" name="Google Shape;6658;p77">
            <a:extLst>
              <a:ext uri="{FF2B5EF4-FFF2-40B4-BE49-F238E27FC236}">
                <a16:creationId xmlns:a16="http://schemas.microsoft.com/office/drawing/2014/main" id="{0D88DC18-5B77-9DBE-49EE-3889D92A070B}"/>
              </a:ext>
            </a:extLst>
          </p:cNvPr>
          <p:cNvSpPr/>
          <p:nvPr/>
        </p:nvSpPr>
        <p:spPr>
          <a:xfrm>
            <a:off x="10628197" y="4796456"/>
            <a:ext cx="1233344" cy="290924"/>
          </a:xfrm>
          <a:prstGeom prst="roundRect">
            <a:avLst>
              <a:gd name="adj" fmla="val 50000"/>
            </a:avLst>
          </a:prstGeom>
          <a:solidFill>
            <a:srgbClr val="1B7B56"/>
          </a:solidFill>
          <a:ln w="19050">
            <a:solidFill>
              <a:schemeClr val="tx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Aprovação</a:t>
            </a:r>
            <a:endParaRPr sz="1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290EA024-6226-438C-0E66-DD359D435AD8}"/>
              </a:ext>
            </a:extLst>
          </p:cNvPr>
          <p:cNvSpPr txBox="1"/>
          <p:nvPr/>
        </p:nvSpPr>
        <p:spPr>
          <a:xfrm>
            <a:off x="9027757" y="4196720"/>
            <a:ext cx="13893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Adimplentes</a:t>
            </a:r>
          </a:p>
        </p:txBody>
      </p:sp>
      <p:pic>
        <p:nvPicPr>
          <p:cNvPr id="54" name="Gráfico 53" descr="Homem">
            <a:extLst>
              <a:ext uri="{FF2B5EF4-FFF2-40B4-BE49-F238E27FC236}">
                <a16:creationId xmlns:a16="http://schemas.microsoft.com/office/drawing/2014/main" id="{00608A82-AF64-7DA9-B662-B31F635FCFA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85154" y="5733982"/>
            <a:ext cx="914400" cy="914400"/>
          </a:xfrm>
          <a:prstGeom prst="rect">
            <a:avLst/>
          </a:prstGeom>
        </p:spPr>
      </p:pic>
      <p:sp>
        <p:nvSpPr>
          <p:cNvPr id="57" name="Google Shape;6658;p77">
            <a:extLst>
              <a:ext uri="{FF2B5EF4-FFF2-40B4-BE49-F238E27FC236}">
                <a16:creationId xmlns:a16="http://schemas.microsoft.com/office/drawing/2014/main" id="{EEE3E459-870E-ACDC-B88B-96FA1034CADE}"/>
              </a:ext>
            </a:extLst>
          </p:cNvPr>
          <p:cNvSpPr/>
          <p:nvPr/>
        </p:nvSpPr>
        <p:spPr>
          <a:xfrm>
            <a:off x="10628197" y="6004471"/>
            <a:ext cx="1233344" cy="290924"/>
          </a:xfrm>
          <a:prstGeom prst="roundRect">
            <a:avLst>
              <a:gd name="adj" fmla="val 50000"/>
            </a:avLst>
          </a:prstGeom>
          <a:solidFill>
            <a:srgbClr val="993300"/>
          </a:solidFill>
          <a:ln w="19050">
            <a:solidFill>
              <a:schemeClr val="tx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Aprovação</a:t>
            </a:r>
            <a:endParaRPr sz="1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BAA4D5A1-800D-CDC2-BC9C-D1A7DF041364}"/>
              </a:ext>
            </a:extLst>
          </p:cNvPr>
          <p:cNvSpPr/>
          <p:nvPr/>
        </p:nvSpPr>
        <p:spPr>
          <a:xfrm>
            <a:off x="10308543" y="6119212"/>
            <a:ext cx="261158" cy="45719"/>
          </a:xfrm>
          <a:prstGeom prst="rect">
            <a:avLst/>
          </a:prstGeom>
          <a:solidFill>
            <a:srgbClr val="993300"/>
          </a:solidFill>
          <a:ln>
            <a:solidFill>
              <a:srgbClr val="99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0D63DE84-0D83-F9F3-C1E9-894FCE625067}"/>
              </a:ext>
            </a:extLst>
          </p:cNvPr>
          <p:cNvSpPr txBox="1"/>
          <p:nvPr/>
        </p:nvSpPr>
        <p:spPr>
          <a:xfrm>
            <a:off x="9047663" y="5513161"/>
            <a:ext cx="13893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Inadimplentes</a:t>
            </a:r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894FAE88-CBB4-A1EF-C460-DBAC8B4C559D}"/>
              </a:ext>
            </a:extLst>
          </p:cNvPr>
          <p:cNvSpPr/>
          <p:nvPr/>
        </p:nvSpPr>
        <p:spPr>
          <a:xfrm>
            <a:off x="7412828" y="2184742"/>
            <a:ext cx="4457593" cy="137356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lnSpc>
                <a:spcPct val="15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pt-BR" sz="1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Clientes adimplentes </a:t>
            </a:r>
            <a:r>
              <a:rPr lang="pt-B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conquistam o bem desejado ao passo que a instituição lucra </a:t>
            </a:r>
          </a:p>
          <a:p>
            <a:pPr marL="171450" indent="-171450" algn="just">
              <a:lnSpc>
                <a:spcPct val="15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pt-BR" sz="1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Clientes inadimplentes </a:t>
            </a:r>
            <a:r>
              <a:rPr lang="pt-B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endividam-se e a instituição sofre prejuízo</a:t>
            </a:r>
            <a:endParaRPr lang="pt-BR" sz="1200" b="1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Conector reto 67">
            <a:extLst>
              <a:ext uri="{FF2B5EF4-FFF2-40B4-BE49-F238E27FC236}">
                <a16:creationId xmlns:a16="http://schemas.microsoft.com/office/drawing/2014/main" id="{E1633E38-4014-F0AC-EE75-89C7E82EE64A}"/>
              </a:ext>
            </a:extLst>
          </p:cNvPr>
          <p:cNvCxnSpPr/>
          <p:nvPr/>
        </p:nvCxnSpPr>
        <p:spPr>
          <a:xfrm>
            <a:off x="8603605" y="5429038"/>
            <a:ext cx="2199254" cy="0"/>
          </a:xfrm>
          <a:prstGeom prst="line">
            <a:avLst/>
          </a:prstGeom>
          <a:ln w="3810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E982B283-C6AF-4205-AC48-A90E25DA56BC}"/>
              </a:ext>
            </a:extLst>
          </p:cNvPr>
          <p:cNvSpPr txBox="1"/>
          <p:nvPr/>
        </p:nvSpPr>
        <p:spPr>
          <a:xfrm>
            <a:off x="4990298" y="3743119"/>
            <a:ext cx="7008561" cy="917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Nesse âmbito</a:t>
            </a:r>
            <a:r>
              <a:rPr lang="pt-BR" sz="1050" b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, a análise de risco de crédito surge como norteadora do processo, sendo responsável por melhorar a discriminação entre bons e maus clientes. </a:t>
            </a:r>
            <a:r>
              <a:rPr lang="pt-BR" sz="105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endParaRPr lang="pt-BR" sz="1050" b="1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endParaRPr lang="pt-BR" sz="1050" b="1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02EB7684-9852-2C3A-7D48-5B6D1B79A122}"/>
              </a:ext>
            </a:extLst>
          </p:cNvPr>
          <p:cNvSpPr/>
          <p:nvPr/>
        </p:nvSpPr>
        <p:spPr>
          <a:xfrm>
            <a:off x="5006536" y="4705059"/>
            <a:ext cx="3342649" cy="1638685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lnSpc>
                <a:spcPct val="15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pt-B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objetivo é definir uma metodologia que melhor diferencie os clientes bons e ruins</a:t>
            </a:r>
          </a:p>
          <a:p>
            <a:pPr marL="171450" indent="-171450" algn="just">
              <a:lnSpc>
                <a:spcPct val="15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pt-BR" sz="12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 isso em mente, espera-se que mais clientes bons sejam aprovados e mais clientes ruins sejam negados</a:t>
            </a:r>
          </a:p>
        </p:txBody>
      </p:sp>
    </p:spTree>
    <p:extLst>
      <p:ext uri="{BB962C8B-B14F-4D97-AF65-F5344CB8AC3E}">
        <p14:creationId xmlns:p14="http://schemas.microsoft.com/office/powerpoint/2010/main" val="773098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5AF2F-B0B3-E451-6A73-01E74C275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790AFEE-F3CE-A443-194C-491354197B92}"/>
              </a:ext>
            </a:extLst>
          </p:cNvPr>
          <p:cNvSpPr/>
          <p:nvPr/>
        </p:nvSpPr>
        <p:spPr>
          <a:xfrm>
            <a:off x="100683" y="3653984"/>
            <a:ext cx="11990633" cy="31159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0DB3C39-2D13-205D-A373-17328AFD6C58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DESAFIO</a:t>
            </a: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F3134D06-5DC6-D694-46BF-86FE9D1CFA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0665" y="3860858"/>
            <a:ext cx="3560805" cy="5078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</a:t>
            </a:r>
            <a:r>
              <a:rPr lang="pt-BR" altLang="pt-BR" sz="900" b="1" i="1" dirty="0">
                <a:latin typeface="Arial" panose="020B0604020202020204" pitchFamily="34" charset="0"/>
                <a:ea typeface="Times New Roman" panose="02020603050405020304" pitchFamily="18" charset="0"/>
              </a:rPr>
              <a:t>3</a:t>
            </a: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– Distribuição de Bons e Maus Pagadores</a:t>
            </a:r>
            <a:endParaRPr kumimoji="0" lang="pt-BR" altLang="pt-BR" sz="9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15B020C5-3C6B-57F8-D233-987DC84649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0267" y="609468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DC2F867-5C71-D843-7156-996619C95CFE}"/>
              </a:ext>
            </a:extLst>
          </p:cNvPr>
          <p:cNvSpPr/>
          <p:nvPr/>
        </p:nvSpPr>
        <p:spPr>
          <a:xfrm>
            <a:off x="295265" y="3525485"/>
            <a:ext cx="2578564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Definição da Target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E29157BB-8015-5A32-7D60-7E86A0058655}"/>
              </a:ext>
            </a:extLst>
          </p:cNvPr>
          <p:cNvSpPr txBox="1"/>
          <p:nvPr/>
        </p:nvSpPr>
        <p:spPr>
          <a:xfrm>
            <a:off x="4197173" y="6386186"/>
            <a:ext cx="8207791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spcAft>
                <a:spcPts val="1000"/>
              </a:spcAft>
            </a:pPr>
            <a:r>
              <a:rPr lang="pt-BR" sz="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Estar em cobrança</a:t>
            </a:r>
            <a:r>
              <a:rPr lang="pt-BR" sz="800" b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| </a:t>
            </a:r>
            <a:r>
              <a:rPr lang="pt-BR" sz="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Estar há 30 dias inadimplente | Posse de 1 ou mais contas em outras instituições em estado de inadimplência | Não atende ao CMA</a:t>
            </a:r>
          </a:p>
        </p:txBody>
      </p:sp>
      <p:pic>
        <p:nvPicPr>
          <p:cNvPr id="34" name="Imagem 33">
            <a:extLst>
              <a:ext uri="{FF2B5EF4-FFF2-40B4-BE49-F238E27FC236}">
                <a16:creationId xmlns:a16="http://schemas.microsoft.com/office/drawing/2014/main" id="{CE7F9CDA-4766-37B5-8E77-C4D672818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8568" y="4133767"/>
            <a:ext cx="5063042" cy="2188169"/>
          </a:xfrm>
          <a:prstGeom prst="rect">
            <a:avLst/>
          </a:prstGeom>
          <a:noFill/>
        </p:spPr>
      </p:pic>
      <p:sp>
        <p:nvSpPr>
          <p:cNvPr id="3" name="Fluxograma: Conector 2">
            <a:extLst>
              <a:ext uri="{FF2B5EF4-FFF2-40B4-BE49-F238E27FC236}">
                <a16:creationId xmlns:a16="http://schemas.microsoft.com/office/drawing/2014/main" id="{3EBF3390-4B3E-5551-579F-480DAA0735E7}"/>
              </a:ext>
            </a:extLst>
          </p:cNvPr>
          <p:cNvSpPr/>
          <p:nvPr/>
        </p:nvSpPr>
        <p:spPr>
          <a:xfrm>
            <a:off x="316544" y="3549033"/>
            <a:ext cx="527838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EBE2180-5971-1220-DA4D-7501A178D9FB}"/>
              </a:ext>
            </a:extLst>
          </p:cNvPr>
          <p:cNvSpPr txBox="1"/>
          <p:nvPr/>
        </p:nvSpPr>
        <p:spPr>
          <a:xfrm>
            <a:off x="289089" y="4025988"/>
            <a:ext cx="3908084" cy="2614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O desafio proposto é criar duas metodologias de análise de risco de crédito, sendo a primeira voltada para a abordagem tradicional (Política de Crédito) e a segunda voltada para a abordagem matemática (Modelagem por Machine Learning). </a:t>
            </a:r>
          </a:p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 base de dados foi extraída do </a:t>
            </a:r>
            <a:r>
              <a:rPr lang="pt-BR" sz="1050" b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Kaggle</a:t>
            </a:r>
            <a:r>
              <a:rPr lang="pt-BR" sz="105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, ao passo que a problemática descreve a situação de uma instituição financeira denominada </a:t>
            </a:r>
            <a:r>
              <a:rPr lang="pt-BR" sz="105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Lending</a:t>
            </a:r>
            <a:r>
              <a:rPr lang="pt-BR" sz="105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Club, </a:t>
            </a:r>
            <a:r>
              <a:rPr lang="pt-BR" sz="105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 qual é uma empresa norte-americana responsável por operar uma plataforma online de empréstimos</a:t>
            </a:r>
            <a:r>
              <a:rPr lang="pt-BR" sz="105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pt-BR" sz="1050" b="1" dirty="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DFEC81C7-5055-0B49-A349-3E3AB74246EE}"/>
              </a:ext>
            </a:extLst>
          </p:cNvPr>
          <p:cNvSpPr/>
          <p:nvPr/>
        </p:nvSpPr>
        <p:spPr>
          <a:xfrm>
            <a:off x="114680" y="942415"/>
            <a:ext cx="11990633" cy="25094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Google Shape;3716;p76">
            <a:extLst>
              <a:ext uri="{FF2B5EF4-FFF2-40B4-BE49-F238E27FC236}">
                <a16:creationId xmlns:a16="http://schemas.microsoft.com/office/drawing/2014/main" id="{CCBCE57E-C961-B2CA-9290-96BA4F6F80B9}"/>
              </a:ext>
            </a:extLst>
          </p:cNvPr>
          <p:cNvSpPr/>
          <p:nvPr/>
        </p:nvSpPr>
        <p:spPr>
          <a:xfrm>
            <a:off x="245273" y="1229633"/>
            <a:ext cx="1569764" cy="1999105"/>
          </a:xfrm>
          <a:custGeom>
            <a:avLst/>
            <a:gdLst/>
            <a:ahLst/>
            <a:cxnLst/>
            <a:rect l="l" t="t" r="r" b="b"/>
            <a:pathLst>
              <a:path w="22682" h="23602" extrusionOk="0">
                <a:moveTo>
                  <a:pt x="13852" y="21070"/>
                </a:moveTo>
                <a:lnTo>
                  <a:pt x="13894" y="21091"/>
                </a:lnTo>
                <a:lnTo>
                  <a:pt x="13977" y="21217"/>
                </a:lnTo>
                <a:lnTo>
                  <a:pt x="14103" y="21384"/>
                </a:lnTo>
                <a:lnTo>
                  <a:pt x="14166" y="21384"/>
                </a:lnTo>
                <a:lnTo>
                  <a:pt x="14208" y="21342"/>
                </a:lnTo>
                <a:lnTo>
                  <a:pt x="14228" y="21384"/>
                </a:lnTo>
                <a:lnTo>
                  <a:pt x="14228" y="21489"/>
                </a:lnTo>
                <a:lnTo>
                  <a:pt x="14187" y="21489"/>
                </a:lnTo>
                <a:lnTo>
                  <a:pt x="14124" y="21698"/>
                </a:lnTo>
                <a:lnTo>
                  <a:pt x="13998" y="21928"/>
                </a:lnTo>
                <a:lnTo>
                  <a:pt x="13873" y="21928"/>
                </a:lnTo>
                <a:lnTo>
                  <a:pt x="13852" y="22075"/>
                </a:lnTo>
                <a:lnTo>
                  <a:pt x="13789" y="22158"/>
                </a:lnTo>
                <a:lnTo>
                  <a:pt x="13768" y="22158"/>
                </a:lnTo>
                <a:lnTo>
                  <a:pt x="13643" y="22242"/>
                </a:lnTo>
                <a:lnTo>
                  <a:pt x="13559" y="22326"/>
                </a:lnTo>
                <a:lnTo>
                  <a:pt x="13559" y="22367"/>
                </a:lnTo>
                <a:lnTo>
                  <a:pt x="13454" y="22388"/>
                </a:lnTo>
                <a:lnTo>
                  <a:pt x="13392" y="22451"/>
                </a:lnTo>
                <a:lnTo>
                  <a:pt x="13392" y="22472"/>
                </a:lnTo>
                <a:lnTo>
                  <a:pt x="13329" y="22347"/>
                </a:lnTo>
                <a:lnTo>
                  <a:pt x="13371" y="22242"/>
                </a:lnTo>
                <a:lnTo>
                  <a:pt x="13454" y="22179"/>
                </a:lnTo>
                <a:lnTo>
                  <a:pt x="13454" y="22116"/>
                </a:lnTo>
                <a:lnTo>
                  <a:pt x="13559" y="22012"/>
                </a:lnTo>
                <a:lnTo>
                  <a:pt x="13559" y="21928"/>
                </a:lnTo>
                <a:lnTo>
                  <a:pt x="13601" y="21970"/>
                </a:lnTo>
                <a:lnTo>
                  <a:pt x="13684" y="21970"/>
                </a:lnTo>
                <a:lnTo>
                  <a:pt x="13789" y="21865"/>
                </a:lnTo>
                <a:lnTo>
                  <a:pt x="13789" y="21761"/>
                </a:lnTo>
                <a:lnTo>
                  <a:pt x="13810" y="21740"/>
                </a:lnTo>
                <a:lnTo>
                  <a:pt x="13810" y="21614"/>
                </a:lnTo>
                <a:lnTo>
                  <a:pt x="13873" y="21551"/>
                </a:lnTo>
                <a:lnTo>
                  <a:pt x="13915" y="21551"/>
                </a:lnTo>
                <a:lnTo>
                  <a:pt x="13977" y="21447"/>
                </a:lnTo>
                <a:lnTo>
                  <a:pt x="13956" y="21384"/>
                </a:lnTo>
                <a:lnTo>
                  <a:pt x="13894" y="21300"/>
                </a:lnTo>
                <a:lnTo>
                  <a:pt x="13894" y="21112"/>
                </a:lnTo>
                <a:lnTo>
                  <a:pt x="13852" y="21070"/>
                </a:lnTo>
                <a:close/>
                <a:moveTo>
                  <a:pt x="7617" y="0"/>
                </a:moveTo>
                <a:lnTo>
                  <a:pt x="7617" y="147"/>
                </a:lnTo>
                <a:lnTo>
                  <a:pt x="7575" y="272"/>
                </a:lnTo>
                <a:lnTo>
                  <a:pt x="7282" y="481"/>
                </a:lnTo>
                <a:lnTo>
                  <a:pt x="7094" y="502"/>
                </a:lnTo>
                <a:lnTo>
                  <a:pt x="6842" y="607"/>
                </a:lnTo>
                <a:lnTo>
                  <a:pt x="6738" y="565"/>
                </a:lnTo>
                <a:lnTo>
                  <a:pt x="6570" y="586"/>
                </a:lnTo>
                <a:lnTo>
                  <a:pt x="6382" y="732"/>
                </a:lnTo>
                <a:lnTo>
                  <a:pt x="6215" y="795"/>
                </a:lnTo>
                <a:lnTo>
                  <a:pt x="6152" y="732"/>
                </a:lnTo>
                <a:lnTo>
                  <a:pt x="5901" y="774"/>
                </a:lnTo>
                <a:lnTo>
                  <a:pt x="5692" y="774"/>
                </a:lnTo>
                <a:lnTo>
                  <a:pt x="5503" y="670"/>
                </a:lnTo>
                <a:lnTo>
                  <a:pt x="5315" y="628"/>
                </a:lnTo>
                <a:lnTo>
                  <a:pt x="5169" y="586"/>
                </a:lnTo>
                <a:lnTo>
                  <a:pt x="5169" y="586"/>
                </a:lnTo>
                <a:lnTo>
                  <a:pt x="5231" y="711"/>
                </a:lnTo>
                <a:lnTo>
                  <a:pt x="5378" y="774"/>
                </a:lnTo>
                <a:lnTo>
                  <a:pt x="5503" y="879"/>
                </a:lnTo>
                <a:lnTo>
                  <a:pt x="5545" y="984"/>
                </a:lnTo>
                <a:lnTo>
                  <a:pt x="5399" y="1235"/>
                </a:lnTo>
                <a:lnTo>
                  <a:pt x="5420" y="1297"/>
                </a:lnTo>
                <a:lnTo>
                  <a:pt x="5441" y="1339"/>
                </a:lnTo>
                <a:lnTo>
                  <a:pt x="5420" y="1528"/>
                </a:lnTo>
                <a:lnTo>
                  <a:pt x="5692" y="1611"/>
                </a:lnTo>
                <a:lnTo>
                  <a:pt x="5859" y="1569"/>
                </a:lnTo>
                <a:lnTo>
                  <a:pt x="6047" y="1611"/>
                </a:lnTo>
                <a:lnTo>
                  <a:pt x="6047" y="1716"/>
                </a:lnTo>
                <a:lnTo>
                  <a:pt x="5922" y="1758"/>
                </a:lnTo>
                <a:lnTo>
                  <a:pt x="5650" y="1820"/>
                </a:lnTo>
                <a:lnTo>
                  <a:pt x="5608" y="1862"/>
                </a:lnTo>
                <a:lnTo>
                  <a:pt x="5545" y="1925"/>
                </a:lnTo>
                <a:lnTo>
                  <a:pt x="5503" y="2072"/>
                </a:lnTo>
                <a:lnTo>
                  <a:pt x="5210" y="2239"/>
                </a:lnTo>
                <a:lnTo>
                  <a:pt x="5106" y="2344"/>
                </a:lnTo>
                <a:lnTo>
                  <a:pt x="4897" y="2469"/>
                </a:lnTo>
                <a:lnTo>
                  <a:pt x="4771" y="2616"/>
                </a:lnTo>
                <a:lnTo>
                  <a:pt x="4541" y="2616"/>
                </a:lnTo>
                <a:lnTo>
                  <a:pt x="4394" y="2595"/>
                </a:lnTo>
                <a:lnTo>
                  <a:pt x="4164" y="2406"/>
                </a:lnTo>
                <a:lnTo>
                  <a:pt x="3955" y="2260"/>
                </a:lnTo>
                <a:lnTo>
                  <a:pt x="3809" y="2281"/>
                </a:lnTo>
                <a:lnTo>
                  <a:pt x="3809" y="2134"/>
                </a:lnTo>
                <a:lnTo>
                  <a:pt x="3767" y="1988"/>
                </a:lnTo>
                <a:lnTo>
                  <a:pt x="3662" y="1883"/>
                </a:lnTo>
                <a:lnTo>
                  <a:pt x="3641" y="1820"/>
                </a:lnTo>
                <a:lnTo>
                  <a:pt x="3495" y="1862"/>
                </a:lnTo>
                <a:lnTo>
                  <a:pt x="3390" y="1988"/>
                </a:lnTo>
                <a:lnTo>
                  <a:pt x="3306" y="1988"/>
                </a:lnTo>
                <a:lnTo>
                  <a:pt x="3244" y="1946"/>
                </a:lnTo>
                <a:lnTo>
                  <a:pt x="3139" y="1946"/>
                </a:lnTo>
                <a:lnTo>
                  <a:pt x="3076" y="2030"/>
                </a:lnTo>
                <a:lnTo>
                  <a:pt x="2407" y="2030"/>
                </a:lnTo>
                <a:lnTo>
                  <a:pt x="2386" y="2197"/>
                </a:lnTo>
                <a:lnTo>
                  <a:pt x="2448" y="2344"/>
                </a:lnTo>
                <a:lnTo>
                  <a:pt x="2658" y="2385"/>
                </a:lnTo>
                <a:lnTo>
                  <a:pt x="2720" y="2553"/>
                </a:lnTo>
                <a:lnTo>
                  <a:pt x="2679" y="2616"/>
                </a:lnTo>
                <a:lnTo>
                  <a:pt x="2762" y="2699"/>
                </a:lnTo>
                <a:lnTo>
                  <a:pt x="2720" y="2804"/>
                </a:lnTo>
                <a:lnTo>
                  <a:pt x="2595" y="2720"/>
                </a:lnTo>
                <a:lnTo>
                  <a:pt x="2197" y="2867"/>
                </a:lnTo>
                <a:lnTo>
                  <a:pt x="2239" y="3180"/>
                </a:lnTo>
                <a:lnTo>
                  <a:pt x="2344" y="3306"/>
                </a:lnTo>
                <a:lnTo>
                  <a:pt x="2553" y="3452"/>
                </a:lnTo>
                <a:lnTo>
                  <a:pt x="2679" y="3724"/>
                </a:lnTo>
                <a:lnTo>
                  <a:pt x="2679" y="3913"/>
                </a:lnTo>
                <a:lnTo>
                  <a:pt x="2679" y="3976"/>
                </a:lnTo>
                <a:lnTo>
                  <a:pt x="2365" y="5189"/>
                </a:lnTo>
                <a:lnTo>
                  <a:pt x="2260" y="5503"/>
                </a:lnTo>
                <a:lnTo>
                  <a:pt x="2281" y="5545"/>
                </a:lnTo>
                <a:lnTo>
                  <a:pt x="2239" y="5629"/>
                </a:lnTo>
                <a:lnTo>
                  <a:pt x="2093" y="5608"/>
                </a:lnTo>
                <a:lnTo>
                  <a:pt x="2093" y="5587"/>
                </a:lnTo>
                <a:lnTo>
                  <a:pt x="1967" y="5503"/>
                </a:lnTo>
                <a:lnTo>
                  <a:pt x="1821" y="5503"/>
                </a:lnTo>
                <a:lnTo>
                  <a:pt x="1758" y="5482"/>
                </a:lnTo>
                <a:lnTo>
                  <a:pt x="1716" y="5545"/>
                </a:lnTo>
                <a:lnTo>
                  <a:pt x="1319" y="5691"/>
                </a:lnTo>
                <a:lnTo>
                  <a:pt x="1026" y="5733"/>
                </a:lnTo>
                <a:lnTo>
                  <a:pt x="942" y="5817"/>
                </a:lnTo>
                <a:lnTo>
                  <a:pt x="879" y="5838"/>
                </a:lnTo>
                <a:lnTo>
                  <a:pt x="733" y="5963"/>
                </a:lnTo>
                <a:lnTo>
                  <a:pt x="607" y="6026"/>
                </a:lnTo>
                <a:lnTo>
                  <a:pt x="503" y="6110"/>
                </a:lnTo>
                <a:lnTo>
                  <a:pt x="523" y="6256"/>
                </a:lnTo>
                <a:lnTo>
                  <a:pt x="482" y="6340"/>
                </a:lnTo>
                <a:lnTo>
                  <a:pt x="503" y="6424"/>
                </a:lnTo>
                <a:lnTo>
                  <a:pt x="356" y="6570"/>
                </a:lnTo>
                <a:lnTo>
                  <a:pt x="398" y="6779"/>
                </a:lnTo>
                <a:lnTo>
                  <a:pt x="461" y="6884"/>
                </a:lnTo>
                <a:lnTo>
                  <a:pt x="356" y="6968"/>
                </a:lnTo>
                <a:lnTo>
                  <a:pt x="272" y="6947"/>
                </a:lnTo>
                <a:lnTo>
                  <a:pt x="105" y="7051"/>
                </a:lnTo>
                <a:lnTo>
                  <a:pt x="105" y="7156"/>
                </a:lnTo>
                <a:lnTo>
                  <a:pt x="63" y="7198"/>
                </a:lnTo>
                <a:lnTo>
                  <a:pt x="84" y="7282"/>
                </a:lnTo>
                <a:lnTo>
                  <a:pt x="63" y="7407"/>
                </a:lnTo>
                <a:lnTo>
                  <a:pt x="0" y="7512"/>
                </a:lnTo>
                <a:lnTo>
                  <a:pt x="63" y="7616"/>
                </a:lnTo>
                <a:lnTo>
                  <a:pt x="42" y="7700"/>
                </a:lnTo>
                <a:lnTo>
                  <a:pt x="189" y="7846"/>
                </a:lnTo>
                <a:lnTo>
                  <a:pt x="482" y="8307"/>
                </a:lnTo>
                <a:lnTo>
                  <a:pt x="314" y="8474"/>
                </a:lnTo>
                <a:lnTo>
                  <a:pt x="691" y="8453"/>
                </a:lnTo>
                <a:lnTo>
                  <a:pt x="879" y="8474"/>
                </a:lnTo>
                <a:lnTo>
                  <a:pt x="1005" y="8662"/>
                </a:lnTo>
                <a:lnTo>
                  <a:pt x="1026" y="8830"/>
                </a:lnTo>
                <a:lnTo>
                  <a:pt x="1256" y="8830"/>
                </a:lnTo>
                <a:lnTo>
                  <a:pt x="1549" y="8851"/>
                </a:lnTo>
                <a:lnTo>
                  <a:pt x="1779" y="8621"/>
                </a:lnTo>
                <a:lnTo>
                  <a:pt x="1988" y="8474"/>
                </a:lnTo>
                <a:lnTo>
                  <a:pt x="2051" y="8537"/>
                </a:lnTo>
                <a:lnTo>
                  <a:pt x="2030" y="8662"/>
                </a:lnTo>
                <a:lnTo>
                  <a:pt x="1967" y="8725"/>
                </a:lnTo>
                <a:lnTo>
                  <a:pt x="1967" y="8934"/>
                </a:lnTo>
                <a:lnTo>
                  <a:pt x="1988" y="9269"/>
                </a:lnTo>
                <a:lnTo>
                  <a:pt x="1988" y="9395"/>
                </a:lnTo>
                <a:lnTo>
                  <a:pt x="2072" y="9478"/>
                </a:lnTo>
                <a:lnTo>
                  <a:pt x="2176" y="9458"/>
                </a:lnTo>
                <a:lnTo>
                  <a:pt x="2281" y="9416"/>
                </a:lnTo>
                <a:lnTo>
                  <a:pt x="2469" y="9416"/>
                </a:lnTo>
                <a:lnTo>
                  <a:pt x="2511" y="9458"/>
                </a:lnTo>
                <a:lnTo>
                  <a:pt x="3076" y="9458"/>
                </a:lnTo>
                <a:lnTo>
                  <a:pt x="3223" y="9353"/>
                </a:lnTo>
                <a:lnTo>
                  <a:pt x="3306" y="9353"/>
                </a:lnTo>
                <a:lnTo>
                  <a:pt x="3432" y="9248"/>
                </a:lnTo>
                <a:lnTo>
                  <a:pt x="3557" y="9248"/>
                </a:lnTo>
                <a:lnTo>
                  <a:pt x="3725" y="9186"/>
                </a:lnTo>
                <a:lnTo>
                  <a:pt x="3829" y="8934"/>
                </a:lnTo>
                <a:lnTo>
                  <a:pt x="4081" y="8746"/>
                </a:lnTo>
                <a:lnTo>
                  <a:pt x="4269" y="8725"/>
                </a:lnTo>
                <a:lnTo>
                  <a:pt x="4457" y="8621"/>
                </a:lnTo>
                <a:lnTo>
                  <a:pt x="4583" y="8621"/>
                </a:lnTo>
                <a:lnTo>
                  <a:pt x="4687" y="8683"/>
                </a:lnTo>
                <a:lnTo>
                  <a:pt x="4813" y="8621"/>
                </a:lnTo>
                <a:lnTo>
                  <a:pt x="4897" y="8662"/>
                </a:lnTo>
                <a:lnTo>
                  <a:pt x="4876" y="8788"/>
                </a:lnTo>
                <a:lnTo>
                  <a:pt x="4959" y="8997"/>
                </a:lnTo>
                <a:lnTo>
                  <a:pt x="5085" y="9374"/>
                </a:lnTo>
                <a:lnTo>
                  <a:pt x="5169" y="9646"/>
                </a:lnTo>
                <a:lnTo>
                  <a:pt x="5106" y="9751"/>
                </a:lnTo>
                <a:lnTo>
                  <a:pt x="5210" y="9960"/>
                </a:lnTo>
                <a:lnTo>
                  <a:pt x="5357" y="10002"/>
                </a:lnTo>
                <a:lnTo>
                  <a:pt x="5399" y="10190"/>
                </a:lnTo>
                <a:lnTo>
                  <a:pt x="5524" y="10274"/>
                </a:lnTo>
                <a:lnTo>
                  <a:pt x="5713" y="10357"/>
                </a:lnTo>
                <a:lnTo>
                  <a:pt x="5838" y="10462"/>
                </a:lnTo>
                <a:lnTo>
                  <a:pt x="5901" y="10420"/>
                </a:lnTo>
                <a:lnTo>
                  <a:pt x="6131" y="10357"/>
                </a:lnTo>
                <a:lnTo>
                  <a:pt x="6340" y="10587"/>
                </a:lnTo>
                <a:lnTo>
                  <a:pt x="6508" y="10525"/>
                </a:lnTo>
                <a:lnTo>
                  <a:pt x="6717" y="10755"/>
                </a:lnTo>
                <a:lnTo>
                  <a:pt x="6822" y="10755"/>
                </a:lnTo>
                <a:lnTo>
                  <a:pt x="7073" y="10839"/>
                </a:lnTo>
                <a:lnTo>
                  <a:pt x="7240" y="10880"/>
                </a:lnTo>
                <a:lnTo>
                  <a:pt x="7261" y="11048"/>
                </a:lnTo>
                <a:lnTo>
                  <a:pt x="7366" y="11069"/>
                </a:lnTo>
                <a:lnTo>
                  <a:pt x="7512" y="11152"/>
                </a:lnTo>
                <a:lnTo>
                  <a:pt x="7868" y="11131"/>
                </a:lnTo>
                <a:lnTo>
                  <a:pt x="8098" y="11257"/>
                </a:lnTo>
                <a:lnTo>
                  <a:pt x="8140" y="11362"/>
                </a:lnTo>
                <a:lnTo>
                  <a:pt x="8119" y="11634"/>
                </a:lnTo>
                <a:lnTo>
                  <a:pt x="8182" y="11843"/>
                </a:lnTo>
                <a:lnTo>
                  <a:pt x="8098" y="11968"/>
                </a:lnTo>
                <a:lnTo>
                  <a:pt x="8307" y="12324"/>
                </a:lnTo>
                <a:lnTo>
                  <a:pt x="8286" y="12596"/>
                </a:lnTo>
                <a:lnTo>
                  <a:pt x="9290" y="12617"/>
                </a:lnTo>
                <a:lnTo>
                  <a:pt x="9353" y="12973"/>
                </a:lnTo>
                <a:lnTo>
                  <a:pt x="9332" y="13224"/>
                </a:lnTo>
                <a:lnTo>
                  <a:pt x="9604" y="13287"/>
                </a:lnTo>
                <a:lnTo>
                  <a:pt x="9897" y="13810"/>
                </a:lnTo>
                <a:lnTo>
                  <a:pt x="9918" y="14103"/>
                </a:lnTo>
                <a:lnTo>
                  <a:pt x="9646" y="14688"/>
                </a:lnTo>
                <a:lnTo>
                  <a:pt x="9667" y="14772"/>
                </a:lnTo>
                <a:lnTo>
                  <a:pt x="9583" y="14856"/>
                </a:lnTo>
                <a:lnTo>
                  <a:pt x="9646" y="14919"/>
                </a:lnTo>
                <a:lnTo>
                  <a:pt x="9604" y="15044"/>
                </a:lnTo>
                <a:lnTo>
                  <a:pt x="9751" y="15149"/>
                </a:lnTo>
                <a:lnTo>
                  <a:pt x="9751" y="15337"/>
                </a:lnTo>
                <a:lnTo>
                  <a:pt x="9855" y="15525"/>
                </a:lnTo>
                <a:lnTo>
                  <a:pt x="9793" y="15860"/>
                </a:lnTo>
                <a:lnTo>
                  <a:pt x="9814" y="15986"/>
                </a:lnTo>
                <a:lnTo>
                  <a:pt x="9772" y="16111"/>
                </a:lnTo>
                <a:lnTo>
                  <a:pt x="9814" y="16258"/>
                </a:lnTo>
                <a:lnTo>
                  <a:pt x="10023" y="16216"/>
                </a:lnTo>
                <a:lnTo>
                  <a:pt x="10107" y="16279"/>
                </a:lnTo>
                <a:lnTo>
                  <a:pt x="10379" y="16258"/>
                </a:lnTo>
                <a:lnTo>
                  <a:pt x="10525" y="16300"/>
                </a:lnTo>
                <a:lnTo>
                  <a:pt x="10797" y="16195"/>
                </a:lnTo>
                <a:lnTo>
                  <a:pt x="10923" y="16300"/>
                </a:lnTo>
                <a:lnTo>
                  <a:pt x="11027" y="16321"/>
                </a:lnTo>
                <a:lnTo>
                  <a:pt x="11069" y="16467"/>
                </a:lnTo>
                <a:lnTo>
                  <a:pt x="11236" y="17095"/>
                </a:lnTo>
                <a:lnTo>
                  <a:pt x="11341" y="17304"/>
                </a:lnTo>
                <a:lnTo>
                  <a:pt x="11446" y="17325"/>
                </a:lnTo>
                <a:lnTo>
                  <a:pt x="11676" y="17199"/>
                </a:lnTo>
                <a:lnTo>
                  <a:pt x="11801" y="17241"/>
                </a:lnTo>
                <a:lnTo>
                  <a:pt x="11885" y="17325"/>
                </a:lnTo>
                <a:lnTo>
                  <a:pt x="11969" y="17346"/>
                </a:lnTo>
                <a:lnTo>
                  <a:pt x="11906" y="17450"/>
                </a:lnTo>
                <a:lnTo>
                  <a:pt x="11885" y="17994"/>
                </a:lnTo>
                <a:lnTo>
                  <a:pt x="11864" y="18057"/>
                </a:lnTo>
                <a:lnTo>
                  <a:pt x="11822" y="18078"/>
                </a:lnTo>
                <a:lnTo>
                  <a:pt x="11822" y="18162"/>
                </a:lnTo>
                <a:lnTo>
                  <a:pt x="11801" y="18204"/>
                </a:lnTo>
                <a:lnTo>
                  <a:pt x="11801" y="18287"/>
                </a:lnTo>
                <a:lnTo>
                  <a:pt x="11906" y="18204"/>
                </a:lnTo>
                <a:lnTo>
                  <a:pt x="12178" y="18245"/>
                </a:lnTo>
                <a:lnTo>
                  <a:pt x="12178" y="18350"/>
                </a:lnTo>
                <a:lnTo>
                  <a:pt x="12283" y="18580"/>
                </a:lnTo>
                <a:lnTo>
                  <a:pt x="12283" y="18769"/>
                </a:lnTo>
                <a:lnTo>
                  <a:pt x="12303" y="18999"/>
                </a:lnTo>
                <a:lnTo>
                  <a:pt x="12324" y="19208"/>
                </a:lnTo>
                <a:lnTo>
                  <a:pt x="12303" y="19292"/>
                </a:lnTo>
                <a:lnTo>
                  <a:pt x="12199" y="19292"/>
                </a:lnTo>
                <a:lnTo>
                  <a:pt x="12073" y="19354"/>
                </a:lnTo>
                <a:lnTo>
                  <a:pt x="12031" y="19417"/>
                </a:lnTo>
                <a:lnTo>
                  <a:pt x="11969" y="19501"/>
                </a:lnTo>
                <a:lnTo>
                  <a:pt x="11927" y="19459"/>
                </a:lnTo>
                <a:lnTo>
                  <a:pt x="11697" y="19626"/>
                </a:lnTo>
                <a:lnTo>
                  <a:pt x="11655" y="19710"/>
                </a:lnTo>
                <a:lnTo>
                  <a:pt x="11571" y="19731"/>
                </a:lnTo>
                <a:lnTo>
                  <a:pt x="11362" y="19919"/>
                </a:lnTo>
                <a:lnTo>
                  <a:pt x="11278" y="19940"/>
                </a:lnTo>
                <a:lnTo>
                  <a:pt x="11278" y="20066"/>
                </a:lnTo>
                <a:lnTo>
                  <a:pt x="11195" y="20087"/>
                </a:lnTo>
                <a:lnTo>
                  <a:pt x="11132" y="20087"/>
                </a:lnTo>
                <a:lnTo>
                  <a:pt x="10943" y="20338"/>
                </a:lnTo>
                <a:lnTo>
                  <a:pt x="10923" y="20401"/>
                </a:lnTo>
                <a:lnTo>
                  <a:pt x="10923" y="20547"/>
                </a:lnTo>
                <a:lnTo>
                  <a:pt x="10839" y="20568"/>
                </a:lnTo>
                <a:lnTo>
                  <a:pt x="10776" y="20652"/>
                </a:lnTo>
                <a:lnTo>
                  <a:pt x="10671" y="20861"/>
                </a:lnTo>
                <a:lnTo>
                  <a:pt x="10609" y="20924"/>
                </a:lnTo>
                <a:lnTo>
                  <a:pt x="10504" y="21091"/>
                </a:lnTo>
                <a:lnTo>
                  <a:pt x="10504" y="21133"/>
                </a:lnTo>
                <a:lnTo>
                  <a:pt x="10399" y="21217"/>
                </a:lnTo>
                <a:lnTo>
                  <a:pt x="10358" y="21279"/>
                </a:lnTo>
                <a:lnTo>
                  <a:pt x="10441" y="21279"/>
                </a:lnTo>
                <a:lnTo>
                  <a:pt x="10504" y="21300"/>
                </a:lnTo>
                <a:lnTo>
                  <a:pt x="10776" y="21217"/>
                </a:lnTo>
                <a:lnTo>
                  <a:pt x="10923" y="21300"/>
                </a:lnTo>
                <a:lnTo>
                  <a:pt x="11048" y="21489"/>
                </a:lnTo>
                <a:lnTo>
                  <a:pt x="11153" y="21530"/>
                </a:lnTo>
                <a:lnTo>
                  <a:pt x="11236" y="21698"/>
                </a:lnTo>
                <a:lnTo>
                  <a:pt x="11362" y="21928"/>
                </a:lnTo>
                <a:lnTo>
                  <a:pt x="11446" y="21928"/>
                </a:lnTo>
                <a:lnTo>
                  <a:pt x="11550" y="21803"/>
                </a:lnTo>
                <a:lnTo>
                  <a:pt x="11592" y="21803"/>
                </a:lnTo>
                <a:lnTo>
                  <a:pt x="11718" y="22012"/>
                </a:lnTo>
                <a:lnTo>
                  <a:pt x="11885" y="22075"/>
                </a:lnTo>
                <a:lnTo>
                  <a:pt x="12011" y="22116"/>
                </a:lnTo>
                <a:lnTo>
                  <a:pt x="12136" y="22242"/>
                </a:lnTo>
                <a:lnTo>
                  <a:pt x="12136" y="22388"/>
                </a:lnTo>
                <a:lnTo>
                  <a:pt x="12241" y="22367"/>
                </a:lnTo>
                <a:lnTo>
                  <a:pt x="12492" y="22472"/>
                </a:lnTo>
                <a:lnTo>
                  <a:pt x="12617" y="22639"/>
                </a:lnTo>
                <a:lnTo>
                  <a:pt x="12743" y="22849"/>
                </a:lnTo>
                <a:lnTo>
                  <a:pt x="12868" y="22911"/>
                </a:lnTo>
                <a:lnTo>
                  <a:pt x="12848" y="23079"/>
                </a:lnTo>
                <a:lnTo>
                  <a:pt x="12743" y="23225"/>
                </a:lnTo>
                <a:lnTo>
                  <a:pt x="12806" y="23414"/>
                </a:lnTo>
                <a:lnTo>
                  <a:pt x="12827" y="23476"/>
                </a:lnTo>
                <a:lnTo>
                  <a:pt x="12848" y="23497"/>
                </a:lnTo>
                <a:lnTo>
                  <a:pt x="12931" y="23581"/>
                </a:lnTo>
                <a:lnTo>
                  <a:pt x="12952" y="23602"/>
                </a:lnTo>
                <a:lnTo>
                  <a:pt x="13161" y="23414"/>
                </a:lnTo>
                <a:lnTo>
                  <a:pt x="13245" y="23225"/>
                </a:lnTo>
                <a:lnTo>
                  <a:pt x="13350" y="22849"/>
                </a:lnTo>
                <a:lnTo>
                  <a:pt x="13433" y="22577"/>
                </a:lnTo>
                <a:lnTo>
                  <a:pt x="13454" y="22535"/>
                </a:lnTo>
                <a:lnTo>
                  <a:pt x="13426" y="22507"/>
                </a:lnTo>
                <a:lnTo>
                  <a:pt x="13426" y="22507"/>
                </a:lnTo>
                <a:lnTo>
                  <a:pt x="13496" y="22535"/>
                </a:lnTo>
                <a:lnTo>
                  <a:pt x="13873" y="22242"/>
                </a:lnTo>
                <a:lnTo>
                  <a:pt x="14061" y="22033"/>
                </a:lnTo>
                <a:lnTo>
                  <a:pt x="14312" y="21551"/>
                </a:lnTo>
                <a:lnTo>
                  <a:pt x="14417" y="21321"/>
                </a:lnTo>
                <a:lnTo>
                  <a:pt x="14521" y="21028"/>
                </a:lnTo>
                <a:lnTo>
                  <a:pt x="14793" y="20547"/>
                </a:lnTo>
                <a:lnTo>
                  <a:pt x="15044" y="20233"/>
                </a:lnTo>
                <a:lnTo>
                  <a:pt x="15107" y="20129"/>
                </a:lnTo>
                <a:lnTo>
                  <a:pt x="15065" y="20087"/>
                </a:lnTo>
                <a:lnTo>
                  <a:pt x="15065" y="20024"/>
                </a:lnTo>
                <a:lnTo>
                  <a:pt x="15128" y="19982"/>
                </a:lnTo>
                <a:lnTo>
                  <a:pt x="15170" y="19857"/>
                </a:lnTo>
                <a:lnTo>
                  <a:pt x="15254" y="19815"/>
                </a:lnTo>
                <a:lnTo>
                  <a:pt x="15233" y="19710"/>
                </a:lnTo>
                <a:lnTo>
                  <a:pt x="15254" y="19626"/>
                </a:lnTo>
                <a:lnTo>
                  <a:pt x="15233" y="19606"/>
                </a:lnTo>
                <a:lnTo>
                  <a:pt x="15296" y="19585"/>
                </a:lnTo>
                <a:lnTo>
                  <a:pt x="15296" y="19480"/>
                </a:lnTo>
                <a:lnTo>
                  <a:pt x="15191" y="19313"/>
                </a:lnTo>
                <a:lnTo>
                  <a:pt x="15191" y="19229"/>
                </a:lnTo>
                <a:lnTo>
                  <a:pt x="15212" y="19166"/>
                </a:lnTo>
                <a:lnTo>
                  <a:pt x="15191" y="19082"/>
                </a:lnTo>
                <a:lnTo>
                  <a:pt x="15149" y="18915"/>
                </a:lnTo>
                <a:lnTo>
                  <a:pt x="15107" y="18748"/>
                </a:lnTo>
                <a:lnTo>
                  <a:pt x="15149" y="18685"/>
                </a:lnTo>
                <a:lnTo>
                  <a:pt x="15316" y="18664"/>
                </a:lnTo>
                <a:lnTo>
                  <a:pt x="15296" y="18559"/>
                </a:lnTo>
                <a:lnTo>
                  <a:pt x="15212" y="18497"/>
                </a:lnTo>
                <a:lnTo>
                  <a:pt x="15337" y="18476"/>
                </a:lnTo>
                <a:lnTo>
                  <a:pt x="15337" y="18371"/>
                </a:lnTo>
                <a:lnTo>
                  <a:pt x="15212" y="18308"/>
                </a:lnTo>
                <a:lnTo>
                  <a:pt x="15316" y="18287"/>
                </a:lnTo>
                <a:lnTo>
                  <a:pt x="15379" y="18183"/>
                </a:lnTo>
                <a:lnTo>
                  <a:pt x="15442" y="18245"/>
                </a:lnTo>
                <a:lnTo>
                  <a:pt x="15630" y="18057"/>
                </a:lnTo>
                <a:lnTo>
                  <a:pt x="15735" y="17973"/>
                </a:lnTo>
                <a:lnTo>
                  <a:pt x="15735" y="17932"/>
                </a:lnTo>
                <a:lnTo>
                  <a:pt x="15881" y="17785"/>
                </a:lnTo>
                <a:lnTo>
                  <a:pt x="16070" y="17681"/>
                </a:lnTo>
                <a:lnTo>
                  <a:pt x="16300" y="17429"/>
                </a:lnTo>
                <a:lnTo>
                  <a:pt x="16509" y="17409"/>
                </a:lnTo>
                <a:lnTo>
                  <a:pt x="16614" y="17304"/>
                </a:lnTo>
                <a:lnTo>
                  <a:pt x="16739" y="17199"/>
                </a:lnTo>
                <a:lnTo>
                  <a:pt x="16844" y="17199"/>
                </a:lnTo>
                <a:lnTo>
                  <a:pt x="16928" y="17241"/>
                </a:lnTo>
                <a:lnTo>
                  <a:pt x="17011" y="17283"/>
                </a:lnTo>
                <a:lnTo>
                  <a:pt x="17011" y="17199"/>
                </a:lnTo>
                <a:lnTo>
                  <a:pt x="17095" y="17032"/>
                </a:lnTo>
                <a:lnTo>
                  <a:pt x="17325" y="16885"/>
                </a:lnTo>
                <a:lnTo>
                  <a:pt x="17430" y="16865"/>
                </a:lnTo>
                <a:lnTo>
                  <a:pt x="17430" y="16802"/>
                </a:lnTo>
                <a:lnTo>
                  <a:pt x="17367" y="16781"/>
                </a:lnTo>
                <a:lnTo>
                  <a:pt x="17304" y="16739"/>
                </a:lnTo>
                <a:lnTo>
                  <a:pt x="17262" y="16676"/>
                </a:lnTo>
                <a:lnTo>
                  <a:pt x="17346" y="16634"/>
                </a:lnTo>
                <a:lnTo>
                  <a:pt x="17513" y="16572"/>
                </a:lnTo>
                <a:lnTo>
                  <a:pt x="17576" y="16593"/>
                </a:lnTo>
                <a:lnTo>
                  <a:pt x="17681" y="16593"/>
                </a:lnTo>
                <a:lnTo>
                  <a:pt x="17765" y="16530"/>
                </a:lnTo>
                <a:lnTo>
                  <a:pt x="17869" y="16530"/>
                </a:lnTo>
                <a:lnTo>
                  <a:pt x="17869" y="16593"/>
                </a:lnTo>
                <a:lnTo>
                  <a:pt x="17744" y="16676"/>
                </a:lnTo>
                <a:lnTo>
                  <a:pt x="17576" y="16697"/>
                </a:lnTo>
                <a:lnTo>
                  <a:pt x="17555" y="16718"/>
                </a:lnTo>
                <a:lnTo>
                  <a:pt x="17618" y="16739"/>
                </a:lnTo>
                <a:lnTo>
                  <a:pt x="17848" y="16676"/>
                </a:lnTo>
                <a:lnTo>
                  <a:pt x="18099" y="16572"/>
                </a:lnTo>
                <a:lnTo>
                  <a:pt x="18078" y="16509"/>
                </a:lnTo>
                <a:lnTo>
                  <a:pt x="18162" y="16467"/>
                </a:lnTo>
                <a:lnTo>
                  <a:pt x="18246" y="16467"/>
                </a:lnTo>
                <a:lnTo>
                  <a:pt x="18204" y="16509"/>
                </a:lnTo>
                <a:cubicBezTo>
                  <a:pt x="18204" y="16509"/>
                  <a:pt x="18204" y="16613"/>
                  <a:pt x="18246" y="16613"/>
                </a:cubicBezTo>
                <a:lnTo>
                  <a:pt x="18392" y="16634"/>
                </a:lnTo>
                <a:lnTo>
                  <a:pt x="18497" y="16593"/>
                </a:lnTo>
                <a:lnTo>
                  <a:pt x="18664" y="16593"/>
                </a:lnTo>
                <a:lnTo>
                  <a:pt x="18832" y="16613"/>
                </a:lnTo>
                <a:lnTo>
                  <a:pt x="18936" y="16551"/>
                </a:lnTo>
                <a:lnTo>
                  <a:pt x="18936" y="16488"/>
                </a:lnTo>
                <a:lnTo>
                  <a:pt x="18915" y="16467"/>
                </a:lnTo>
                <a:lnTo>
                  <a:pt x="18936" y="16404"/>
                </a:lnTo>
                <a:lnTo>
                  <a:pt x="19208" y="16237"/>
                </a:lnTo>
                <a:lnTo>
                  <a:pt x="19418" y="16153"/>
                </a:lnTo>
                <a:lnTo>
                  <a:pt x="19522" y="16069"/>
                </a:lnTo>
                <a:lnTo>
                  <a:pt x="19543" y="15986"/>
                </a:lnTo>
                <a:lnTo>
                  <a:pt x="19522" y="15944"/>
                </a:lnTo>
                <a:lnTo>
                  <a:pt x="19418" y="15735"/>
                </a:lnTo>
                <a:lnTo>
                  <a:pt x="19501" y="15567"/>
                </a:lnTo>
                <a:lnTo>
                  <a:pt x="19564" y="15463"/>
                </a:lnTo>
                <a:lnTo>
                  <a:pt x="19564" y="15358"/>
                </a:lnTo>
                <a:lnTo>
                  <a:pt x="19627" y="15316"/>
                </a:lnTo>
                <a:lnTo>
                  <a:pt x="19731" y="15232"/>
                </a:lnTo>
                <a:lnTo>
                  <a:pt x="19752" y="15128"/>
                </a:lnTo>
                <a:lnTo>
                  <a:pt x="19731" y="15107"/>
                </a:lnTo>
                <a:lnTo>
                  <a:pt x="19878" y="14835"/>
                </a:lnTo>
                <a:lnTo>
                  <a:pt x="20087" y="14584"/>
                </a:lnTo>
                <a:lnTo>
                  <a:pt x="20087" y="14479"/>
                </a:lnTo>
                <a:lnTo>
                  <a:pt x="20045" y="14103"/>
                </a:lnTo>
                <a:lnTo>
                  <a:pt x="20003" y="14082"/>
                </a:lnTo>
                <a:lnTo>
                  <a:pt x="20066" y="13872"/>
                </a:lnTo>
                <a:lnTo>
                  <a:pt x="20129" y="13789"/>
                </a:lnTo>
                <a:lnTo>
                  <a:pt x="20129" y="13726"/>
                </a:lnTo>
                <a:lnTo>
                  <a:pt x="20317" y="13580"/>
                </a:lnTo>
                <a:lnTo>
                  <a:pt x="20338" y="13496"/>
                </a:lnTo>
                <a:lnTo>
                  <a:pt x="20275" y="13287"/>
                </a:lnTo>
                <a:lnTo>
                  <a:pt x="20359" y="13036"/>
                </a:lnTo>
                <a:lnTo>
                  <a:pt x="20338" y="12826"/>
                </a:lnTo>
                <a:lnTo>
                  <a:pt x="20359" y="12659"/>
                </a:lnTo>
                <a:lnTo>
                  <a:pt x="20359" y="12596"/>
                </a:lnTo>
                <a:lnTo>
                  <a:pt x="20422" y="12387"/>
                </a:lnTo>
                <a:lnTo>
                  <a:pt x="20359" y="11592"/>
                </a:lnTo>
                <a:lnTo>
                  <a:pt x="20359" y="11445"/>
                </a:lnTo>
                <a:lnTo>
                  <a:pt x="20422" y="11341"/>
                </a:lnTo>
                <a:lnTo>
                  <a:pt x="20422" y="11236"/>
                </a:lnTo>
                <a:lnTo>
                  <a:pt x="20359" y="11278"/>
                </a:lnTo>
                <a:lnTo>
                  <a:pt x="20275" y="11194"/>
                </a:lnTo>
                <a:lnTo>
                  <a:pt x="20275" y="11131"/>
                </a:lnTo>
                <a:lnTo>
                  <a:pt x="20359" y="10985"/>
                </a:lnTo>
                <a:lnTo>
                  <a:pt x="20338" y="10859"/>
                </a:lnTo>
                <a:lnTo>
                  <a:pt x="20359" y="10776"/>
                </a:lnTo>
                <a:lnTo>
                  <a:pt x="20443" y="10755"/>
                </a:lnTo>
                <a:lnTo>
                  <a:pt x="20464" y="10629"/>
                </a:lnTo>
                <a:lnTo>
                  <a:pt x="20380" y="10504"/>
                </a:lnTo>
                <a:lnTo>
                  <a:pt x="20234" y="10420"/>
                </a:lnTo>
                <a:lnTo>
                  <a:pt x="20275" y="10399"/>
                </a:lnTo>
                <a:lnTo>
                  <a:pt x="20317" y="10336"/>
                </a:lnTo>
                <a:lnTo>
                  <a:pt x="20338" y="10399"/>
                </a:lnTo>
                <a:lnTo>
                  <a:pt x="20422" y="10441"/>
                </a:lnTo>
                <a:lnTo>
                  <a:pt x="20485" y="10462"/>
                </a:lnTo>
                <a:lnTo>
                  <a:pt x="20526" y="10336"/>
                </a:lnTo>
                <a:lnTo>
                  <a:pt x="20589" y="10336"/>
                </a:lnTo>
                <a:lnTo>
                  <a:pt x="20631" y="10420"/>
                </a:lnTo>
                <a:lnTo>
                  <a:pt x="20673" y="10441"/>
                </a:lnTo>
                <a:lnTo>
                  <a:pt x="20631" y="10525"/>
                </a:lnTo>
                <a:lnTo>
                  <a:pt x="20547" y="10567"/>
                </a:lnTo>
                <a:lnTo>
                  <a:pt x="20526" y="10650"/>
                </a:lnTo>
                <a:lnTo>
                  <a:pt x="20568" y="10650"/>
                </a:lnTo>
                <a:lnTo>
                  <a:pt x="20673" y="10546"/>
                </a:lnTo>
                <a:lnTo>
                  <a:pt x="20840" y="10462"/>
                </a:lnTo>
                <a:lnTo>
                  <a:pt x="21008" y="10190"/>
                </a:lnTo>
                <a:lnTo>
                  <a:pt x="21091" y="9981"/>
                </a:lnTo>
                <a:lnTo>
                  <a:pt x="21112" y="9834"/>
                </a:lnTo>
                <a:lnTo>
                  <a:pt x="21196" y="9771"/>
                </a:lnTo>
                <a:lnTo>
                  <a:pt x="21280" y="9562"/>
                </a:lnTo>
                <a:lnTo>
                  <a:pt x="21363" y="9374"/>
                </a:lnTo>
                <a:lnTo>
                  <a:pt x="21677" y="9165"/>
                </a:lnTo>
                <a:lnTo>
                  <a:pt x="21698" y="9060"/>
                </a:lnTo>
                <a:lnTo>
                  <a:pt x="21803" y="9039"/>
                </a:lnTo>
                <a:lnTo>
                  <a:pt x="21887" y="8934"/>
                </a:lnTo>
                <a:lnTo>
                  <a:pt x="22138" y="8683"/>
                </a:lnTo>
                <a:lnTo>
                  <a:pt x="22368" y="8370"/>
                </a:lnTo>
                <a:lnTo>
                  <a:pt x="22431" y="8307"/>
                </a:lnTo>
                <a:lnTo>
                  <a:pt x="22556" y="7993"/>
                </a:lnTo>
                <a:lnTo>
                  <a:pt x="22577" y="7846"/>
                </a:lnTo>
                <a:lnTo>
                  <a:pt x="22661" y="7742"/>
                </a:lnTo>
                <a:lnTo>
                  <a:pt x="22661" y="7637"/>
                </a:lnTo>
                <a:lnTo>
                  <a:pt x="22577" y="7533"/>
                </a:lnTo>
                <a:lnTo>
                  <a:pt x="22619" y="7449"/>
                </a:lnTo>
                <a:lnTo>
                  <a:pt x="22682" y="7449"/>
                </a:lnTo>
                <a:lnTo>
                  <a:pt x="22661" y="7156"/>
                </a:lnTo>
                <a:lnTo>
                  <a:pt x="22577" y="7093"/>
                </a:lnTo>
                <a:lnTo>
                  <a:pt x="22556" y="6968"/>
                </a:lnTo>
                <a:lnTo>
                  <a:pt x="22347" y="6528"/>
                </a:lnTo>
                <a:lnTo>
                  <a:pt x="22347" y="6361"/>
                </a:lnTo>
                <a:lnTo>
                  <a:pt x="22326" y="6193"/>
                </a:lnTo>
                <a:lnTo>
                  <a:pt x="21949" y="6026"/>
                </a:lnTo>
                <a:lnTo>
                  <a:pt x="21740" y="6026"/>
                </a:lnTo>
                <a:lnTo>
                  <a:pt x="21594" y="6110"/>
                </a:lnTo>
                <a:lnTo>
                  <a:pt x="21489" y="5942"/>
                </a:lnTo>
                <a:lnTo>
                  <a:pt x="21342" y="5921"/>
                </a:lnTo>
                <a:lnTo>
                  <a:pt x="21217" y="5796"/>
                </a:lnTo>
                <a:lnTo>
                  <a:pt x="21070" y="5712"/>
                </a:lnTo>
                <a:lnTo>
                  <a:pt x="20966" y="5691"/>
                </a:lnTo>
                <a:lnTo>
                  <a:pt x="20694" y="5398"/>
                </a:lnTo>
                <a:lnTo>
                  <a:pt x="20485" y="5105"/>
                </a:lnTo>
                <a:lnTo>
                  <a:pt x="20380" y="5085"/>
                </a:lnTo>
                <a:lnTo>
                  <a:pt x="20254" y="4959"/>
                </a:lnTo>
                <a:lnTo>
                  <a:pt x="20129" y="4959"/>
                </a:lnTo>
                <a:lnTo>
                  <a:pt x="19773" y="4687"/>
                </a:lnTo>
                <a:lnTo>
                  <a:pt x="19627" y="4687"/>
                </a:lnTo>
                <a:lnTo>
                  <a:pt x="19438" y="4603"/>
                </a:lnTo>
                <a:lnTo>
                  <a:pt x="19334" y="4666"/>
                </a:lnTo>
                <a:lnTo>
                  <a:pt x="19187" y="4666"/>
                </a:lnTo>
                <a:lnTo>
                  <a:pt x="19083" y="4603"/>
                </a:lnTo>
                <a:lnTo>
                  <a:pt x="18978" y="4666"/>
                </a:lnTo>
                <a:lnTo>
                  <a:pt x="18915" y="4750"/>
                </a:lnTo>
                <a:lnTo>
                  <a:pt x="18832" y="4666"/>
                </a:lnTo>
                <a:lnTo>
                  <a:pt x="18685" y="4561"/>
                </a:lnTo>
                <a:lnTo>
                  <a:pt x="18685" y="4666"/>
                </a:lnTo>
                <a:lnTo>
                  <a:pt x="18602" y="4624"/>
                </a:lnTo>
                <a:lnTo>
                  <a:pt x="18581" y="4687"/>
                </a:lnTo>
                <a:lnTo>
                  <a:pt x="18581" y="4750"/>
                </a:lnTo>
                <a:lnTo>
                  <a:pt x="18476" y="4666"/>
                </a:lnTo>
                <a:lnTo>
                  <a:pt x="18455" y="4624"/>
                </a:lnTo>
                <a:lnTo>
                  <a:pt x="18371" y="4582"/>
                </a:lnTo>
                <a:lnTo>
                  <a:pt x="18371" y="4582"/>
                </a:lnTo>
                <a:lnTo>
                  <a:pt x="18392" y="4645"/>
                </a:lnTo>
                <a:lnTo>
                  <a:pt x="18371" y="4666"/>
                </a:lnTo>
                <a:lnTo>
                  <a:pt x="18183" y="4582"/>
                </a:lnTo>
                <a:lnTo>
                  <a:pt x="18141" y="4582"/>
                </a:lnTo>
                <a:lnTo>
                  <a:pt x="17995" y="4561"/>
                </a:lnTo>
                <a:lnTo>
                  <a:pt x="17702" y="4394"/>
                </a:lnTo>
                <a:lnTo>
                  <a:pt x="17555" y="4394"/>
                </a:lnTo>
                <a:lnTo>
                  <a:pt x="17555" y="4436"/>
                </a:lnTo>
                <a:lnTo>
                  <a:pt x="17597" y="4478"/>
                </a:lnTo>
                <a:lnTo>
                  <a:pt x="17555" y="4520"/>
                </a:lnTo>
                <a:lnTo>
                  <a:pt x="17472" y="4478"/>
                </a:lnTo>
                <a:lnTo>
                  <a:pt x="17451" y="4520"/>
                </a:lnTo>
                <a:lnTo>
                  <a:pt x="17430" y="4561"/>
                </a:lnTo>
                <a:lnTo>
                  <a:pt x="17325" y="4603"/>
                </a:lnTo>
                <a:lnTo>
                  <a:pt x="17262" y="4666"/>
                </a:lnTo>
                <a:lnTo>
                  <a:pt x="17241" y="4792"/>
                </a:lnTo>
                <a:lnTo>
                  <a:pt x="17200" y="4687"/>
                </a:lnTo>
                <a:lnTo>
                  <a:pt x="17158" y="4603"/>
                </a:lnTo>
                <a:lnTo>
                  <a:pt x="17116" y="4645"/>
                </a:lnTo>
                <a:lnTo>
                  <a:pt x="17116" y="4750"/>
                </a:lnTo>
                <a:lnTo>
                  <a:pt x="17011" y="4917"/>
                </a:lnTo>
                <a:lnTo>
                  <a:pt x="17011" y="5085"/>
                </a:lnTo>
                <a:lnTo>
                  <a:pt x="16990" y="4917"/>
                </a:lnTo>
                <a:lnTo>
                  <a:pt x="17011" y="4771"/>
                </a:lnTo>
                <a:lnTo>
                  <a:pt x="16990" y="4645"/>
                </a:lnTo>
                <a:lnTo>
                  <a:pt x="17032" y="4457"/>
                </a:lnTo>
                <a:lnTo>
                  <a:pt x="17095" y="4394"/>
                </a:lnTo>
                <a:lnTo>
                  <a:pt x="17032" y="4373"/>
                </a:lnTo>
                <a:lnTo>
                  <a:pt x="16928" y="4373"/>
                </a:lnTo>
                <a:lnTo>
                  <a:pt x="17053" y="4248"/>
                </a:lnTo>
                <a:lnTo>
                  <a:pt x="16907" y="4059"/>
                </a:lnTo>
                <a:lnTo>
                  <a:pt x="16823" y="3913"/>
                </a:lnTo>
                <a:lnTo>
                  <a:pt x="16739" y="3913"/>
                </a:lnTo>
                <a:lnTo>
                  <a:pt x="16614" y="3871"/>
                </a:lnTo>
                <a:lnTo>
                  <a:pt x="16530" y="3976"/>
                </a:lnTo>
                <a:lnTo>
                  <a:pt x="16467" y="4017"/>
                </a:lnTo>
                <a:lnTo>
                  <a:pt x="16425" y="3934"/>
                </a:lnTo>
                <a:lnTo>
                  <a:pt x="16384" y="3913"/>
                </a:lnTo>
                <a:lnTo>
                  <a:pt x="16363" y="3829"/>
                </a:lnTo>
                <a:lnTo>
                  <a:pt x="16279" y="3766"/>
                </a:lnTo>
                <a:lnTo>
                  <a:pt x="16195" y="3766"/>
                </a:lnTo>
                <a:lnTo>
                  <a:pt x="16153" y="3724"/>
                </a:lnTo>
                <a:lnTo>
                  <a:pt x="16070" y="3704"/>
                </a:lnTo>
                <a:lnTo>
                  <a:pt x="16007" y="3745"/>
                </a:lnTo>
                <a:lnTo>
                  <a:pt x="16007" y="3704"/>
                </a:lnTo>
                <a:lnTo>
                  <a:pt x="15965" y="3662"/>
                </a:lnTo>
                <a:lnTo>
                  <a:pt x="15902" y="3599"/>
                </a:lnTo>
                <a:lnTo>
                  <a:pt x="15840" y="3620"/>
                </a:lnTo>
                <a:lnTo>
                  <a:pt x="15693" y="3599"/>
                </a:lnTo>
                <a:lnTo>
                  <a:pt x="15526" y="3494"/>
                </a:lnTo>
                <a:lnTo>
                  <a:pt x="15463" y="3494"/>
                </a:lnTo>
                <a:lnTo>
                  <a:pt x="15442" y="3536"/>
                </a:lnTo>
                <a:lnTo>
                  <a:pt x="15337" y="3452"/>
                </a:lnTo>
                <a:lnTo>
                  <a:pt x="15254" y="3452"/>
                </a:lnTo>
                <a:lnTo>
                  <a:pt x="15233" y="3536"/>
                </a:lnTo>
                <a:lnTo>
                  <a:pt x="15170" y="3536"/>
                </a:lnTo>
                <a:lnTo>
                  <a:pt x="15149" y="3452"/>
                </a:lnTo>
                <a:lnTo>
                  <a:pt x="15024" y="3452"/>
                </a:lnTo>
                <a:lnTo>
                  <a:pt x="14919" y="3515"/>
                </a:lnTo>
                <a:lnTo>
                  <a:pt x="14856" y="3620"/>
                </a:lnTo>
                <a:lnTo>
                  <a:pt x="14856" y="3704"/>
                </a:lnTo>
                <a:lnTo>
                  <a:pt x="14731" y="3829"/>
                </a:lnTo>
                <a:lnTo>
                  <a:pt x="14584" y="3934"/>
                </a:lnTo>
                <a:lnTo>
                  <a:pt x="14375" y="4059"/>
                </a:lnTo>
                <a:lnTo>
                  <a:pt x="14270" y="4185"/>
                </a:lnTo>
                <a:lnTo>
                  <a:pt x="14208" y="4352"/>
                </a:lnTo>
                <a:lnTo>
                  <a:pt x="14187" y="4499"/>
                </a:lnTo>
                <a:lnTo>
                  <a:pt x="14124" y="4582"/>
                </a:lnTo>
                <a:lnTo>
                  <a:pt x="14019" y="4687"/>
                </a:lnTo>
                <a:lnTo>
                  <a:pt x="14019" y="4771"/>
                </a:lnTo>
                <a:lnTo>
                  <a:pt x="14061" y="4896"/>
                </a:lnTo>
                <a:lnTo>
                  <a:pt x="14019" y="5105"/>
                </a:lnTo>
                <a:lnTo>
                  <a:pt x="13998" y="4980"/>
                </a:lnTo>
                <a:lnTo>
                  <a:pt x="13915" y="4854"/>
                </a:lnTo>
                <a:lnTo>
                  <a:pt x="13915" y="4750"/>
                </a:lnTo>
                <a:lnTo>
                  <a:pt x="13998" y="4645"/>
                </a:lnTo>
                <a:lnTo>
                  <a:pt x="14103" y="4561"/>
                </a:lnTo>
                <a:lnTo>
                  <a:pt x="14082" y="4394"/>
                </a:lnTo>
                <a:lnTo>
                  <a:pt x="14124" y="4269"/>
                </a:lnTo>
                <a:lnTo>
                  <a:pt x="14124" y="4185"/>
                </a:lnTo>
                <a:lnTo>
                  <a:pt x="14061" y="4185"/>
                </a:lnTo>
                <a:lnTo>
                  <a:pt x="13915" y="4248"/>
                </a:lnTo>
                <a:lnTo>
                  <a:pt x="13768" y="4185"/>
                </a:lnTo>
                <a:lnTo>
                  <a:pt x="13643" y="4185"/>
                </a:lnTo>
                <a:lnTo>
                  <a:pt x="13538" y="4227"/>
                </a:lnTo>
                <a:lnTo>
                  <a:pt x="13454" y="4164"/>
                </a:lnTo>
                <a:lnTo>
                  <a:pt x="13538" y="4164"/>
                </a:lnTo>
                <a:lnTo>
                  <a:pt x="13643" y="4080"/>
                </a:lnTo>
                <a:lnTo>
                  <a:pt x="13747" y="4059"/>
                </a:lnTo>
                <a:lnTo>
                  <a:pt x="13915" y="4080"/>
                </a:lnTo>
                <a:lnTo>
                  <a:pt x="14019" y="4059"/>
                </a:lnTo>
                <a:lnTo>
                  <a:pt x="14103" y="3955"/>
                </a:lnTo>
                <a:lnTo>
                  <a:pt x="14166" y="3955"/>
                </a:lnTo>
                <a:lnTo>
                  <a:pt x="14208" y="4017"/>
                </a:lnTo>
                <a:lnTo>
                  <a:pt x="14270" y="3976"/>
                </a:lnTo>
                <a:lnTo>
                  <a:pt x="14375" y="3934"/>
                </a:lnTo>
                <a:lnTo>
                  <a:pt x="14521" y="3871"/>
                </a:lnTo>
                <a:lnTo>
                  <a:pt x="14521" y="3745"/>
                </a:lnTo>
                <a:lnTo>
                  <a:pt x="14689" y="3557"/>
                </a:lnTo>
                <a:lnTo>
                  <a:pt x="14689" y="3432"/>
                </a:lnTo>
                <a:lnTo>
                  <a:pt x="14731" y="3348"/>
                </a:lnTo>
                <a:lnTo>
                  <a:pt x="14731" y="3243"/>
                </a:lnTo>
                <a:lnTo>
                  <a:pt x="14584" y="3222"/>
                </a:lnTo>
                <a:lnTo>
                  <a:pt x="14438" y="3118"/>
                </a:lnTo>
                <a:lnTo>
                  <a:pt x="14333" y="3118"/>
                </a:lnTo>
                <a:lnTo>
                  <a:pt x="14187" y="3222"/>
                </a:lnTo>
                <a:lnTo>
                  <a:pt x="14061" y="3222"/>
                </a:lnTo>
                <a:lnTo>
                  <a:pt x="13852" y="3139"/>
                </a:lnTo>
                <a:lnTo>
                  <a:pt x="13643" y="3118"/>
                </a:lnTo>
                <a:lnTo>
                  <a:pt x="13475" y="3285"/>
                </a:lnTo>
                <a:lnTo>
                  <a:pt x="13475" y="3348"/>
                </a:lnTo>
                <a:lnTo>
                  <a:pt x="13538" y="3390"/>
                </a:lnTo>
                <a:lnTo>
                  <a:pt x="13559" y="3432"/>
                </a:lnTo>
                <a:lnTo>
                  <a:pt x="13475" y="3432"/>
                </a:lnTo>
                <a:lnTo>
                  <a:pt x="13433" y="3452"/>
                </a:lnTo>
                <a:lnTo>
                  <a:pt x="13371" y="3557"/>
                </a:lnTo>
                <a:lnTo>
                  <a:pt x="13350" y="3494"/>
                </a:lnTo>
                <a:lnTo>
                  <a:pt x="13287" y="3452"/>
                </a:lnTo>
                <a:lnTo>
                  <a:pt x="13161" y="3515"/>
                </a:lnTo>
                <a:lnTo>
                  <a:pt x="13036" y="3704"/>
                </a:lnTo>
                <a:lnTo>
                  <a:pt x="12848" y="3913"/>
                </a:lnTo>
                <a:lnTo>
                  <a:pt x="12973" y="3724"/>
                </a:lnTo>
                <a:lnTo>
                  <a:pt x="12973" y="3599"/>
                </a:lnTo>
                <a:lnTo>
                  <a:pt x="13015" y="3515"/>
                </a:lnTo>
                <a:lnTo>
                  <a:pt x="13015" y="3432"/>
                </a:lnTo>
                <a:lnTo>
                  <a:pt x="12952" y="3432"/>
                </a:lnTo>
                <a:lnTo>
                  <a:pt x="12848" y="3536"/>
                </a:lnTo>
                <a:lnTo>
                  <a:pt x="12806" y="3662"/>
                </a:lnTo>
                <a:lnTo>
                  <a:pt x="12743" y="3829"/>
                </a:lnTo>
                <a:lnTo>
                  <a:pt x="12638" y="3871"/>
                </a:lnTo>
                <a:lnTo>
                  <a:pt x="12722" y="3704"/>
                </a:lnTo>
                <a:lnTo>
                  <a:pt x="12743" y="3557"/>
                </a:lnTo>
                <a:lnTo>
                  <a:pt x="12952" y="3306"/>
                </a:lnTo>
                <a:lnTo>
                  <a:pt x="13015" y="3118"/>
                </a:lnTo>
                <a:lnTo>
                  <a:pt x="13078" y="3013"/>
                </a:lnTo>
                <a:lnTo>
                  <a:pt x="13182" y="2971"/>
                </a:lnTo>
                <a:lnTo>
                  <a:pt x="13329" y="2888"/>
                </a:lnTo>
                <a:lnTo>
                  <a:pt x="13392" y="2867"/>
                </a:lnTo>
                <a:lnTo>
                  <a:pt x="13496" y="2699"/>
                </a:lnTo>
                <a:lnTo>
                  <a:pt x="13768" y="2448"/>
                </a:lnTo>
                <a:lnTo>
                  <a:pt x="13789" y="2364"/>
                </a:lnTo>
                <a:lnTo>
                  <a:pt x="13852" y="2302"/>
                </a:lnTo>
                <a:lnTo>
                  <a:pt x="13789" y="2239"/>
                </a:lnTo>
                <a:lnTo>
                  <a:pt x="13810" y="2155"/>
                </a:lnTo>
                <a:lnTo>
                  <a:pt x="13852" y="2134"/>
                </a:lnTo>
                <a:lnTo>
                  <a:pt x="13852" y="2030"/>
                </a:lnTo>
                <a:lnTo>
                  <a:pt x="13747" y="1946"/>
                </a:lnTo>
                <a:lnTo>
                  <a:pt x="13601" y="1946"/>
                </a:lnTo>
                <a:lnTo>
                  <a:pt x="13580" y="1988"/>
                </a:lnTo>
                <a:lnTo>
                  <a:pt x="13538" y="1883"/>
                </a:lnTo>
                <a:lnTo>
                  <a:pt x="13454" y="1674"/>
                </a:lnTo>
                <a:lnTo>
                  <a:pt x="13329" y="1360"/>
                </a:lnTo>
                <a:lnTo>
                  <a:pt x="13224" y="1214"/>
                </a:lnTo>
                <a:lnTo>
                  <a:pt x="13140" y="1004"/>
                </a:lnTo>
                <a:lnTo>
                  <a:pt x="13140" y="879"/>
                </a:lnTo>
                <a:lnTo>
                  <a:pt x="13120" y="732"/>
                </a:lnTo>
                <a:lnTo>
                  <a:pt x="13057" y="691"/>
                </a:lnTo>
                <a:lnTo>
                  <a:pt x="13036" y="586"/>
                </a:lnTo>
                <a:lnTo>
                  <a:pt x="12952" y="460"/>
                </a:lnTo>
                <a:lnTo>
                  <a:pt x="12931" y="481"/>
                </a:lnTo>
                <a:lnTo>
                  <a:pt x="12931" y="565"/>
                </a:lnTo>
                <a:lnTo>
                  <a:pt x="12868" y="628"/>
                </a:lnTo>
                <a:lnTo>
                  <a:pt x="12743" y="711"/>
                </a:lnTo>
                <a:lnTo>
                  <a:pt x="12701" y="795"/>
                </a:lnTo>
                <a:lnTo>
                  <a:pt x="12555" y="984"/>
                </a:lnTo>
                <a:lnTo>
                  <a:pt x="12408" y="1151"/>
                </a:lnTo>
                <a:lnTo>
                  <a:pt x="12408" y="1256"/>
                </a:lnTo>
                <a:lnTo>
                  <a:pt x="12303" y="1507"/>
                </a:lnTo>
                <a:lnTo>
                  <a:pt x="12199" y="1653"/>
                </a:lnTo>
                <a:lnTo>
                  <a:pt x="12115" y="1779"/>
                </a:lnTo>
                <a:lnTo>
                  <a:pt x="12011" y="1820"/>
                </a:lnTo>
                <a:lnTo>
                  <a:pt x="11969" y="1862"/>
                </a:lnTo>
                <a:lnTo>
                  <a:pt x="11927" y="1967"/>
                </a:lnTo>
                <a:lnTo>
                  <a:pt x="11822" y="2051"/>
                </a:lnTo>
                <a:lnTo>
                  <a:pt x="11759" y="2030"/>
                </a:lnTo>
                <a:lnTo>
                  <a:pt x="11759" y="1862"/>
                </a:lnTo>
                <a:lnTo>
                  <a:pt x="11697" y="1841"/>
                </a:lnTo>
                <a:lnTo>
                  <a:pt x="11676" y="1779"/>
                </a:lnTo>
                <a:lnTo>
                  <a:pt x="11613" y="1779"/>
                </a:lnTo>
                <a:lnTo>
                  <a:pt x="11550" y="1820"/>
                </a:lnTo>
                <a:lnTo>
                  <a:pt x="11487" y="1883"/>
                </a:lnTo>
                <a:lnTo>
                  <a:pt x="11383" y="1862"/>
                </a:lnTo>
                <a:lnTo>
                  <a:pt x="11299" y="1779"/>
                </a:lnTo>
                <a:lnTo>
                  <a:pt x="11299" y="1737"/>
                </a:lnTo>
                <a:lnTo>
                  <a:pt x="11278" y="1716"/>
                </a:lnTo>
                <a:lnTo>
                  <a:pt x="11257" y="1611"/>
                </a:lnTo>
                <a:lnTo>
                  <a:pt x="11236" y="1548"/>
                </a:lnTo>
                <a:lnTo>
                  <a:pt x="11153" y="1528"/>
                </a:lnTo>
                <a:lnTo>
                  <a:pt x="11048" y="1423"/>
                </a:lnTo>
                <a:lnTo>
                  <a:pt x="10881" y="1423"/>
                </a:lnTo>
                <a:lnTo>
                  <a:pt x="10776" y="1465"/>
                </a:lnTo>
                <a:lnTo>
                  <a:pt x="10546" y="1465"/>
                </a:lnTo>
                <a:lnTo>
                  <a:pt x="10420" y="1444"/>
                </a:lnTo>
                <a:lnTo>
                  <a:pt x="10316" y="1528"/>
                </a:lnTo>
                <a:lnTo>
                  <a:pt x="10295" y="1632"/>
                </a:lnTo>
                <a:lnTo>
                  <a:pt x="10399" y="1737"/>
                </a:lnTo>
                <a:lnTo>
                  <a:pt x="10420" y="1820"/>
                </a:lnTo>
                <a:lnTo>
                  <a:pt x="10462" y="1946"/>
                </a:lnTo>
                <a:lnTo>
                  <a:pt x="10441" y="1988"/>
                </a:lnTo>
                <a:lnTo>
                  <a:pt x="10337" y="1988"/>
                </a:lnTo>
                <a:lnTo>
                  <a:pt x="10190" y="1946"/>
                </a:lnTo>
                <a:lnTo>
                  <a:pt x="10148" y="1925"/>
                </a:lnTo>
                <a:lnTo>
                  <a:pt x="9918" y="1925"/>
                </a:lnTo>
                <a:lnTo>
                  <a:pt x="9814" y="1946"/>
                </a:lnTo>
                <a:lnTo>
                  <a:pt x="9772" y="1883"/>
                </a:lnTo>
                <a:lnTo>
                  <a:pt x="9604" y="1883"/>
                </a:lnTo>
                <a:lnTo>
                  <a:pt x="9479" y="1946"/>
                </a:lnTo>
                <a:lnTo>
                  <a:pt x="9395" y="2134"/>
                </a:lnTo>
                <a:lnTo>
                  <a:pt x="9165" y="2134"/>
                </a:lnTo>
                <a:lnTo>
                  <a:pt x="9039" y="2155"/>
                </a:lnTo>
                <a:lnTo>
                  <a:pt x="8998" y="2197"/>
                </a:lnTo>
                <a:lnTo>
                  <a:pt x="8935" y="2302"/>
                </a:lnTo>
                <a:lnTo>
                  <a:pt x="8788" y="2302"/>
                </a:lnTo>
                <a:lnTo>
                  <a:pt x="8767" y="2281"/>
                </a:lnTo>
                <a:lnTo>
                  <a:pt x="8684" y="2302"/>
                </a:lnTo>
                <a:lnTo>
                  <a:pt x="8621" y="2385"/>
                </a:lnTo>
                <a:lnTo>
                  <a:pt x="8537" y="2364"/>
                </a:lnTo>
                <a:lnTo>
                  <a:pt x="8307" y="2176"/>
                </a:lnTo>
                <a:lnTo>
                  <a:pt x="8223" y="2072"/>
                </a:lnTo>
                <a:lnTo>
                  <a:pt x="8223" y="1988"/>
                </a:lnTo>
                <a:lnTo>
                  <a:pt x="8098" y="1862"/>
                </a:lnTo>
                <a:lnTo>
                  <a:pt x="7993" y="1758"/>
                </a:lnTo>
                <a:lnTo>
                  <a:pt x="7993" y="1653"/>
                </a:lnTo>
                <a:lnTo>
                  <a:pt x="8014" y="1569"/>
                </a:lnTo>
                <a:lnTo>
                  <a:pt x="7993" y="1528"/>
                </a:lnTo>
                <a:lnTo>
                  <a:pt x="8014" y="1423"/>
                </a:lnTo>
                <a:lnTo>
                  <a:pt x="8056" y="1339"/>
                </a:lnTo>
                <a:lnTo>
                  <a:pt x="8056" y="1214"/>
                </a:lnTo>
                <a:lnTo>
                  <a:pt x="8161" y="1025"/>
                </a:lnTo>
                <a:lnTo>
                  <a:pt x="8202" y="879"/>
                </a:lnTo>
                <a:lnTo>
                  <a:pt x="8307" y="732"/>
                </a:lnTo>
                <a:lnTo>
                  <a:pt x="8307" y="691"/>
                </a:lnTo>
                <a:lnTo>
                  <a:pt x="8202" y="691"/>
                </a:lnTo>
                <a:lnTo>
                  <a:pt x="8140" y="607"/>
                </a:lnTo>
                <a:lnTo>
                  <a:pt x="8119" y="523"/>
                </a:lnTo>
                <a:lnTo>
                  <a:pt x="7993" y="523"/>
                </a:lnTo>
                <a:lnTo>
                  <a:pt x="7889" y="481"/>
                </a:lnTo>
                <a:lnTo>
                  <a:pt x="7930" y="398"/>
                </a:lnTo>
                <a:lnTo>
                  <a:pt x="8014" y="293"/>
                </a:lnTo>
                <a:lnTo>
                  <a:pt x="8014" y="147"/>
                </a:lnTo>
                <a:lnTo>
                  <a:pt x="7910" y="0"/>
                </a:lnTo>
                <a:lnTo>
                  <a:pt x="7784" y="0"/>
                </a:lnTo>
                <a:lnTo>
                  <a:pt x="7721" y="63"/>
                </a:lnTo>
                <a:lnTo>
                  <a:pt x="7679" y="0"/>
                </a:lnTo>
                <a:close/>
              </a:path>
            </a:pathLst>
          </a:custGeom>
          <a:solidFill>
            <a:srgbClr val="28396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6B65"/>
              </a:solidFill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D19EF6FA-7CC7-8B58-1704-152F4187A1B6}"/>
              </a:ext>
            </a:extLst>
          </p:cNvPr>
          <p:cNvSpPr txBox="1"/>
          <p:nvPr/>
        </p:nvSpPr>
        <p:spPr>
          <a:xfrm>
            <a:off x="1945630" y="1524827"/>
            <a:ext cx="3141197" cy="1031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O Brasil é uma das economias com maior representatividade de crédito, todavia, ele conta com uma das maiores inadimpl</a:t>
            </a:r>
            <a:r>
              <a:rPr lang="pt-BR" sz="1050" b="1" dirty="0">
                <a:latin typeface="Arial" panose="020B0604020202020204" pitchFamily="34" charset="0"/>
                <a:cs typeface="Arial" panose="020B0604020202020204" pitchFamily="34" charset="0"/>
              </a:rPr>
              <a:t>ências mundiais</a:t>
            </a:r>
            <a:r>
              <a:rPr lang="pt-BR" sz="105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29" name="Rectangle 2">
            <a:extLst>
              <a:ext uri="{FF2B5EF4-FFF2-40B4-BE49-F238E27FC236}">
                <a16:creationId xmlns:a16="http://schemas.microsoft.com/office/drawing/2014/main" id="{3E711E9F-9E76-7773-782C-3A1A51744B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9418" y="933359"/>
            <a:ext cx="6316822" cy="5078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45720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1 – Evolução da Inadimplência em 2022 e 2023</a:t>
            </a:r>
            <a:endParaRPr kumimoji="0" lang="pt-BR" altLang="pt-BR" sz="9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3" name="Imagem 1">
            <a:extLst>
              <a:ext uri="{FF2B5EF4-FFF2-40B4-BE49-F238E27FC236}">
                <a16:creationId xmlns:a16="http://schemas.microsoft.com/office/drawing/2014/main" id="{12BE790B-9EEF-D103-4CC8-69D31372F1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9417" y="1174816"/>
            <a:ext cx="6316823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Retângulo 38">
            <a:extLst>
              <a:ext uri="{FF2B5EF4-FFF2-40B4-BE49-F238E27FC236}">
                <a16:creationId xmlns:a16="http://schemas.microsoft.com/office/drawing/2014/main" id="{18CD183C-F33C-959B-7DBB-6939911FBC23}"/>
              </a:ext>
            </a:extLst>
          </p:cNvPr>
          <p:cNvSpPr/>
          <p:nvPr/>
        </p:nvSpPr>
        <p:spPr>
          <a:xfrm>
            <a:off x="295265" y="673228"/>
            <a:ext cx="2271765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Cenário Brasileiro</a:t>
            </a:r>
          </a:p>
        </p:txBody>
      </p:sp>
      <p:sp>
        <p:nvSpPr>
          <p:cNvPr id="40" name="Fluxograma: Conector 39">
            <a:extLst>
              <a:ext uri="{FF2B5EF4-FFF2-40B4-BE49-F238E27FC236}">
                <a16:creationId xmlns:a16="http://schemas.microsoft.com/office/drawing/2014/main" id="{38746C3D-5C11-9444-1383-9AF46F5141C5}"/>
              </a:ext>
            </a:extLst>
          </p:cNvPr>
          <p:cNvSpPr/>
          <p:nvPr/>
        </p:nvSpPr>
        <p:spPr>
          <a:xfrm>
            <a:off x="316544" y="708827"/>
            <a:ext cx="527838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61732C2E-D5C9-9917-49C1-CBB2ADC97CE7}"/>
              </a:ext>
            </a:extLst>
          </p:cNvPr>
          <p:cNvSpPr/>
          <p:nvPr/>
        </p:nvSpPr>
        <p:spPr>
          <a:xfrm>
            <a:off x="4218201" y="6424174"/>
            <a:ext cx="7803776" cy="210403"/>
          </a:xfrm>
          <a:prstGeom prst="rect">
            <a:avLst/>
          </a:prstGeom>
          <a:noFill/>
          <a:ln w="19050">
            <a:solidFill>
              <a:srgbClr val="2839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680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281BF-A734-2122-E4CA-BBEE66250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3C3D6C8B-1542-C9EB-C54A-6A88E30CFF71}"/>
              </a:ext>
            </a:extLst>
          </p:cNvPr>
          <p:cNvSpPr/>
          <p:nvPr/>
        </p:nvSpPr>
        <p:spPr>
          <a:xfrm>
            <a:off x="100683" y="801726"/>
            <a:ext cx="11990633" cy="58864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9F0DC2F7-E685-A949-7860-1910FBBA3E49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Análise de Variáveis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87AB4209-FE3B-3C5A-5A28-2EE5621534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0267" y="609468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6BC28AA0-2404-490C-B0AC-40093D9B8694}"/>
              </a:ext>
            </a:extLst>
          </p:cNvPr>
          <p:cNvSpPr/>
          <p:nvPr/>
        </p:nvSpPr>
        <p:spPr>
          <a:xfrm>
            <a:off x="295265" y="673228"/>
            <a:ext cx="2578564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Análise de Variáveis</a:t>
            </a:r>
          </a:p>
        </p:txBody>
      </p:sp>
      <p:sp>
        <p:nvSpPr>
          <p:cNvPr id="3" name="Fluxograma: Conector 2">
            <a:extLst>
              <a:ext uri="{FF2B5EF4-FFF2-40B4-BE49-F238E27FC236}">
                <a16:creationId xmlns:a16="http://schemas.microsoft.com/office/drawing/2014/main" id="{E462D0CA-B524-A058-7883-8B0AD557F7CD}"/>
              </a:ext>
            </a:extLst>
          </p:cNvPr>
          <p:cNvSpPr/>
          <p:nvPr/>
        </p:nvSpPr>
        <p:spPr>
          <a:xfrm>
            <a:off x="316543" y="696776"/>
            <a:ext cx="563723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b="1" dirty="0">
              <a:solidFill>
                <a:srgbClr val="28396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534EC36-1B84-418C-FA8E-5A896CCF9999}"/>
              </a:ext>
            </a:extLst>
          </p:cNvPr>
          <p:cNvSpPr txBox="1"/>
          <p:nvPr/>
        </p:nvSpPr>
        <p:spPr>
          <a:xfrm>
            <a:off x="295265" y="1273975"/>
            <a:ext cx="11705146" cy="547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latin typeface="Arial" panose="020B0604020202020204" pitchFamily="34" charset="0"/>
                <a:cs typeface="Arial" panose="020B0604020202020204" pitchFamily="34" charset="0"/>
              </a:rPr>
              <a:t>Definir o perfil de risco de um cliente costuma ser bastante desafiador, portanto, o ponto de partida para entender o risco de crédito das operações consiste na seleção criteriosa das melhores variáveis. </a:t>
            </a: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CED61C08-AA5B-BB32-C6E0-0FA97D77F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651" y="4373268"/>
            <a:ext cx="5577119" cy="2051019"/>
          </a:xfrm>
          <a:prstGeom prst="rect">
            <a:avLst/>
          </a:prstGeom>
        </p:spPr>
      </p:pic>
      <p:sp>
        <p:nvSpPr>
          <p:cNvPr id="19" name="Rectangle 2">
            <a:extLst>
              <a:ext uri="{FF2B5EF4-FFF2-40B4-BE49-F238E27FC236}">
                <a16:creationId xmlns:a16="http://schemas.microsoft.com/office/drawing/2014/main" id="{B3583364-1B08-B6F1-E5C1-131095884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1550" y="4087353"/>
            <a:ext cx="4297524" cy="65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indent="457200">
              <a:lnSpc>
                <a:spcPct val="150000"/>
              </a:lnSpc>
              <a:spcAft>
                <a:spcPts val="600"/>
              </a:spcAft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4 –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Weight</a:t>
            </a:r>
            <a:r>
              <a:rPr lang="pt-BR" sz="90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of</a:t>
            </a:r>
            <a:r>
              <a:rPr lang="pt-BR" sz="90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Evidence</a:t>
            </a:r>
            <a:r>
              <a:rPr lang="pt-BR" sz="90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da Variável Grau do Empréstimo</a:t>
            </a: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EF86FD05-4935-2003-2C1F-EF804F63E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062" y="4373268"/>
            <a:ext cx="5522349" cy="2051020"/>
          </a:xfrm>
          <a:prstGeom prst="rect">
            <a:avLst/>
          </a:prstGeom>
        </p:spPr>
      </p:pic>
      <p:sp>
        <p:nvSpPr>
          <p:cNvPr id="33" name="Rectangle 2">
            <a:extLst>
              <a:ext uri="{FF2B5EF4-FFF2-40B4-BE49-F238E27FC236}">
                <a16:creationId xmlns:a16="http://schemas.microsoft.com/office/drawing/2014/main" id="{A9CC19CC-88AF-CAA2-8842-7C43A1D590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6467" y="4070836"/>
            <a:ext cx="5386286" cy="65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indent="457200">
              <a:lnSpc>
                <a:spcPct val="150000"/>
              </a:lnSpc>
              <a:spcAft>
                <a:spcPts val="600"/>
              </a:spcAft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5 – </a:t>
            </a:r>
            <a:r>
              <a:rPr lang="pt-BR" sz="90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Distribuição de Decis da Variável Faturamento Anual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vs</a:t>
            </a:r>
            <a:r>
              <a:rPr lang="pt-BR" sz="90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Maus Pagadores</a:t>
            </a: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DF414DCE-3DA7-C58D-90C0-614F85657245}"/>
              </a:ext>
            </a:extLst>
          </p:cNvPr>
          <p:cNvSpPr/>
          <p:nvPr/>
        </p:nvSpPr>
        <p:spPr>
          <a:xfrm>
            <a:off x="426720" y="1942011"/>
            <a:ext cx="5303520" cy="210165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WOE quantifica a força da associação com a classe positiva</a:t>
            </a:r>
          </a:p>
          <a:p>
            <a:pPr algn="just"/>
            <a:endParaRPr lang="pt-BR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Valores negativos significam que a classe analisada não demonstra associação, ao passo que valores positivas provam a relação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Este método é focado em variáveis categóricas</a:t>
            </a:r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3194951B-BADC-D91B-44B2-B6ED1FEFEF3F}"/>
              </a:ext>
            </a:extLst>
          </p:cNvPr>
          <p:cNvSpPr/>
          <p:nvPr/>
        </p:nvSpPr>
        <p:spPr>
          <a:xfrm>
            <a:off x="6587476" y="1939235"/>
            <a:ext cx="5303520" cy="210165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casos de variáveis contínuas, pode-se utilizar um método de </a:t>
            </a:r>
            <a:r>
              <a:rPr lang="pt-BR" sz="1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discretização</a:t>
            </a:r>
            <a:endParaRPr lang="pt-BR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Assimilando informações conceituais, observa-se que os decis ordenam bem a quantidade de inadimplentes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648C2C3-DFB8-C3A7-C5EC-F923CADF3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901948" y="508606"/>
            <a:ext cx="221609" cy="365125"/>
          </a:xfrm>
        </p:spPr>
        <p:txBody>
          <a:bodyPr/>
          <a:lstStyle/>
          <a:p>
            <a:fld id="{4A2E7D2D-E592-41F1-8B20-DBD4249F3386}" type="slidenum">
              <a:rPr lang="pt-BR" b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4</a:t>
            </a:fld>
            <a:endParaRPr lang="pt-BR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2856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1F58B-B58B-647E-6BA7-4560D6D3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E1463F1-4DD4-D715-00D8-0A522E5614C5}"/>
              </a:ext>
            </a:extLst>
          </p:cNvPr>
          <p:cNvSpPr/>
          <p:nvPr/>
        </p:nvSpPr>
        <p:spPr>
          <a:xfrm>
            <a:off x="100684" y="801727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A259909-4EAF-2AE9-4369-CFCBEB0ED5D0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POLÍTICA DE CRÉDITO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5F8CF414-EAE4-CAC3-C0AA-E5E97D77B18A}"/>
              </a:ext>
            </a:extLst>
          </p:cNvPr>
          <p:cNvSpPr/>
          <p:nvPr/>
        </p:nvSpPr>
        <p:spPr>
          <a:xfrm>
            <a:off x="295265" y="673228"/>
            <a:ext cx="2578564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Política de Crédito </a:t>
            </a:r>
          </a:p>
        </p:txBody>
      </p:sp>
      <p:sp>
        <p:nvSpPr>
          <p:cNvPr id="3" name="Fluxograma: Conector 2">
            <a:extLst>
              <a:ext uri="{FF2B5EF4-FFF2-40B4-BE49-F238E27FC236}">
                <a16:creationId xmlns:a16="http://schemas.microsoft.com/office/drawing/2014/main" id="{A4F1DE7D-BD2A-628C-0C9F-5D16AF487C4D}"/>
              </a:ext>
            </a:extLst>
          </p:cNvPr>
          <p:cNvSpPr/>
          <p:nvPr/>
        </p:nvSpPr>
        <p:spPr>
          <a:xfrm>
            <a:off x="316543" y="696776"/>
            <a:ext cx="563723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endParaRPr lang="pt-BR" b="1" dirty="0">
              <a:solidFill>
                <a:srgbClr val="28396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B78896B-9AE3-79C2-DA79-11EB8450570E}"/>
              </a:ext>
            </a:extLst>
          </p:cNvPr>
          <p:cNvSpPr txBox="1"/>
          <p:nvPr/>
        </p:nvSpPr>
        <p:spPr>
          <a:xfrm>
            <a:off x="295265" y="1273975"/>
            <a:ext cx="5638810" cy="1031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latin typeface="Arial" panose="020B0604020202020204" pitchFamily="34" charset="0"/>
                <a:cs typeface="Arial" panose="020B0604020202020204" pitchFamily="34" charset="0"/>
              </a:rPr>
              <a:t>A política de crédito é um documento que indica regras e critérios responsáveis por direcionar a empresa durante a tomada de decisão em uma concessão. Pelo fato de tratar-se de uma abordagem menos sofisticada, a criação de uma política demanda uma seleção de variáveis mais criteriosa.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7BBE15D-BF0C-28E0-A39D-08E45F717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543" y="4008120"/>
            <a:ext cx="5318760" cy="2575560"/>
          </a:xfrm>
          <a:prstGeom prst="rect">
            <a:avLst/>
          </a:prstGeom>
        </p:spPr>
      </p:pic>
      <p:sp>
        <p:nvSpPr>
          <p:cNvPr id="11" name="Rectangle 2">
            <a:extLst>
              <a:ext uri="{FF2B5EF4-FFF2-40B4-BE49-F238E27FC236}">
                <a16:creationId xmlns:a16="http://schemas.microsoft.com/office/drawing/2014/main" id="{AA216A67-6555-9458-0652-3AD2DCEA67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553" y="3681107"/>
            <a:ext cx="4468739" cy="65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indent="457200">
              <a:lnSpc>
                <a:spcPct val="150000"/>
              </a:lnSpc>
              <a:spcAft>
                <a:spcPts val="600"/>
              </a:spcAft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6 –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Information</a:t>
            </a:r>
            <a:r>
              <a:rPr lang="pt-BR" sz="90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Value</a:t>
            </a:r>
            <a:r>
              <a:rPr lang="pt-BR" sz="90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(IV) das variáveis da Política de Crédito</a:t>
            </a: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842E541-590F-C294-8203-EFB03683DC5B}"/>
              </a:ext>
            </a:extLst>
          </p:cNvPr>
          <p:cNvSpPr/>
          <p:nvPr/>
        </p:nvSpPr>
        <p:spPr>
          <a:xfrm>
            <a:off x="200025" y="2596746"/>
            <a:ext cx="5734049" cy="1031885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IV é criado a partir da junção dos </a:t>
            </a:r>
            <a:r>
              <a:rPr lang="pt-BR" sz="1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WOE’s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das variáveis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suma, essa métrica traduz o quão bem uma variável pode prever ou explicar o resultado desejado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6EDDA8C-D0D2-A123-8621-2B997870A28C}"/>
              </a:ext>
            </a:extLst>
          </p:cNvPr>
          <p:cNvSpPr/>
          <p:nvPr/>
        </p:nvSpPr>
        <p:spPr>
          <a:xfrm>
            <a:off x="6145374" y="801727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8CD55B9-B9E9-313E-D6BA-CA9815018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838105" y="517975"/>
            <a:ext cx="305499" cy="365125"/>
          </a:xfrm>
        </p:spPr>
        <p:txBody>
          <a:bodyPr/>
          <a:lstStyle/>
          <a:p>
            <a:fld id="{4A2E7D2D-E592-41F1-8B20-DBD4249F3386}" type="slidenum">
              <a:rPr lang="pt-BR" b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5</a:t>
            </a:fld>
            <a:endParaRPr lang="pt-BR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18" name="Tabela 17">
            <a:extLst>
              <a:ext uri="{FF2B5EF4-FFF2-40B4-BE49-F238E27FC236}">
                <a16:creationId xmlns:a16="http://schemas.microsoft.com/office/drawing/2014/main" id="{C79658E0-57A8-EF21-D48B-2B3486B8C1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965101"/>
              </p:ext>
            </p:extLst>
          </p:nvPr>
        </p:nvGraphicFramePr>
        <p:xfrm>
          <a:off x="6471638" y="1955287"/>
          <a:ext cx="5353262" cy="2630177"/>
        </p:xfrm>
        <a:graphic>
          <a:graphicData uri="http://schemas.openxmlformats.org/drawingml/2006/table">
            <a:tbl>
              <a:tblPr firstRow="1" bandRow="1">
                <a:solidFill>
                  <a:schemeClr val="accent2">
                    <a:lumMod val="60000"/>
                    <a:lumOff val="40000"/>
                  </a:schemeClr>
                </a:solidFill>
                <a:tableStyleId>{EB344D84-9AFB-497E-A393-DC336BA19D2E}</a:tableStyleId>
              </a:tblPr>
              <a:tblGrid>
                <a:gridCol w="538227">
                  <a:extLst>
                    <a:ext uri="{9D8B030D-6E8A-4147-A177-3AD203B41FA5}">
                      <a16:colId xmlns:a16="http://schemas.microsoft.com/office/drawing/2014/main" val="2788744274"/>
                    </a:ext>
                  </a:extLst>
                </a:gridCol>
                <a:gridCol w="1479317">
                  <a:extLst>
                    <a:ext uri="{9D8B030D-6E8A-4147-A177-3AD203B41FA5}">
                      <a16:colId xmlns:a16="http://schemas.microsoft.com/office/drawing/2014/main" val="1205104467"/>
                    </a:ext>
                  </a:extLst>
                </a:gridCol>
                <a:gridCol w="1788718">
                  <a:extLst>
                    <a:ext uri="{9D8B030D-6E8A-4147-A177-3AD203B41FA5}">
                      <a16:colId xmlns:a16="http://schemas.microsoft.com/office/drawing/2014/main" val="2154919097"/>
                    </a:ext>
                  </a:extLst>
                </a:gridCol>
                <a:gridCol w="1547000">
                  <a:extLst>
                    <a:ext uri="{9D8B030D-6E8A-4147-A177-3AD203B41FA5}">
                      <a16:colId xmlns:a16="http://schemas.microsoft.com/office/drawing/2014/main" val="2939204814"/>
                    </a:ext>
                  </a:extLst>
                </a:gridCol>
              </a:tblGrid>
              <a:tr h="328747">
                <a:tc>
                  <a:txBody>
                    <a:bodyPr/>
                    <a:lstStyle/>
                    <a:p>
                      <a:pPr algn="ctr"/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%BAD Faturam. Anual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BAD </a:t>
                      </a:r>
                      <a:r>
                        <a:rPr lang="pt-BR" sz="800" b="1" i="1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Compromet</a:t>
                      </a:r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Renda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%BAD Taxa de Juros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7102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8.1%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3.5%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561869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13.8%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8.3%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5.3%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479821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8.8%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7.5%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00259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9.4%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8.2%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45192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11.8%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9.8%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0417117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10.2%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11.3%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856447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11.4%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12.7%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577338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9.3%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13.2%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3302101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8.6%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18.2%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120192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7.9%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18.4%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22.2%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151410"/>
                  </a:ext>
                </a:extLst>
              </a:tr>
            </a:tbl>
          </a:graphicData>
        </a:graphic>
      </p:graphicFrame>
      <p:graphicFrame>
        <p:nvGraphicFramePr>
          <p:cNvPr id="19" name="Tabela 18">
            <a:extLst>
              <a:ext uri="{FF2B5EF4-FFF2-40B4-BE49-F238E27FC236}">
                <a16:creationId xmlns:a16="http://schemas.microsoft.com/office/drawing/2014/main" id="{CDCFE4E5-B9C4-33D1-535B-7B2EF71AB4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1380758"/>
              </p:ext>
            </p:extLst>
          </p:nvPr>
        </p:nvGraphicFramePr>
        <p:xfrm>
          <a:off x="6458434" y="4704648"/>
          <a:ext cx="2370698" cy="1674742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1103897">
                  <a:extLst>
                    <a:ext uri="{9D8B030D-6E8A-4147-A177-3AD203B41FA5}">
                      <a16:colId xmlns:a16="http://schemas.microsoft.com/office/drawing/2014/main" val="2788744274"/>
                    </a:ext>
                  </a:extLst>
                </a:gridCol>
                <a:gridCol w="1266801">
                  <a:extLst>
                    <a:ext uri="{9D8B030D-6E8A-4147-A177-3AD203B41FA5}">
                      <a16:colId xmlns:a16="http://schemas.microsoft.com/office/drawing/2014/main" val="1205104467"/>
                    </a:ext>
                  </a:extLst>
                </a:gridCol>
              </a:tblGrid>
              <a:tr h="367212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Classe de Produto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% BAD Classe de Produto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7102"/>
                  </a:ext>
                </a:extLst>
              </a:tr>
              <a:tr h="18679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561869"/>
                  </a:ext>
                </a:extLst>
              </a:tr>
              <a:tr h="18679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8.2%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479821"/>
                  </a:ext>
                </a:extLst>
              </a:tr>
              <a:tr h="18679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11.8%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00259"/>
                  </a:ext>
                </a:extLst>
              </a:tr>
              <a:tr h="18679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15.8%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45192"/>
                  </a:ext>
                </a:extLst>
              </a:tr>
              <a:tr h="18679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0417117"/>
                  </a:ext>
                </a:extLst>
              </a:tr>
              <a:tr h="18679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25.1%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856447"/>
                  </a:ext>
                </a:extLst>
              </a:tr>
              <a:tr h="18679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28.1%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577338"/>
                  </a:ext>
                </a:extLst>
              </a:tr>
            </a:tbl>
          </a:graphicData>
        </a:graphic>
      </p:graphicFrame>
      <p:graphicFrame>
        <p:nvGraphicFramePr>
          <p:cNvPr id="20" name="Tabela 19">
            <a:extLst>
              <a:ext uri="{FF2B5EF4-FFF2-40B4-BE49-F238E27FC236}">
                <a16:creationId xmlns:a16="http://schemas.microsoft.com/office/drawing/2014/main" id="{FD3CE4BD-964B-79C4-E586-E51DC9DEE7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9253478"/>
              </p:ext>
            </p:extLst>
          </p:nvPr>
        </p:nvGraphicFramePr>
        <p:xfrm>
          <a:off x="9454202" y="4700848"/>
          <a:ext cx="2370698" cy="1678542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1103896">
                  <a:extLst>
                    <a:ext uri="{9D8B030D-6E8A-4147-A177-3AD203B41FA5}">
                      <a16:colId xmlns:a16="http://schemas.microsoft.com/office/drawing/2014/main" val="2788744274"/>
                    </a:ext>
                  </a:extLst>
                </a:gridCol>
                <a:gridCol w="1266802">
                  <a:extLst>
                    <a:ext uri="{9D8B030D-6E8A-4147-A177-3AD203B41FA5}">
                      <a16:colId xmlns:a16="http://schemas.microsoft.com/office/drawing/2014/main" val="12051044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Subclasse de Produto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% BAD Subclasse de Produto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7102"/>
                  </a:ext>
                </a:extLst>
              </a:tr>
              <a:tr h="19068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A1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1.9%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561869"/>
                  </a:ext>
                </a:extLst>
              </a:tr>
              <a:tr h="19068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A2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2.9%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479821"/>
                  </a:ext>
                </a:extLst>
              </a:tr>
              <a:tr h="19068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A3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3.5%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00259"/>
                  </a:ext>
                </a:extLst>
              </a:tr>
              <a:tr h="19068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...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45192"/>
                  </a:ext>
                </a:extLst>
              </a:tr>
              <a:tr h="19068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G3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29.3%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0417117"/>
                  </a:ext>
                </a:extLst>
              </a:tr>
              <a:tr h="19068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G4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29.5%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856447"/>
                  </a:ext>
                </a:extLst>
              </a:tr>
              <a:tr h="19068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G5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577338"/>
                  </a:ext>
                </a:extLst>
              </a:tr>
            </a:tbl>
          </a:graphicData>
        </a:graphic>
      </p:graphicFrame>
      <p:sp>
        <p:nvSpPr>
          <p:cNvPr id="22" name="Retângulo 21">
            <a:extLst>
              <a:ext uri="{FF2B5EF4-FFF2-40B4-BE49-F238E27FC236}">
                <a16:creationId xmlns:a16="http://schemas.microsoft.com/office/drawing/2014/main" id="{933E144B-02C4-F2FE-48E5-2E6EC4A28646}"/>
              </a:ext>
            </a:extLst>
          </p:cNvPr>
          <p:cNvSpPr/>
          <p:nvPr/>
        </p:nvSpPr>
        <p:spPr>
          <a:xfrm>
            <a:off x="6471638" y="926865"/>
            <a:ext cx="5366467" cy="90923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lnSpc>
                <a:spcPct val="15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pt-B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pt-BR" sz="1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explicabilidade</a:t>
            </a:r>
            <a:r>
              <a:rPr lang="pt-B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essencial durante a construção de uma política, portanto, ela demanda maior preciosismo.</a:t>
            </a:r>
          </a:p>
          <a:p>
            <a:pPr marL="171450" indent="-171450" algn="just">
              <a:lnSpc>
                <a:spcPct val="15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pt-B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Dessa forma,  escolheu-se utilizar apenas variáveis com ordenação correta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Google Shape;6658;p77">
                <a:extLst>
                  <a:ext uri="{FF2B5EF4-FFF2-40B4-BE49-F238E27FC236}">
                    <a16:creationId xmlns:a16="http://schemas.microsoft.com/office/drawing/2014/main" id="{12C828FF-8539-9658-2118-7F46BD25C104}"/>
                  </a:ext>
                </a:extLst>
              </p:cNvPr>
              <p:cNvSpPr/>
              <p:nvPr/>
            </p:nvSpPr>
            <p:spPr>
              <a:xfrm>
                <a:off x="6339299" y="6496290"/>
                <a:ext cx="6078210" cy="300700"/>
              </a:xfrm>
              <a:prstGeom prst="roundRect">
                <a:avLst>
                  <a:gd name="adj" fmla="val 50000"/>
                </a:avLst>
              </a:prstGeom>
              <a:noFill/>
              <a:ln w="19050"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algn="just"/>
                <a:r>
                  <a:rPr lang="pt-BR" sz="1000" b="1" i="1" u="none" strike="noStrike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PD</a:t>
                </a:r>
                <a:r>
                  <a:rPr lang="pt-BR" sz="1000" b="1" u="none" strike="noStrike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sz="1000" b="1" i="1" u="none" strike="noStrike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 </m:t>
                    </m:r>
                    <m:sSub>
                      <m:sSubPr>
                        <m:ctrlP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𝑷𝑫</m:t>
                        </m:r>
                      </m:e>
                      <m:sub>
                        <m:r>
                          <a:rPr lang="pt-BR" sz="1000" b="1" i="1" u="none" strike="noStrike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𝑭𝒂𝒕</m:t>
                        </m:r>
                        <m:r>
                          <a:rPr lang="pt-BR" sz="1000" b="1" i="1" u="none" strike="noStrike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. 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𝑨𝒏𝒖𝒂𝒍</m:t>
                        </m:r>
                      </m:sub>
                    </m:sSub>
                    <m:r>
                      <a:rPr lang="pt-BR" sz="1000" b="1" i="1" u="none" strike="noStrike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𝑷𝑫</m:t>
                        </m:r>
                      </m:e>
                      <m:sub>
                        <m:r>
                          <a:rPr lang="pt-BR" sz="1000" b="1" i="1" u="none" strike="noStrike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𝑪𝒐𝒎𝒑𝒓𝒐𝒎</m:t>
                        </m:r>
                        <m:r>
                          <a:rPr lang="pt-BR" sz="1000" b="1" i="1" u="none" strike="noStrike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..  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𝑹𝒆𝒏𝒅𝒂</m:t>
                        </m:r>
                      </m:sub>
                    </m:sSub>
                    <m:r>
                      <a:rPr lang="pt-BR" sz="1000" b="1" i="1" u="none" strike="noStrike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𝑷𝑫</m:t>
                        </m:r>
                      </m:e>
                      <m:sub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𝑻𝒂𝒙𝒂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𝒅𝒆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𝑱𝒖𝒓𝒐𝒔</m:t>
                        </m:r>
                      </m:sub>
                    </m:sSub>
                    <m:r>
                      <a:rPr lang="pt-BR" sz="1000" b="1" i="1" u="none" strike="noStrike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𝑷𝑫</m:t>
                        </m:r>
                      </m:e>
                      <m:sub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𝑪𝒍𝒂𝒔𝒔𝒆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𝑷𝒓𝒐𝒅𝒖𝒕𝒐</m:t>
                        </m:r>
                      </m:sub>
                    </m:sSub>
                    <m:r>
                      <a:rPr lang="pt-BR" sz="1000" b="1" i="1" u="none" strike="noStrike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𝑷𝑫</m:t>
                        </m:r>
                      </m:e>
                      <m:sub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𝑺𝒖𝒃𝒄𝒍𝒂𝒔𝒔𝒆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𝑷𝒓𝒐𝒅𝒖𝒕𝒐</m:t>
                        </m:r>
                      </m:sub>
                    </m:sSub>
                  </m:oMath>
                </a14:m>
                <a:endParaRPr lang="pt-BR" sz="800" b="1" i="1" u="sng" dirty="0"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" name="Google Shape;6658;p77">
                <a:extLst>
                  <a:ext uri="{FF2B5EF4-FFF2-40B4-BE49-F238E27FC236}">
                    <a16:creationId xmlns:a16="http://schemas.microsoft.com/office/drawing/2014/main" id="{12C828FF-8539-9658-2118-7F46BD25C1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9299" y="6496290"/>
                <a:ext cx="6078210" cy="300700"/>
              </a:xfrm>
              <a:prstGeom prst="roundRect">
                <a:avLst>
                  <a:gd name="adj" fmla="val 50000"/>
                </a:avLst>
              </a:prstGeom>
              <a:blipFill>
                <a:blip r:embed="rId4"/>
                <a:stretch>
                  <a:fillRect t="-16327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7578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1F58B-B58B-647E-6BA7-4560D6D3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E1463F1-4DD4-D715-00D8-0A522E5614C5}"/>
              </a:ext>
            </a:extLst>
          </p:cNvPr>
          <p:cNvSpPr/>
          <p:nvPr/>
        </p:nvSpPr>
        <p:spPr>
          <a:xfrm>
            <a:off x="100684" y="801727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A259909-4EAF-2AE9-4369-CFCBEB0ED5D0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MODELAGEM MATEMÁTICA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6EDDA8C-D0D2-A123-8621-2B997870A28C}"/>
              </a:ext>
            </a:extLst>
          </p:cNvPr>
          <p:cNvSpPr/>
          <p:nvPr/>
        </p:nvSpPr>
        <p:spPr>
          <a:xfrm>
            <a:off x="6145374" y="801727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173CDAA-6D68-4BBF-47B3-0204BAA6FD7B}"/>
              </a:ext>
            </a:extLst>
          </p:cNvPr>
          <p:cNvSpPr/>
          <p:nvPr/>
        </p:nvSpPr>
        <p:spPr>
          <a:xfrm>
            <a:off x="295265" y="673228"/>
            <a:ext cx="2533660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Modelagem por ML</a:t>
            </a:r>
          </a:p>
        </p:txBody>
      </p:sp>
      <p:sp>
        <p:nvSpPr>
          <p:cNvPr id="5" name="Fluxograma: Conector 4">
            <a:extLst>
              <a:ext uri="{FF2B5EF4-FFF2-40B4-BE49-F238E27FC236}">
                <a16:creationId xmlns:a16="http://schemas.microsoft.com/office/drawing/2014/main" id="{60C39546-C8D0-3FA7-8F59-B6106AB12FC5}"/>
              </a:ext>
            </a:extLst>
          </p:cNvPr>
          <p:cNvSpPr/>
          <p:nvPr/>
        </p:nvSpPr>
        <p:spPr>
          <a:xfrm>
            <a:off x="316543" y="696776"/>
            <a:ext cx="563723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  <a:endParaRPr lang="pt-BR" b="1" dirty="0">
              <a:solidFill>
                <a:srgbClr val="28396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A3C447B-C496-5659-6DAC-73AE34008B98}"/>
              </a:ext>
            </a:extLst>
          </p:cNvPr>
          <p:cNvSpPr txBox="1"/>
          <p:nvPr/>
        </p:nvSpPr>
        <p:spPr>
          <a:xfrm>
            <a:off x="277876" y="1193476"/>
            <a:ext cx="5638810" cy="547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latin typeface="Arial" panose="020B0604020202020204" pitchFamily="34" charset="0"/>
                <a:cs typeface="Arial" panose="020B0604020202020204" pitchFamily="34" charset="0"/>
              </a:rPr>
              <a:t>O destaque do Machine Learning deve-se ao fato de que ele é capaz de reconhecer padrões complexos através dos dados, tendo grande poder preditivo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367E57C-0420-E2E6-36AC-FAE70B47786B}"/>
              </a:ext>
            </a:extLst>
          </p:cNvPr>
          <p:cNvSpPr/>
          <p:nvPr/>
        </p:nvSpPr>
        <p:spPr>
          <a:xfrm>
            <a:off x="6241209" y="925836"/>
            <a:ext cx="5734049" cy="1245763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Variance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Threshold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Eliminou-se variáveis de variância 0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Mutual </a:t>
            </a: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Information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Eliminou-se variáveis com ganho de inf. de 0%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Feature </a:t>
            </a: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Importance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Eliminou-se variáveis abaixo da importância de 1%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70445F69-8704-EEB9-C659-C5443BEFD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1210" y="2597567"/>
            <a:ext cx="5734048" cy="3811622"/>
          </a:xfrm>
          <a:prstGeom prst="rect">
            <a:avLst/>
          </a:prstGeom>
        </p:spPr>
      </p:pic>
      <p:sp>
        <p:nvSpPr>
          <p:cNvPr id="18" name="Rectangle 2">
            <a:extLst>
              <a:ext uri="{FF2B5EF4-FFF2-40B4-BE49-F238E27FC236}">
                <a16:creationId xmlns:a16="http://schemas.microsoft.com/office/drawing/2014/main" id="{1F2FF681-FD97-81B0-A4B5-1D82C5867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5592" y="2281924"/>
            <a:ext cx="4468739" cy="65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indent="457200">
              <a:lnSpc>
                <a:spcPct val="150000"/>
              </a:lnSpc>
              <a:spcAft>
                <a:spcPts val="600"/>
              </a:spcAft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9 – Variáveis de Entrada para os Modelos de ML</a:t>
            </a:r>
            <a:endParaRPr lang="pt-BR" sz="900" b="1" i="1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F973330-1D01-CC89-545A-273361A00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910036" y="496729"/>
            <a:ext cx="229998" cy="365125"/>
          </a:xfrm>
        </p:spPr>
        <p:txBody>
          <a:bodyPr/>
          <a:lstStyle/>
          <a:p>
            <a:fld id="{4A2E7D2D-E592-41F1-8B20-DBD4249F3386}" type="slidenum">
              <a:rPr lang="pt-BR" b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6</a:t>
            </a:fld>
            <a:endParaRPr lang="pt-BR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F5A3BE97-227F-5290-99E8-2A4EC29A7A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211" y="4846114"/>
            <a:ext cx="2533660" cy="1636817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66F06AF3-8F01-D5B2-89BD-0A4EAD753E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1851" y="4846115"/>
            <a:ext cx="2533661" cy="1636817"/>
          </a:xfrm>
          <a:prstGeom prst="rect">
            <a:avLst/>
          </a:prstGeom>
        </p:spPr>
      </p:pic>
      <p:sp>
        <p:nvSpPr>
          <p:cNvPr id="15" name="Rectangle 2">
            <a:extLst>
              <a:ext uri="{FF2B5EF4-FFF2-40B4-BE49-F238E27FC236}">
                <a16:creationId xmlns:a16="http://schemas.microsoft.com/office/drawing/2014/main" id="{4F37815E-70DA-EDE1-82F3-0E280D15E3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209" y="4519102"/>
            <a:ext cx="2533659" cy="65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indent="457200" algn="ctr">
              <a:lnSpc>
                <a:spcPct val="150000"/>
              </a:lnSpc>
              <a:spcAft>
                <a:spcPts val="600"/>
              </a:spcAft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7 –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Holdout</a:t>
            </a:r>
            <a:endParaRPr lang="pt-BR" sz="900" b="1" i="1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lvl="0" indent="45720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C5F05A60-65E6-0E35-9F6B-81B0006BB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41847" y="4519102"/>
            <a:ext cx="2533659" cy="65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indent="457200">
              <a:lnSpc>
                <a:spcPct val="150000"/>
              </a:lnSpc>
              <a:spcAft>
                <a:spcPts val="600"/>
              </a:spcAft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8 – </a:t>
            </a:r>
            <a:r>
              <a:rPr lang="pt-BR" sz="90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Cross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Validation</a:t>
            </a:r>
            <a:endParaRPr lang="pt-BR" sz="900" b="1" i="1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lvl="0" indent="45720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5B3673E1-06B9-184D-DD9B-B637154AC157}"/>
              </a:ext>
            </a:extLst>
          </p:cNvPr>
          <p:cNvSpPr/>
          <p:nvPr/>
        </p:nvSpPr>
        <p:spPr>
          <a:xfrm>
            <a:off x="265742" y="2132362"/>
            <a:ext cx="5734049" cy="163681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fim de garantir resultados confiáveis, utilizou-se as técnicas de </a:t>
            </a:r>
            <a:r>
              <a:rPr lang="pt-BR" sz="1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Holdout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Validação Cruzada como métodos de validação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Holdout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Separação em Treino | Teste | Validação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Validação Cruzada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Separações em Treino | Teste | Validação de maneira iterativa a fim de reduzir a variância dos meus resultados e garantir maior confiabilidade</a:t>
            </a:r>
          </a:p>
        </p:txBody>
      </p:sp>
    </p:spTree>
    <p:extLst>
      <p:ext uri="{BB962C8B-B14F-4D97-AF65-F5344CB8AC3E}">
        <p14:creationId xmlns:p14="http://schemas.microsoft.com/office/powerpoint/2010/main" val="2017760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1F58B-B58B-647E-6BA7-4560D6D3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 20">
            <a:extLst>
              <a:ext uri="{FF2B5EF4-FFF2-40B4-BE49-F238E27FC236}">
                <a16:creationId xmlns:a16="http://schemas.microsoft.com/office/drawing/2014/main" id="{7CB7FE8E-5BE8-35F2-DFB5-4EF98B06650E}"/>
              </a:ext>
            </a:extLst>
          </p:cNvPr>
          <p:cNvSpPr/>
          <p:nvPr/>
        </p:nvSpPr>
        <p:spPr>
          <a:xfrm>
            <a:off x="6096000" y="801727"/>
            <a:ext cx="6046629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AE1463F1-4DD4-D715-00D8-0A522E5614C5}"/>
              </a:ext>
            </a:extLst>
          </p:cNvPr>
          <p:cNvSpPr/>
          <p:nvPr/>
        </p:nvSpPr>
        <p:spPr>
          <a:xfrm>
            <a:off x="100683" y="801727"/>
            <a:ext cx="5908231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A259909-4EAF-2AE9-4369-CFCBEB0ED5D0}"/>
              </a:ext>
            </a:extLst>
          </p:cNvPr>
          <p:cNvSpPr/>
          <p:nvPr/>
        </p:nvSpPr>
        <p:spPr>
          <a:xfrm>
            <a:off x="-49372" y="-28942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MODELAGEM MATEMÁTICA</a:t>
            </a:r>
          </a:p>
        </p:txBody>
      </p:sp>
      <p:graphicFrame>
        <p:nvGraphicFramePr>
          <p:cNvPr id="34" name="Tabela 33">
            <a:extLst>
              <a:ext uri="{FF2B5EF4-FFF2-40B4-BE49-F238E27FC236}">
                <a16:creationId xmlns:a16="http://schemas.microsoft.com/office/drawing/2014/main" id="{820B8FC8-6FC2-9651-C78F-E17196A3C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5561687"/>
              </p:ext>
            </p:extLst>
          </p:nvPr>
        </p:nvGraphicFramePr>
        <p:xfrm>
          <a:off x="6582420" y="1240459"/>
          <a:ext cx="5272210" cy="4520628"/>
        </p:xfrm>
        <a:graphic>
          <a:graphicData uri="http://schemas.openxmlformats.org/drawingml/2006/table">
            <a:tbl>
              <a:tblPr firstRow="1" firstCol="1" bandRow="1"/>
              <a:tblGrid>
                <a:gridCol w="652782">
                  <a:extLst>
                    <a:ext uri="{9D8B030D-6E8A-4147-A177-3AD203B41FA5}">
                      <a16:colId xmlns:a16="http://schemas.microsoft.com/office/drawing/2014/main" val="4151726305"/>
                    </a:ext>
                  </a:extLst>
                </a:gridCol>
                <a:gridCol w="660162">
                  <a:extLst>
                    <a:ext uri="{9D8B030D-6E8A-4147-A177-3AD203B41FA5}">
                      <a16:colId xmlns:a16="http://schemas.microsoft.com/office/drawing/2014/main" val="1786775086"/>
                    </a:ext>
                  </a:extLst>
                </a:gridCol>
                <a:gridCol w="705572">
                  <a:extLst>
                    <a:ext uri="{9D8B030D-6E8A-4147-A177-3AD203B41FA5}">
                      <a16:colId xmlns:a16="http://schemas.microsoft.com/office/drawing/2014/main" val="1967189809"/>
                    </a:ext>
                  </a:extLst>
                </a:gridCol>
                <a:gridCol w="922977">
                  <a:extLst>
                    <a:ext uri="{9D8B030D-6E8A-4147-A177-3AD203B41FA5}">
                      <a16:colId xmlns:a16="http://schemas.microsoft.com/office/drawing/2014/main" val="235809142"/>
                    </a:ext>
                  </a:extLst>
                </a:gridCol>
                <a:gridCol w="469436">
                  <a:extLst>
                    <a:ext uri="{9D8B030D-6E8A-4147-A177-3AD203B41FA5}">
                      <a16:colId xmlns:a16="http://schemas.microsoft.com/office/drawing/2014/main" val="4024050565"/>
                    </a:ext>
                  </a:extLst>
                </a:gridCol>
                <a:gridCol w="434810">
                  <a:extLst>
                    <a:ext uri="{9D8B030D-6E8A-4147-A177-3AD203B41FA5}">
                      <a16:colId xmlns:a16="http://schemas.microsoft.com/office/drawing/2014/main" val="3680448491"/>
                    </a:ext>
                  </a:extLst>
                </a:gridCol>
                <a:gridCol w="539255">
                  <a:extLst>
                    <a:ext uri="{9D8B030D-6E8A-4147-A177-3AD203B41FA5}">
                      <a16:colId xmlns:a16="http://schemas.microsoft.com/office/drawing/2014/main" val="622909897"/>
                    </a:ext>
                  </a:extLst>
                </a:gridCol>
                <a:gridCol w="887216">
                  <a:extLst>
                    <a:ext uri="{9D8B030D-6E8A-4147-A177-3AD203B41FA5}">
                      <a16:colId xmlns:a16="http://schemas.microsoft.com/office/drawing/2014/main" val="1693099071"/>
                    </a:ext>
                  </a:extLst>
                </a:gridCol>
              </a:tblGrid>
              <a:tr h="20682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Acuracia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AUC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KS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Etapa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Classificador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311215"/>
                  </a:ext>
                </a:extLst>
              </a:tr>
              <a:tr h="862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0.20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0.20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0.20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0.43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0.43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0.43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0.27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0.27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0.27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0.67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0.68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0.67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Treino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Teste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 Cruz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Reg. Logística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1054"/>
                  </a:ext>
                </a:extLst>
              </a:tr>
              <a:tr h="862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0.18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0.18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0.18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0.20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0.66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0.66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0.66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Treino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Teste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 Cruz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Naive</a:t>
                      </a: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pt-BR" sz="800" b="1" i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Bayes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8586251"/>
                  </a:ext>
                </a:extLst>
              </a:tr>
              <a:tr h="862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0.90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0.86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0.86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0.69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0.15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0.24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0.36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0.07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0.91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0.52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0.52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0.79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Treino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Teste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 Cruz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KNN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7066505"/>
                  </a:ext>
                </a:extLst>
              </a:tr>
              <a:tr h="862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0.49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0.49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0.49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Treino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Teste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 Cruz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Random Forest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890995"/>
                  </a:ext>
                </a:extLst>
              </a:tr>
              <a:tr h="862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0.22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0.22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0.22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Treino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Teste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 Cruz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XGBoost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640323"/>
                  </a:ext>
                </a:extLst>
              </a:tr>
            </a:tbl>
          </a:graphicData>
        </a:graphic>
      </p:graphicFrame>
      <p:pic>
        <p:nvPicPr>
          <p:cNvPr id="41" name="Imagem 40">
            <a:extLst>
              <a:ext uri="{FF2B5EF4-FFF2-40B4-BE49-F238E27FC236}">
                <a16:creationId xmlns:a16="http://schemas.microsoft.com/office/drawing/2014/main" id="{2E241367-4EF5-3AC9-D5F6-3CC0D4CEA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734" y="5420494"/>
            <a:ext cx="2430174" cy="1219200"/>
          </a:xfrm>
          <a:prstGeom prst="rect">
            <a:avLst/>
          </a:prstGeom>
        </p:spPr>
      </p:pic>
      <p:sp>
        <p:nvSpPr>
          <p:cNvPr id="42" name="Rectangle 2">
            <a:extLst>
              <a:ext uri="{FF2B5EF4-FFF2-40B4-BE49-F238E27FC236}">
                <a16:creationId xmlns:a16="http://schemas.microsoft.com/office/drawing/2014/main" id="{41D6DA33-CF4B-D9AF-B6BB-990CFEE1E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7120" y="5107062"/>
            <a:ext cx="2203213" cy="65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indent="457200">
              <a:lnSpc>
                <a:spcPct val="150000"/>
              </a:lnSpc>
              <a:spcAft>
                <a:spcPts val="600"/>
              </a:spcAft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10 –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Bayes</a:t>
            </a:r>
            <a:r>
              <a:rPr lang="pt-BR" sz="90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Search </a:t>
            </a: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89708C0A-F811-BC11-D029-E61E2DEF1308}"/>
              </a:ext>
            </a:extLst>
          </p:cNvPr>
          <p:cNvSpPr/>
          <p:nvPr/>
        </p:nvSpPr>
        <p:spPr>
          <a:xfrm>
            <a:off x="194132" y="4421926"/>
            <a:ext cx="5734049" cy="685136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1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Com a definição do modelo vencedor, aplicou-se </a:t>
            </a:r>
            <a:r>
              <a:rPr lang="pt-BR" sz="11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uma</a:t>
            </a:r>
            <a:r>
              <a:rPr lang="pt-BR" sz="11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otimização de hiperparâmetros via </a:t>
            </a:r>
            <a:r>
              <a:rPr lang="pt-BR" sz="1100" b="1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Bayes</a:t>
            </a:r>
            <a:r>
              <a:rPr lang="pt-BR" sz="1100" b="1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Search.</a:t>
            </a:r>
            <a:r>
              <a:rPr lang="pt-BR" sz="11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100" b="1" dirty="0">
                <a:solidFill>
                  <a:schemeClr val="bg1"/>
                </a:solidFill>
                <a:latin typeface="Times New Roman" panose="02020603050405020304" pitchFamily="18" charset="0"/>
                <a:cs typeface="Arial" panose="020B0604020202020204" pitchFamily="34" charset="0"/>
              </a:rPr>
              <a:t>A otimização possui o intuito de melhorar ainda mais os resultados obtidos através da melhor configuração possível de hiperparâmetros</a:t>
            </a:r>
            <a:endParaRPr lang="pt-BR" sz="11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2A807B5E-4A03-9EEB-7BD3-FD9CE7F6E8B4}"/>
              </a:ext>
            </a:extLst>
          </p:cNvPr>
          <p:cNvSpPr/>
          <p:nvPr/>
        </p:nvSpPr>
        <p:spPr>
          <a:xfrm>
            <a:off x="6582420" y="4898226"/>
            <a:ext cx="5272210" cy="862861"/>
          </a:xfrm>
          <a:prstGeom prst="rect">
            <a:avLst/>
          </a:prstGeom>
          <a:noFill/>
          <a:ln w="19050">
            <a:solidFill>
              <a:srgbClr val="1B7B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55" name="Conector reto 54">
            <a:extLst>
              <a:ext uri="{FF2B5EF4-FFF2-40B4-BE49-F238E27FC236}">
                <a16:creationId xmlns:a16="http://schemas.microsoft.com/office/drawing/2014/main" id="{DFE03A82-A26D-0481-4126-AA41FC65A8CD}"/>
              </a:ext>
            </a:extLst>
          </p:cNvPr>
          <p:cNvCxnSpPr>
            <a:cxnSpLocks/>
          </p:cNvCxnSpPr>
          <p:nvPr/>
        </p:nvCxnSpPr>
        <p:spPr>
          <a:xfrm>
            <a:off x="4677132" y="3160377"/>
            <a:ext cx="0" cy="279893"/>
          </a:xfrm>
          <a:prstGeom prst="line">
            <a:avLst/>
          </a:prstGeom>
          <a:ln w="1905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to 55">
            <a:extLst>
              <a:ext uri="{FF2B5EF4-FFF2-40B4-BE49-F238E27FC236}">
                <a16:creationId xmlns:a16="http://schemas.microsoft.com/office/drawing/2014/main" id="{30C575BE-9FA1-BA5A-EC84-011B7FD3247E}"/>
              </a:ext>
            </a:extLst>
          </p:cNvPr>
          <p:cNvCxnSpPr>
            <a:cxnSpLocks/>
          </p:cNvCxnSpPr>
          <p:nvPr/>
        </p:nvCxnSpPr>
        <p:spPr>
          <a:xfrm>
            <a:off x="3866388" y="3638258"/>
            <a:ext cx="0" cy="279893"/>
          </a:xfrm>
          <a:prstGeom prst="line">
            <a:avLst/>
          </a:prstGeom>
          <a:ln w="1905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to 56">
            <a:extLst>
              <a:ext uri="{FF2B5EF4-FFF2-40B4-BE49-F238E27FC236}">
                <a16:creationId xmlns:a16="http://schemas.microsoft.com/office/drawing/2014/main" id="{21E919A9-8B49-3D09-DDAC-2CDF214DC56C}"/>
              </a:ext>
            </a:extLst>
          </p:cNvPr>
          <p:cNvCxnSpPr>
            <a:cxnSpLocks/>
          </p:cNvCxnSpPr>
          <p:nvPr/>
        </p:nvCxnSpPr>
        <p:spPr>
          <a:xfrm>
            <a:off x="2245722" y="3649129"/>
            <a:ext cx="0" cy="279893"/>
          </a:xfrm>
          <a:prstGeom prst="line">
            <a:avLst/>
          </a:prstGeom>
          <a:ln w="1905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to 57">
            <a:extLst>
              <a:ext uri="{FF2B5EF4-FFF2-40B4-BE49-F238E27FC236}">
                <a16:creationId xmlns:a16="http://schemas.microsoft.com/office/drawing/2014/main" id="{B0DDBAF6-8ED3-10E1-DD13-3210F08E2B1A}"/>
              </a:ext>
            </a:extLst>
          </p:cNvPr>
          <p:cNvCxnSpPr>
            <a:cxnSpLocks/>
          </p:cNvCxnSpPr>
          <p:nvPr/>
        </p:nvCxnSpPr>
        <p:spPr>
          <a:xfrm>
            <a:off x="1525912" y="3145886"/>
            <a:ext cx="0" cy="279893"/>
          </a:xfrm>
          <a:prstGeom prst="line">
            <a:avLst/>
          </a:prstGeom>
          <a:ln w="1905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to 58">
            <a:extLst>
              <a:ext uri="{FF2B5EF4-FFF2-40B4-BE49-F238E27FC236}">
                <a16:creationId xmlns:a16="http://schemas.microsoft.com/office/drawing/2014/main" id="{7575619D-C5E0-5E04-9FAA-B8560B39087E}"/>
              </a:ext>
            </a:extLst>
          </p:cNvPr>
          <p:cNvCxnSpPr>
            <a:cxnSpLocks/>
          </p:cNvCxnSpPr>
          <p:nvPr/>
        </p:nvCxnSpPr>
        <p:spPr>
          <a:xfrm>
            <a:off x="2956757" y="3132256"/>
            <a:ext cx="0" cy="279893"/>
          </a:xfrm>
          <a:prstGeom prst="line">
            <a:avLst/>
          </a:prstGeom>
          <a:ln w="1905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Google Shape;2450;p52">
            <a:extLst>
              <a:ext uri="{FF2B5EF4-FFF2-40B4-BE49-F238E27FC236}">
                <a16:creationId xmlns:a16="http://schemas.microsoft.com/office/drawing/2014/main" id="{C5F2AEE9-3F2E-CD9D-F7FB-B64960DFEDE7}"/>
              </a:ext>
            </a:extLst>
          </p:cNvPr>
          <p:cNvSpPr/>
          <p:nvPr/>
        </p:nvSpPr>
        <p:spPr>
          <a:xfrm>
            <a:off x="1089644" y="3443844"/>
            <a:ext cx="4204160" cy="203420"/>
          </a:xfrm>
          <a:prstGeom prst="roundRect">
            <a:avLst>
              <a:gd name="adj" fmla="val 24841"/>
            </a:avLst>
          </a:prstGeom>
          <a:solidFill>
            <a:schemeClr val="lt2"/>
          </a:solidFill>
          <a:ln w="762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2485;p52">
            <a:extLst>
              <a:ext uri="{FF2B5EF4-FFF2-40B4-BE49-F238E27FC236}">
                <a16:creationId xmlns:a16="http://schemas.microsoft.com/office/drawing/2014/main" id="{2CA06857-7162-EB1A-EEFB-8758DBCA5385}"/>
              </a:ext>
            </a:extLst>
          </p:cNvPr>
          <p:cNvSpPr/>
          <p:nvPr/>
        </p:nvSpPr>
        <p:spPr>
          <a:xfrm>
            <a:off x="1421512" y="3425779"/>
            <a:ext cx="208800" cy="208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/>
              <a:t>1</a:t>
            </a:r>
            <a:endParaRPr sz="900" b="1" dirty="0"/>
          </a:p>
        </p:txBody>
      </p:sp>
      <p:sp>
        <p:nvSpPr>
          <p:cNvPr id="62" name="Google Shape;2486;p52">
            <a:extLst>
              <a:ext uri="{FF2B5EF4-FFF2-40B4-BE49-F238E27FC236}">
                <a16:creationId xmlns:a16="http://schemas.microsoft.com/office/drawing/2014/main" id="{99AA74B0-642F-96A8-A48E-12B1FDE98684}"/>
              </a:ext>
            </a:extLst>
          </p:cNvPr>
          <p:cNvSpPr/>
          <p:nvPr/>
        </p:nvSpPr>
        <p:spPr>
          <a:xfrm>
            <a:off x="2141322" y="3438613"/>
            <a:ext cx="208800" cy="208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/>
              <a:t>2</a:t>
            </a:r>
            <a:endParaRPr sz="900" b="1" dirty="0"/>
          </a:p>
        </p:txBody>
      </p:sp>
      <p:sp>
        <p:nvSpPr>
          <p:cNvPr id="63" name="Google Shape;2487;p52">
            <a:extLst>
              <a:ext uri="{FF2B5EF4-FFF2-40B4-BE49-F238E27FC236}">
                <a16:creationId xmlns:a16="http://schemas.microsoft.com/office/drawing/2014/main" id="{1134F232-60D6-F2C9-46D9-8C190A3A30AA}"/>
              </a:ext>
            </a:extLst>
          </p:cNvPr>
          <p:cNvSpPr/>
          <p:nvPr/>
        </p:nvSpPr>
        <p:spPr>
          <a:xfrm>
            <a:off x="2852357" y="3412150"/>
            <a:ext cx="208800" cy="208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/>
              <a:t>3</a:t>
            </a:r>
            <a:endParaRPr sz="900" b="1" dirty="0"/>
          </a:p>
        </p:txBody>
      </p:sp>
      <p:sp>
        <p:nvSpPr>
          <p:cNvPr id="1024" name="Google Shape;2488;p52">
            <a:extLst>
              <a:ext uri="{FF2B5EF4-FFF2-40B4-BE49-F238E27FC236}">
                <a16:creationId xmlns:a16="http://schemas.microsoft.com/office/drawing/2014/main" id="{241999FF-103A-0BD5-AA16-F2993F15BF88}"/>
              </a:ext>
            </a:extLst>
          </p:cNvPr>
          <p:cNvSpPr/>
          <p:nvPr/>
        </p:nvSpPr>
        <p:spPr>
          <a:xfrm>
            <a:off x="3761988" y="3412150"/>
            <a:ext cx="208800" cy="208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/>
              <a:t>4</a:t>
            </a:r>
            <a:endParaRPr sz="900" b="1" dirty="0"/>
          </a:p>
        </p:txBody>
      </p:sp>
      <p:sp>
        <p:nvSpPr>
          <p:cNvPr id="1025" name="Google Shape;6658;p77">
            <a:extLst>
              <a:ext uri="{FF2B5EF4-FFF2-40B4-BE49-F238E27FC236}">
                <a16:creationId xmlns:a16="http://schemas.microsoft.com/office/drawing/2014/main" id="{25964309-B022-62E9-D507-5EFF41EFA28C}"/>
              </a:ext>
            </a:extLst>
          </p:cNvPr>
          <p:cNvSpPr/>
          <p:nvPr/>
        </p:nvSpPr>
        <p:spPr>
          <a:xfrm>
            <a:off x="909240" y="2858787"/>
            <a:ext cx="1233344" cy="29092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8396E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Regressão Logística</a:t>
            </a:r>
            <a:endParaRPr sz="9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7" name="Google Shape;6658;p77">
            <a:extLst>
              <a:ext uri="{FF2B5EF4-FFF2-40B4-BE49-F238E27FC236}">
                <a16:creationId xmlns:a16="http://schemas.microsoft.com/office/drawing/2014/main" id="{381879DB-8CD7-E625-B98A-BF2695FE65F4}"/>
              </a:ext>
            </a:extLst>
          </p:cNvPr>
          <p:cNvSpPr/>
          <p:nvPr/>
        </p:nvSpPr>
        <p:spPr>
          <a:xfrm>
            <a:off x="1650439" y="3944614"/>
            <a:ext cx="1233344" cy="29092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8396E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Naive</a:t>
            </a:r>
            <a:r>
              <a:rPr lang="pt-BR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9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Bayes</a:t>
            </a:r>
            <a:endParaRPr sz="9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9" name="Google Shape;6658;p77">
            <a:extLst>
              <a:ext uri="{FF2B5EF4-FFF2-40B4-BE49-F238E27FC236}">
                <a16:creationId xmlns:a16="http://schemas.microsoft.com/office/drawing/2014/main" id="{40A30BBF-F9EA-3387-4CB4-823D9A009820}"/>
              </a:ext>
            </a:extLst>
          </p:cNvPr>
          <p:cNvSpPr/>
          <p:nvPr/>
        </p:nvSpPr>
        <p:spPr>
          <a:xfrm>
            <a:off x="2340085" y="2841333"/>
            <a:ext cx="1233344" cy="29092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8396E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</a:t>
            </a:r>
            <a:endParaRPr sz="9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1" name="Google Shape;6658;p77">
            <a:extLst>
              <a:ext uri="{FF2B5EF4-FFF2-40B4-BE49-F238E27FC236}">
                <a16:creationId xmlns:a16="http://schemas.microsoft.com/office/drawing/2014/main" id="{6EED920A-EFAD-7661-D74D-D7087317A31D}"/>
              </a:ext>
            </a:extLst>
          </p:cNvPr>
          <p:cNvSpPr/>
          <p:nvPr/>
        </p:nvSpPr>
        <p:spPr>
          <a:xfrm>
            <a:off x="3249716" y="3930836"/>
            <a:ext cx="1233344" cy="29092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8396E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  <a:endParaRPr sz="9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2" name="Google Shape;2488;p52">
            <a:extLst>
              <a:ext uri="{FF2B5EF4-FFF2-40B4-BE49-F238E27FC236}">
                <a16:creationId xmlns:a16="http://schemas.microsoft.com/office/drawing/2014/main" id="{3583698C-0496-3F1B-FD69-7DE4956387ED}"/>
              </a:ext>
            </a:extLst>
          </p:cNvPr>
          <p:cNvSpPr/>
          <p:nvPr/>
        </p:nvSpPr>
        <p:spPr>
          <a:xfrm>
            <a:off x="4578121" y="3412533"/>
            <a:ext cx="208800" cy="208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/>
              <a:t>5</a:t>
            </a:r>
            <a:endParaRPr sz="900" b="1" dirty="0"/>
          </a:p>
        </p:txBody>
      </p:sp>
      <p:sp>
        <p:nvSpPr>
          <p:cNvPr id="1033" name="Google Shape;6658;p77">
            <a:extLst>
              <a:ext uri="{FF2B5EF4-FFF2-40B4-BE49-F238E27FC236}">
                <a16:creationId xmlns:a16="http://schemas.microsoft.com/office/drawing/2014/main" id="{5C1CE710-1278-5A99-6F50-4BE0CB113FB6}"/>
              </a:ext>
            </a:extLst>
          </p:cNvPr>
          <p:cNvSpPr/>
          <p:nvPr/>
        </p:nvSpPr>
        <p:spPr>
          <a:xfrm>
            <a:off x="4060460" y="2869454"/>
            <a:ext cx="1233344" cy="29092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8396E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Gradient</a:t>
            </a:r>
            <a:r>
              <a:rPr lang="pt-BR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9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Boosting</a:t>
            </a:r>
            <a:endParaRPr sz="9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5" name="Retângulo 1034">
            <a:extLst>
              <a:ext uri="{FF2B5EF4-FFF2-40B4-BE49-F238E27FC236}">
                <a16:creationId xmlns:a16="http://schemas.microsoft.com/office/drawing/2014/main" id="{7A4328A0-C18C-DF8D-27C9-EAECF23410B5}"/>
              </a:ext>
            </a:extLst>
          </p:cNvPr>
          <p:cNvSpPr/>
          <p:nvPr/>
        </p:nvSpPr>
        <p:spPr>
          <a:xfrm>
            <a:off x="253884" y="850811"/>
            <a:ext cx="5734049" cy="1867265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1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Regressão Logística</a:t>
            </a:r>
            <a:r>
              <a:rPr lang="pt-BR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Modelo Linear Generalizado de fácil compreensão e bons resultados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1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1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Naive</a:t>
            </a:r>
            <a:r>
              <a:rPr lang="pt-BR" sz="11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1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Bayes</a:t>
            </a:r>
            <a:r>
              <a:rPr lang="pt-BR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Modelo Bayesiano de fácil compreensão mas com falhas de suposições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1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1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</a:t>
            </a:r>
            <a:r>
              <a:rPr lang="pt-BR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Modelo baseado em distâncias com relativa tendência a </a:t>
            </a:r>
            <a:r>
              <a:rPr lang="pt-BR" sz="11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overfitting</a:t>
            </a:r>
            <a:endParaRPr lang="pt-BR" sz="11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1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1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  <a:r>
              <a:rPr lang="pt-BR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Modelo Ensemble de Árvore robusto a </a:t>
            </a:r>
            <a:r>
              <a:rPr lang="pt-BR" sz="11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overfitting</a:t>
            </a:r>
            <a:r>
              <a:rPr lang="pt-BR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com bom poder preditivo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1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1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Gradient</a:t>
            </a:r>
            <a:r>
              <a:rPr lang="pt-BR" sz="11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1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Boosting</a:t>
            </a:r>
            <a:r>
              <a:rPr lang="pt-BR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Modelo Ensemble de Árvore com excelente poder preditivo e bom controle de </a:t>
            </a:r>
            <a:r>
              <a:rPr lang="pt-BR" sz="11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overfitting</a:t>
            </a:r>
            <a:endParaRPr lang="pt-BR" sz="11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7DBD958-5A17-AA8F-6045-907696846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877535" y="489540"/>
            <a:ext cx="249840" cy="365125"/>
          </a:xfrm>
        </p:spPr>
        <p:txBody>
          <a:bodyPr/>
          <a:lstStyle/>
          <a:p>
            <a:fld id="{4A2E7D2D-E592-41F1-8B20-DBD4249F3386}" type="slidenum">
              <a:rPr lang="pt-BR" b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7</a:t>
            </a:fld>
            <a:endParaRPr lang="pt-BR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Google Shape;6658;p77">
                <a:extLst>
                  <a:ext uri="{FF2B5EF4-FFF2-40B4-BE49-F238E27FC236}">
                    <a16:creationId xmlns:a16="http://schemas.microsoft.com/office/drawing/2014/main" id="{3F4BEEA3-A865-1C40-F06C-D011D2E2F2CF}"/>
                  </a:ext>
                </a:extLst>
              </p:cNvPr>
              <p:cNvSpPr/>
              <p:nvPr/>
            </p:nvSpPr>
            <p:spPr>
              <a:xfrm>
                <a:off x="8476167" y="5981039"/>
                <a:ext cx="1286294" cy="300700"/>
              </a:xfrm>
              <a:prstGeom prst="roundRect">
                <a:avLst>
                  <a:gd name="adj" fmla="val 50000"/>
                </a:avLst>
              </a:prstGeom>
              <a:noFill/>
              <a:ln w="19050"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algn="just"/>
                <a:r>
                  <a:rPr lang="pt-BR" sz="1000" b="1" i="1" u="none" strike="noStrike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PD</a:t>
                </a:r>
                <a:r>
                  <a:rPr lang="pt-BR" sz="1000" b="1" u="none" strike="noStrike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sz="1000" b="1" i="1" u="none" strike="noStrike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 </m:t>
                    </m:r>
                    <m:sSub>
                      <m:sSubPr>
                        <m:ctrlP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𝑷𝑫</m:t>
                        </m:r>
                      </m:e>
                      <m:sub>
                        <m:r>
                          <a:rPr lang="pt-BR" sz="1000" b="1" i="1" u="none" strike="noStrike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𝑿𝑮𝑩𝒐𝒐𝒔𝒕</m:t>
                        </m:r>
                      </m:sub>
                    </m:sSub>
                  </m:oMath>
                </a14:m>
                <a:endParaRPr lang="pt-BR" sz="800" b="1" i="1" u="sng" dirty="0"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Google Shape;6658;p77">
                <a:extLst>
                  <a:ext uri="{FF2B5EF4-FFF2-40B4-BE49-F238E27FC236}">
                    <a16:creationId xmlns:a16="http://schemas.microsoft.com/office/drawing/2014/main" id="{3F4BEEA3-A865-1C40-F06C-D011D2E2F2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167" y="5981039"/>
                <a:ext cx="1286294" cy="300700"/>
              </a:xfrm>
              <a:prstGeom prst="roundRect">
                <a:avLst>
                  <a:gd name="adj" fmla="val 50000"/>
                </a:avLst>
              </a:prstGeom>
              <a:blipFill>
                <a:blip r:embed="rId4"/>
                <a:stretch>
                  <a:fillRect t="-12245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>
            <a:extLst>
              <a:ext uri="{FF2B5EF4-FFF2-40B4-BE49-F238E27FC236}">
                <a16:creationId xmlns:a16="http://schemas.microsoft.com/office/drawing/2014/main" id="{5A240E39-7960-3D2D-73E9-74C9EBFE36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0908" y="5420494"/>
            <a:ext cx="2430174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09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1F58B-B58B-647E-6BA7-4560D6D3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E1463F1-4DD4-D715-00D8-0A522E5614C5}"/>
              </a:ext>
            </a:extLst>
          </p:cNvPr>
          <p:cNvSpPr/>
          <p:nvPr/>
        </p:nvSpPr>
        <p:spPr>
          <a:xfrm>
            <a:off x="140953" y="787680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9BB9F1F2-14EC-121B-52B0-9CCBD2AA88E7}"/>
              </a:ext>
            </a:extLst>
          </p:cNvPr>
          <p:cNvSpPr/>
          <p:nvPr/>
        </p:nvSpPr>
        <p:spPr>
          <a:xfrm>
            <a:off x="6145372" y="801727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A259909-4EAF-2AE9-4369-CFCBEB0ED5D0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173CDAA-6D68-4BBF-47B3-0204BAA6FD7B}"/>
              </a:ext>
            </a:extLst>
          </p:cNvPr>
          <p:cNvSpPr/>
          <p:nvPr/>
        </p:nvSpPr>
        <p:spPr>
          <a:xfrm>
            <a:off x="295265" y="673228"/>
            <a:ext cx="2533660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Resultados Gerais</a:t>
            </a:r>
          </a:p>
        </p:txBody>
      </p:sp>
      <p:sp>
        <p:nvSpPr>
          <p:cNvPr id="5" name="Fluxograma: Conector 4">
            <a:extLst>
              <a:ext uri="{FF2B5EF4-FFF2-40B4-BE49-F238E27FC236}">
                <a16:creationId xmlns:a16="http://schemas.microsoft.com/office/drawing/2014/main" id="{60C39546-C8D0-3FA7-8F59-B6106AB12FC5}"/>
              </a:ext>
            </a:extLst>
          </p:cNvPr>
          <p:cNvSpPr/>
          <p:nvPr/>
        </p:nvSpPr>
        <p:spPr>
          <a:xfrm>
            <a:off x="316543" y="696776"/>
            <a:ext cx="563723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</a:t>
            </a:r>
            <a:endParaRPr lang="pt-BR" b="1" dirty="0">
              <a:solidFill>
                <a:srgbClr val="28396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2" name="Imagem 41">
            <a:extLst>
              <a:ext uri="{FF2B5EF4-FFF2-40B4-BE49-F238E27FC236}">
                <a16:creationId xmlns:a16="http://schemas.microsoft.com/office/drawing/2014/main" id="{977CA6D7-238F-F7E9-E9CE-88628D8AE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65" y="1318237"/>
            <a:ext cx="5467972" cy="1703632"/>
          </a:xfrm>
          <a:prstGeom prst="rect">
            <a:avLst/>
          </a:prstGeom>
        </p:spPr>
      </p:pic>
      <p:pic>
        <p:nvPicPr>
          <p:cNvPr id="43" name="Imagem 42">
            <a:extLst>
              <a:ext uri="{FF2B5EF4-FFF2-40B4-BE49-F238E27FC236}">
                <a16:creationId xmlns:a16="http://schemas.microsoft.com/office/drawing/2014/main" id="{953D00E3-DC5D-197F-9001-F8E96F0281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262" y="3136814"/>
            <a:ext cx="5467971" cy="18478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6" name="Google Shape;6658;p77">
                <a:extLst>
                  <a:ext uri="{FF2B5EF4-FFF2-40B4-BE49-F238E27FC236}">
                    <a16:creationId xmlns:a16="http://schemas.microsoft.com/office/drawing/2014/main" id="{1127BE78-D42B-C2B0-EFFB-1C1EC3416001}"/>
                  </a:ext>
                </a:extLst>
              </p:cNvPr>
              <p:cNvSpPr/>
              <p:nvPr/>
            </p:nvSpPr>
            <p:spPr>
              <a:xfrm>
                <a:off x="3919959" y="1590531"/>
                <a:ext cx="1512243" cy="290924"/>
              </a:xfrm>
              <a:prstGeom prst="roundRect">
                <a:avLst>
                  <a:gd name="adj" fmla="val 50000"/>
                </a:avLst>
              </a:prstGeom>
              <a:solidFill>
                <a:srgbClr val="1B7B56"/>
              </a:solidFill>
              <a:ln w="19050">
                <a:solidFill>
                  <a:schemeClr val="tx1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𝑷</m:t>
                    </m:r>
                    <m:d>
                      <m:dPr>
                        <m:ctrlPr>
                          <a:rPr lang="ar-AE" sz="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ar-AE" sz="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𝑩𝑶𝑴</m:t>
                        </m:r>
                      </m:e>
                    </m:d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≥</m:t>
                    </m:r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𝟑</m:t>
                    </m:r>
                  </m:oMath>
                </a14:m>
                <a:r>
                  <a:rPr lang="ar-AE" sz="8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pt-BR" sz="8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Aprovado</a:t>
                </a:r>
              </a:p>
            </p:txBody>
          </p:sp>
        </mc:Choice>
        <mc:Fallback xmlns="">
          <p:sp>
            <p:nvSpPr>
              <p:cNvPr id="56" name="Google Shape;6658;p77">
                <a:extLst>
                  <a:ext uri="{FF2B5EF4-FFF2-40B4-BE49-F238E27FC236}">
                    <a16:creationId xmlns:a16="http://schemas.microsoft.com/office/drawing/2014/main" id="{1127BE78-D42B-C2B0-EFFB-1C1EC34160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959" y="1590531"/>
                <a:ext cx="1512243" cy="290924"/>
              </a:xfrm>
              <a:prstGeom prst="roundRect">
                <a:avLst>
                  <a:gd name="adj" fmla="val 50000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Google Shape;6658;p77">
                <a:extLst>
                  <a:ext uri="{FF2B5EF4-FFF2-40B4-BE49-F238E27FC236}">
                    <a16:creationId xmlns:a16="http://schemas.microsoft.com/office/drawing/2014/main" id="{3C84C864-96C5-FCA4-FED1-E9DC137FB4C1}"/>
                  </a:ext>
                </a:extLst>
              </p:cNvPr>
              <p:cNvSpPr/>
              <p:nvPr/>
            </p:nvSpPr>
            <p:spPr>
              <a:xfrm>
                <a:off x="3919959" y="1886797"/>
                <a:ext cx="1512243" cy="290924"/>
              </a:xfrm>
              <a:prstGeom prst="roundRect">
                <a:avLst>
                  <a:gd name="adj" fmla="val 50000"/>
                </a:avLst>
              </a:prstGeom>
              <a:solidFill>
                <a:srgbClr val="993300"/>
              </a:solidFill>
              <a:ln w="19050">
                <a:solidFill>
                  <a:schemeClr val="tx1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𝑷</m:t>
                    </m:r>
                    <m:d>
                      <m:dPr>
                        <m:ctrlPr>
                          <a:rPr lang="ar-AE" sz="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ar-AE" sz="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𝑩𝑶𝑴</m:t>
                        </m:r>
                      </m:e>
                    </m:d>
                    <m:r>
                      <a:rPr lang="pt-BR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&lt;</m:t>
                    </m:r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𝟑</m:t>
                    </m:r>
                  </m:oMath>
                </a14:m>
                <a:r>
                  <a:rPr lang="ar-AE" sz="8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pt-BR" sz="8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Negado</a:t>
                </a:r>
              </a:p>
            </p:txBody>
          </p:sp>
        </mc:Choice>
        <mc:Fallback xmlns="">
          <p:sp>
            <p:nvSpPr>
              <p:cNvPr id="57" name="Google Shape;6658;p77">
                <a:extLst>
                  <a:ext uri="{FF2B5EF4-FFF2-40B4-BE49-F238E27FC236}">
                    <a16:creationId xmlns:a16="http://schemas.microsoft.com/office/drawing/2014/main" id="{3C84C864-96C5-FCA4-FED1-E9DC137FB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959" y="1886797"/>
                <a:ext cx="1512243" cy="290924"/>
              </a:xfrm>
              <a:prstGeom prst="roundRect">
                <a:avLst>
                  <a:gd name="adj" fmla="val 50000"/>
                </a:avLst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3" name="Imagem 62">
            <a:extLst>
              <a:ext uri="{FF2B5EF4-FFF2-40B4-BE49-F238E27FC236}">
                <a16:creationId xmlns:a16="http://schemas.microsoft.com/office/drawing/2014/main" id="{18CF389E-F2B4-3A37-A688-5D7BA7F62D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2321" y="867018"/>
            <a:ext cx="5755749" cy="1797246"/>
          </a:xfrm>
          <a:prstGeom prst="rect">
            <a:avLst/>
          </a:prstGeom>
        </p:spPr>
      </p:pic>
      <p:pic>
        <p:nvPicPr>
          <p:cNvPr id="64" name="Imagem 63">
            <a:extLst>
              <a:ext uri="{FF2B5EF4-FFF2-40B4-BE49-F238E27FC236}">
                <a16:creationId xmlns:a16="http://schemas.microsoft.com/office/drawing/2014/main" id="{7355D100-CCF5-EB9F-1506-6E2E5C3C3A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2322" y="2664264"/>
            <a:ext cx="5755748" cy="2121511"/>
          </a:xfrm>
          <a:prstGeom prst="rect">
            <a:avLst/>
          </a:prstGeom>
        </p:spPr>
      </p:pic>
      <p:graphicFrame>
        <p:nvGraphicFramePr>
          <p:cNvPr id="65" name="Tabela 64">
            <a:extLst>
              <a:ext uri="{FF2B5EF4-FFF2-40B4-BE49-F238E27FC236}">
                <a16:creationId xmlns:a16="http://schemas.microsoft.com/office/drawing/2014/main" id="{EAE122B3-1E2A-9B35-D6CC-FCF4D79EA6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4864117"/>
              </p:ext>
            </p:extLst>
          </p:nvPr>
        </p:nvGraphicFramePr>
        <p:xfrm>
          <a:off x="203822" y="5561708"/>
          <a:ext cx="5755749" cy="1038798"/>
        </p:xfrm>
        <a:graphic>
          <a:graphicData uri="http://schemas.openxmlformats.org/drawingml/2006/table">
            <a:tbl>
              <a:tblPr firstRow="1" firstCol="1" bandRow="1"/>
              <a:tblGrid>
                <a:gridCol w="595529">
                  <a:extLst>
                    <a:ext uri="{9D8B030D-6E8A-4147-A177-3AD203B41FA5}">
                      <a16:colId xmlns:a16="http://schemas.microsoft.com/office/drawing/2014/main" val="385706245"/>
                    </a:ext>
                  </a:extLst>
                </a:gridCol>
                <a:gridCol w="559586">
                  <a:extLst>
                    <a:ext uri="{9D8B030D-6E8A-4147-A177-3AD203B41FA5}">
                      <a16:colId xmlns:a16="http://schemas.microsoft.com/office/drawing/2014/main" val="3410172597"/>
                    </a:ext>
                  </a:extLst>
                </a:gridCol>
                <a:gridCol w="671133">
                  <a:extLst>
                    <a:ext uri="{9D8B030D-6E8A-4147-A177-3AD203B41FA5}">
                      <a16:colId xmlns:a16="http://schemas.microsoft.com/office/drawing/2014/main" val="4226112561"/>
                    </a:ext>
                  </a:extLst>
                </a:gridCol>
                <a:gridCol w="705835">
                  <a:extLst>
                    <a:ext uri="{9D8B030D-6E8A-4147-A177-3AD203B41FA5}">
                      <a16:colId xmlns:a16="http://schemas.microsoft.com/office/drawing/2014/main" val="3842513292"/>
                    </a:ext>
                  </a:extLst>
                </a:gridCol>
                <a:gridCol w="550911">
                  <a:extLst>
                    <a:ext uri="{9D8B030D-6E8A-4147-A177-3AD203B41FA5}">
                      <a16:colId xmlns:a16="http://schemas.microsoft.com/office/drawing/2014/main" val="1136256449"/>
                    </a:ext>
                  </a:extLst>
                </a:gridCol>
                <a:gridCol w="622796">
                  <a:extLst>
                    <a:ext uri="{9D8B030D-6E8A-4147-A177-3AD203B41FA5}">
                      <a16:colId xmlns:a16="http://schemas.microsoft.com/office/drawing/2014/main" val="1789180826"/>
                    </a:ext>
                  </a:extLst>
                </a:gridCol>
                <a:gridCol w="531701">
                  <a:extLst>
                    <a:ext uri="{9D8B030D-6E8A-4147-A177-3AD203B41FA5}">
                      <a16:colId xmlns:a16="http://schemas.microsoft.com/office/drawing/2014/main" val="2078305931"/>
                    </a:ext>
                  </a:extLst>
                </a:gridCol>
                <a:gridCol w="518686">
                  <a:extLst>
                    <a:ext uri="{9D8B030D-6E8A-4147-A177-3AD203B41FA5}">
                      <a16:colId xmlns:a16="http://schemas.microsoft.com/office/drawing/2014/main" val="3293918352"/>
                    </a:ext>
                  </a:extLst>
                </a:gridCol>
                <a:gridCol w="509391">
                  <a:extLst>
                    <a:ext uri="{9D8B030D-6E8A-4147-A177-3AD203B41FA5}">
                      <a16:colId xmlns:a16="http://schemas.microsoft.com/office/drawing/2014/main" val="511044869"/>
                    </a:ext>
                  </a:extLst>
                </a:gridCol>
                <a:gridCol w="490181">
                  <a:extLst>
                    <a:ext uri="{9D8B030D-6E8A-4147-A177-3AD203B41FA5}">
                      <a16:colId xmlns:a16="http://schemas.microsoft.com/office/drawing/2014/main" val="3092306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Etapa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Método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Total de Exposição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Retorno Financeiro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ROCP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AUC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KS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88218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Amostra Final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Política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R$1.335 B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R$ 118MM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8.87%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0.19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0.44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0.26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0.67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77689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Amostra Final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Modelo Final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R$1.335 B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R$ 210MM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15.75%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0.31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0.72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0.32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738827"/>
                  </a:ext>
                </a:extLst>
              </a:tr>
            </a:tbl>
          </a:graphicData>
        </a:graphic>
      </p:graphicFrame>
      <p:graphicFrame>
        <p:nvGraphicFramePr>
          <p:cNvPr id="66" name="Tabela 65">
            <a:extLst>
              <a:ext uri="{FF2B5EF4-FFF2-40B4-BE49-F238E27FC236}">
                <a16:creationId xmlns:a16="http://schemas.microsoft.com/office/drawing/2014/main" id="{92007AE9-2E91-23E9-7180-2B86A8D114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3691075"/>
              </p:ext>
            </p:extLst>
          </p:nvPr>
        </p:nvGraphicFramePr>
        <p:xfrm>
          <a:off x="6284021" y="4887546"/>
          <a:ext cx="5734049" cy="1797246"/>
        </p:xfrm>
        <a:graphic>
          <a:graphicData uri="http://schemas.openxmlformats.org/drawingml/2006/table">
            <a:tbl>
              <a:tblPr firstRow="1" firstCol="1" bandRow="1"/>
              <a:tblGrid>
                <a:gridCol w="2024944">
                  <a:extLst>
                    <a:ext uri="{9D8B030D-6E8A-4147-A177-3AD203B41FA5}">
                      <a16:colId xmlns:a16="http://schemas.microsoft.com/office/drawing/2014/main" val="320086811"/>
                    </a:ext>
                  </a:extLst>
                </a:gridCol>
                <a:gridCol w="2018771">
                  <a:extLst>
                    <a:ext uri="{9D8B030D-6E8A-4147-A177-3AD203B41FA5}">
                      <a16:colId xmlns:a16="http://schemas.microsoft.com/office/drawing/2014/main" val="2581306591"/>
                    </a:ext>
                  </a:extLst>
                </a:gridCol>
                <a:gridCol w="1690334">
                  <a:extLst>
                    <a:ext uri="{9D8B030D-6E8A-4147-A177-3AD203B41FA5}">
                      <a16:colId xmlns:a16="http://schemas.microsoft.com/office/drawing/2014/main" val="37561790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Rating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BAD Política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BAD Modelo Final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2724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22.69%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29.10%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17.53%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19.64%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68495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14.92%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14.79%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5824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13.73%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12.65%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4186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11.39%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10.64%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84025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10.05%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8.34%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95788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8.28%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6.80%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8366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6.44%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5.49%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09897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5.04%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3.54%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55640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2.84%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1.87%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04797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8" name="Google Shape;6658;p77">
                <a:extLst>
                  <a:ext uri="{FF2B5EF4-FFF2-40B4-BE49-F238E27FC236}">
                    <a16:creationId xmlns:a16="http://schemas.microsoft.com/office/drawing/2014/main" id="{155624A4-E101-48F6-9111-0B3451F4EBA8}"/>
                  </a:ext>
                </a:extLst>
              </p:cNvPr>
              <p:cNvSpPr/>
              <p:nvPr/>
            </p:nvSpPr>
            <p:spPr>
              <a:xfrm>
                <a:off x="3935604" y="3472505"/>
                <a:ext cx="1512243" cy="290924"/>
              </a:xfrm>
              <a:prstGeom prst="roundRect">
                <a:avLst>
                  <a:gd name="adj" fmla="val 50000"/>
                </a:avLst>
              </a:prstGeom>
              <a:solidFill>
                <a:srgbClr val="1B7B56"/>
              </a:solidFill>
              <a:ln w="19050">
                <a:solidFill>
                  <a:schemeClr val="tx1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𝑷</m:t>
                    </m:r>
                    <m:d>
                      <m:dPr>
                        <m:ctrlPr>
                          <a:rPr lang="ar-AE" sz="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ar-AE" sz="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𝑩𝑶𝑴</m:t>
                        </m:r>
                      </m:e>
                    </m:d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≥</m:t>
                    </m:r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𝟑</m:t>
                    </m:r>
                  </m:oMath>
                </a14:m>
                <a:r>
                  <a:rPr lang="ar-AE" sz="8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pt-BR" sz="8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Aprovado</a:t>
                </a:r>
              </a:p>
            </p:txBody>
          </p:sp>
        </mc:Choice>
        <mc:Fallback xmlns="">
          <p:sp>
            <p:nvSpPr>
              <p:cNvPr id="68" name="Google Shape;6658;p77">
                <a:extLst>
                  <a:ext uri="{FF2B5EF4-FFF2-40B4-BE49-F238E27FC236}">
                    <a16:creationId xmlns:a16="http://schemas.microsoft.com/office/drawing/2014/main" id="{155624A4-E101-48F6-9111-0B3451F4EB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604" y="3472505"/>
                <a:ext cx="1512243" cy="290924"/>
              </a:xfrm>
              <a:prstGeom prst="roundRect">
                <a:avLst>
                  <a:gd name="adj" fmla="val 50000"/>
                </a:avLst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Google Shape;6658;p77">
                <a:extLst>
                  <a:ext uri="{FF2B5EF4-FFF2-40B4-BE49-F238E27FC236}">
                    <a16:creationId xmlns:a16="http://schemas.microsoft.com/office/drawing/2014/main" id="{CFE9D46F-BB9F-7537-6B5D-48E077C17995}"/>
                  </a:ext>
                </a:extLst>
              </p:cNvPr>
              <p:cNvSpPr/>
              <p:nvPr/>
            </p:nvSpPr>
            <p:spPr>
              <a:xfrm>
                <a:off x="3935604" y="3768771"/>
                <a:ext cx="1512243" cy="290924"/>
              </a:xfrm>
              <a:prstGeom prst="roundRect">
                <a:avLst>
                  <a:gd name="adj" fmla="val 50000"/>
                </a:avLst>
              </a:prstGeom>
              <a:solidFill>
                <a:srgbClr val="993300"/>
              </a:solidFill>
              <a:ln w="19050">
                <a:solidFill>
                  <a:schemeClr val="tx1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𝑷</m:t>
                    </m:r>
                    <m:d>
                      <m:dPr>
                        <m:ctrlPr>
                          <a:rPr lang="ar-AE" sz="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ar-AE" sz="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𝑩𝑶𝑴</m:t>
                        </m:r>
                      </m:e>
                    </m:d>
                    <m:r>
                      <a:rPr lang="pt-BR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&lt;</m:t>
                    </m:r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ar-AE" sz="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𝟑</m:t>
                    </m:r>
                  </m:oMath>
                </a14:m>
                <a:r>
                  <a:rPr lang="ar-AE" sz="8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pt-BR" sz="8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Negado</a:t>
                </a:r>
              </a:p>
            </p:txBody>
          </p:sp>
        </mc:Choice>
        <mc:Fallback xmlns="">
          <p:sp>
            <p:nvSpPr>
              <p:cNvPr id="69" name="Google Shape;6658;p77">
                <a:extLst>
                  <a:ext uri="{FF2B5EF4-FFF2-40B4-BE49-F238E27FC236}">
                    <a16:creationId xmlns:a16="http://schemas.microsoft.com/office/drawing/2014/main" id="{CFE9D46F-BB9F-7537-6B5D-48E077C179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604" y="3768771"/>
                <a:ext cx="1512243" cy="290924"/>
              </a:xfrm>
              <a:prstGeom prst="roundRect">
                <a:avLst>
                  <a:gd name="adj" fmla="val 50000"/>
                </a:avLst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769B75BE-3FAA-7F0B-FB64-A8E956347DFE}"/>
              </a:ext>
            </a:extLst>
          </p:cNvPr>
          <p:cNvSpPr/>
          <p:nvPr/>
        </p:nvSpPr>
        <p:spPr>
          <a:xfrm rot="16200000" flipH="1">
            <a:off x="2955566" y="5225178"/>
            <a:ext cx="316718" cy="134224"/>
          </a:xfrm>
          <a:prstGeom prst="rightArrow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767EB90-5D3C-29DC-0B0B-14606AB40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865320" y="511264"/>
            <a:ext cx="305499" cy="365125"/>
          </a:xfrm>
        </p:spPr>
        <p:txBody>
          <a:bodyPr/>
          <a:lstStyle/>
          <a:p>
            <a:fld id="{4A2E7D2D-E592-41F1-8B20-DBD4249F3386}" type="slidenum">
              <a:rPr lang="pt-BR" b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8</a:t>
            </a:fld>
            <a:endParaRPr lang="pt-BR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8343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1F58B-B58B-647E-6BA7-4560D6D3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ângulo 15">
            <a:extLst>
              <a:ext uri="{FF2B5EF4-FFF2-40B4-BE49-F238E27FC236}">
                <a16:creationId xmlns:a16="http://schemas.microsoft.com/office/drawing/2014/main" id="{9BB9F1F2-14EC-121B-52B0-9CCBD2AA88E7}"/>
              </a:ext>
            </a:extLst>
          </p:cNvPr>
          <p:cNvSpPr/>
          <p:nvPr/>
        </p:nvSpPr>
        <p:spPr>
          <a:xfrm>
            <a:off x="6145372" y="801727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AE1463F1-4DD4-D715-00D8-0A522E5614C5}"/>
              </a:ext>
            </a:extLst>
          </p:cNvPr>
          <p:cNvSpPr/>
          <p:nvPr/>
        </p:nvSpPr>
        <p:spPr>
          <a:xfrm>
            <a:off x="100684" y="801727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A259909-4EAF-2AE9-4369-CFCBEB0ED5D0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</a:p>
        </p:txBody>
      </p:sp>
      <p:pic>
        <p:nvPicPr>
          <p:cNvPr id="30" name="Imagem 29">
            <a:extLst>
              <a:ext uri="{FF2B5EF4-FFF2-40B4-BE49-F238E27FC236}">
                <a16:creationId xmlns:a16="http://schemas.microsoft.com/office/drawing/2014/main" id="{B54ABDE2-DC07-44E3-2E44-1095C7E16B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821" y="2177308"/>
            <a:ext cx="5585791" cy="2722529"/>
          </a:xfrm>
          <a:prstGeom prst="rect">
            <a:avLst/>
          </a:prstGeom>
        </p:spPr>
      </p:pic>
      <p:graphicFrame>
        <p:nvGraphicFramePr>
          <p:cNvPr id="32" name="Tabela 31">
            <a:extLst>
              <a:ext uri="{FF2B5EF4-FFF2-40B4-BE49-F238E27FC236}">
                <a16:creationId xmlns:a16="http://schemas.microsoft.com/office/drawing/2014/main" id="{69A45E02-A5BB-A5D0-4BB5-11097BFB56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5370780"/>
              </p:ext>
            </p:extLst>
          </p:nvPr>
        </p:nvGraphicFramePr>
        <p:xfrm>
          <a:off x="211821" y="5008144"/>
          <a:ext cx="5585792" cy="837059"/>
        </p:xfrm>
        <a:graphic>
          <a:graphicData uri="http://schemas.openxmlformats.org/drawingml/2006/table">
            <a:tbl>
              <a:tblPr firstRow="1" firstCol="1" bandRow="1"/>
              <a:tblGrid>
                <a:gridCol w="1972588">
                  <a:extLst>
                    <a:ext uri="{9D8B030D-6E8A-4147-A177-3AD203B41FA5}">
                      <a16:colId xmlns:a16="http://schemas.microsoft.com/office/drawing/2014/main" val="980792465"/>
                    </a:ext>
                  </a:extLst>
                </a:gridCol>
                <a:gridCol w="1966574">
                  <a:extLst>
                    <a:ext uri="{9D8B030D-6E8A-4147-A177-3AD203B41FA5}">
                      <a16:colId xmlns:a16="http://schemas.microsoft.com/office/drawing/2014/main" val="1437946901"/>
                    </a:ext>
                  </a:extLst>
                </a:gridCol>
                <a:gridCol w="1646630">
                  <a:extLst>
                    <a:ext uri="{9D8B030D-6E8A-4147-A177-3AD203B41FA5}">
                      <a16:colId xmlns:a16="http://schemas.microsoft.com/office/drawing/2014/main" val="8281308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1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Swap In - Swap Out</a:t>
                      </a:r>
                      <a:endParaRPr lang="pt-BR" sz="1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1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Quantidade de Pessoas</a:t>
                      </a:r>
                      <a:endParaRPr lang="pt-BR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1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ROCP Segmentado</a:t>
                      </a:r>
                      <a:endParaRPr lang="pt-BR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96835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36.38%</a:t>
                      </a:r>
                      <a:endParaRPr lang="pt-BR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23.46%</a:t>
                      </a:r>
                      <a:endParaRPr lang="pt-BR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9769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28.02%</a:t>
                      </a:r>
                      <a:endParaRPr lang="pt-BR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13.22%</a:t>
                      </a:r>
                      <a:endParaRPr lang="pt-BR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44125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35.61%</a:t>
                      </a:r>
                      <a:endParaRPr lang="pt-BR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7.59%</a:t>
                      </a:r>
                      <a:endParaRPr lang="pt-BR" sz="1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2187733"/>
                  </a:ext>
                </a:extLst>
              </a:tr>
            </a:tbl>
          </a:graphicData>
        </a:graphic>
      </p:graphicFrame>
      <p:sp>
        <p:nvSpPr>
          <p:cNvPr id="39" name="Fluxograma: Conector 38">
            <a:extLst>
              <a:ext uri="{FF2B5EF4-FFF2-40B4-BE49-F238E27FC236}">
                <a16:creationId xmlns:a16="http://schemas.microsoft.com/office/drawing/2014/main" id="{7393390D-5506-7BB5-BC29-1C05C5F43575}"/>
              </a:ext>
            </a:extLst>
          </p:cNvPr>
          <p:cNvSpPr/>
          <p:nvPr/>
        </p:nvSpPr>
        <p:spPr>
          <a:xfrm>
            <a:off x="5350704" y="5692604"/>
            <a:ext cx="70845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Fluxograma: Conector 39">
            <a:extLst>
              <a:ext uri="{FF2B5EF4-FFF2-40B4-BE49-F238E27FC236}">
                <a16:creationId xmlns:a16="http://schemas.microsoft.com/office/drawing/2014/main" id="{8294EA2A-69CE-FEAF-C0B1-50B52F204791}"/>
              </a:ext>
            </a:extLst>
          </p:cNvPr>
          <p:cNvSpPr/>
          <p:nvPr/>
        </p:nvSpPr>
        <p:spPr>
          <a:xfrm>
            <a:off x="5350703" y="5490617"/>
            <a:ext cx="70845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Fluxograma: Conector 40">
            <a:extLst>
              <a:ext uri="{FF2B5EF4-FFF2-40B4-BE49-F238E27FC236}">
                <a16:creationId xmlns:a16="http://schemas.microsoft.com/office/drawing/2014/main" id="{9877DB96-B24E-6BEE-F57B-2673D13945A8}"/>
              </a:ext>
            </a:extLst>
          </p:cNvPr>
          <p:cNvSpPr/>
          <p:nvPr/>
        </p:nvSpPr>
        <p:spPr>
          <a:xfrm>
            <a:off x="5350702" y="5274655"/>
            <a:ext cx="70845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aphicFrame>
        <p:nvGraphicFramePr>
          <p:cNvPr id="48" name="Tabela 47">
            <a:extLst>
              <a:ext uri="{FF2B5EF4-FFF2-40B4-BE49-F238E27FC236}">
                <a16:creationId xmlns:a16="http://schemas.microsoft.com/office/drawing/2014/main" id="{8659692B-563C-3DAB-835A-2668B01051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0326834"/>
              </p:ext>
            </p:extLst>
          </p:nvPr>
        </p:nvGraphicFramePr>
        <p:xfrm>
          <a:off x="7768359" y="841180"/>
          <a:ext cx="4178950" cy="204153"/>
        </p:xfrm>
        <a:graphic>
          <a:graphicData uri="http://schemas.openxmlformats.org/drawingml/2006/table">
            <a:tbl>
              <a:tblPr firstRow="1" firstCol="1" bandRow="1"/>
              <a:tblGrid>
                <a:gridCol w="1445710">
                  <a:extLst>
                    <a:ext uri="{9D8B030D-6E8A-4147-A177-3AD203B41FA5}">
                      <a16:colId xmlns:a16="http://schemas.microsoft.com/office/drawing/2014/main" val="830739868"/>
                    </a:ext>
                  </a:extLst>
                </a:gridCol>
                <a:gridCol w="1456177">
                  <a:extLst>
                    <a:ext uri="{9D8B030D-6E8A-4147-A177-3AD203B41FA5}">
                      <a16:colId xmlns:a16="http://schemas.microsoft.com/office/drawing/2014/main" val="3822666862"/>
                    </a:ext>
                  </a:extLst>
                </a:gridCol>
                <a:gridCol w="1277063">
                  <a:extLst>
                    <a:ext uri="{9D8B030D-6E8A-4147-A177-3AD203B41FA5}">
                      <a16:colId xmlns:a16="http://schemas.microsoft.com/office/drawing/2014/main" val="4516739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Swap In - Swap Out</a:t>
                      </a: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Quantidade de Pessoas</a:t>
                      </a: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ROCP Segmentado</a:t>
                      </a: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1838626"/>
                  </a:ext>
                </a:extLst>
              </a:tr>
            </a:tbl>
          </a:graphicData>
        </a:graphic>
      </p:graphicFrame>
      <p:sp>
        <p:nvSpPr>
          <p:cNvPr id="70" name="Retângulo 69">
            <a:extLst>
              <a:ext uri="{FF2B5EF4-FFF2-40B4-BE49-F238E27FC236}">
                <a16:creationId xmlns:a16="http://schemas.microsoft.com/office/drawing/2014/main" id="{0C503CC7-C088-D478-C715-6D0E2EA241B4}"/>
              </a:ext>
            </a:extLst>
          </p:cNvPr>
          <p:cNvSpPr/>
          <p:nvPr/>
        </p:nvSpPr>
        <p:spPr>
          <a:xfrm>
            <a:off x="231336" y="5903270"/>
            <a:ext cx="5585791" cy="72984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Upgrade de Rating para clientes com alta rentabilidade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Downgrade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Rating para clientes com baixa rentabilidade  </a:t>
            </a:r>
          </a:p>
        </p:txBody>
      </p:sp>
      <p:graphicFrame>
        <p:nvGraphicFramePr>
          <p:cNvPr id="76" name="Tabela 75">
            <a:extLst>
              <a:ext uri="{FF2B5EF4-FFF2-40B4-BE49-F238E27FC236}">
                <a16:creationId xmlns:a16="http://schemas.microsoft.com/office/drawing/2014/main" id="{B320BAA6-4B42-4013-2304-A8276D5EA6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154701"/>
              </p:ext>
            </p:extLst>
          </p:nvPr>
        </p:nvGraphicFramePr>
        <p:xfrm>
          <a:off x="6253911" y="1088213"/>
          <a:ext cx="5693398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60659">
                  <a:extLst>
                    <a:ext uri="{9D8B030D-6E8A-4147-A177-3AD203B41FA5}">
                      <a16:colId xmlns:a16="http://schemas.microsoft.com/office/drawing/2014/main" val="1099532154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4274424967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2404245428"/>
                    </a:ext>
                  </a:extLst>
                </a:gridCol>
                <a:gridCol w="1290269">
                  <a:extLst>
                    <a:ext uri="{9D8B030D-6E8A-4147-A177-3AD203B41FA5}">
                      <a16:colId xmlns:a16="http://schemas.microsoft.com/office/drawing/2014/main" val="347382905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Carro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23.69%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30.98%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74983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47.95%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8.09%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935592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28.36%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8.77%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114495"/>
                  </a:ext>
                </a:extLst>
              </a:tr>
            </a:tbl>
          </a:graphicData>
        </a:graphic>
      </p:graphicFrame>
      <p:sp>
        <p:nvSpPr>
          <p:cNvPr id="77" name="Fluxograma: Conector 76">
            <a:extLst>
              <a:ext uri="{FF2B5EF4-FFF2-40B4-BE49-F238E27FC236}">
                <a16:creationId xmlns:a16="http://schemas.microsoft.com/office/drawing/2014/main" id="{06EF02AB-115B-0A19-1D92-4F9BE05FB698}"/>
              </a:ext>
            </a:extLst>
          </p:cNvPr>
          <p:cNvSpPr/>
          <p:nvPr/>
        </p:nvSpPr>
        <p:spPr>
          <a:xfrm>
            <a:off x="11606218" y="1115446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78" name="Fluxograma: Conector 77">
            <a:extLst>
              <a:ext uri="{FF2B5EF4-FFF2-40B4-BE49-F238E27FC236}">
                <a16:creationId xmlns:a16="http://schemas.microsoft.com/office/drawing/2014/main" id="{358C279D-9D42-3745-276F-7A15DE30EA9B}"/>
              </a:ext>
            </a:extLst>
          </p:cNvPr>
          <p:cNvSpPr/>
          <p:nvPr/>
        </p:nvSpPr>
        <p:spPr>
          <a:xfrm>
            <a:off x="11595510" y="1483273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79" name="Fluxograma: Conector 78">
            <a:extLst>
              <a:ext uri="{FF2B5EF4-FFF2-40B4-BE49-F238E27FC236}">
                <a16:creationId xmlns:a16="http://schemas.microsoft.com/office/drawing/2014/main" id="{117BD4CD-2CA0-15A6-0D27-2B42C0B7B9FC}"/>
              </a:ext>
            </a:extLst>
          </p:cNvPr>
          <p:cNvSpPr/>
          <p:nvPr/>
        </p:nvSpPr>
        <p:spPr>
          <a:xfrm>
            <a:off x="11601364" y="1311969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graphicFrame>
        <p:nvGraphicFramePr>
          <p:cNvPr id="80" name="Tabela 79">
            <a:extLst>
              <a:ext uri="{FF2B5EF4-FFF2-40B4-BE49-F238E27FC236}">
                <a16:creationId xmlns:a16="http://schemas.microsoft.com/office/drawing/2014/main" id="{7C30567E-6C2D-98FC-C6D9-04A0F3B8CE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0118638"/>
              </p:ext>
            </p:extLst>
          </p:nvPr>
        </p:nvGraphicFramePr>
        <p:xfrm>
          <a:off x="6270346" y="1699311"/>
          <a:ext cx="5676963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56443">
                  <a:extLst>
                    <a:ext uri="{9D8B030D-6E8A-4147-A177-3AD203B41FA5}">
                      <a16:colId xmlns:a16="http://schemas.microsoft.com/office/drawing/2014/main" val="1345156902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1830694167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4056646187"/>
                    </a:ext>
                  </a:extLst>
                </a:gridCol>
                <a:gridCol w="1286544">
                  <a:extLst>
                    <a:ext uri="{9D8B030D-6E8A-4147-A177-3AD203B41FA5}">
                      <a16:colId xmlns:a16="http://schemas.microsoft.com/office/drawing/2014/main" val="2298630842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1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Casa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27.56%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30.66%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42656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26.41%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11.15%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942819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46.01%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6.62%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7670096"/>
                  </a:ext>
                </a:extLst>
              </a:tr>
            </a:tbl>
          </a:graphicData>
        </a:graphic>
      </p:graphicFrame>
      <p:sp>
        <p:nvSpPr>
          <p:cNvPr id="81" name="Fluxograma: Conector 80">
            <a:extLst>
              <a:ext uri="{FF2B5EF4-FFF2-40B4-BE49-F238E27FC236}">
                <a16:creationId xmlns:a16="http://schemas.microsoft.com/office/drawing/2014/main" id="{C8253DD0-77A1-9B4A-054A-E89AC4DB9823}"/>
              </a:ext>
            </a:extLst>
          </p:cNvPr>
          <p:cNvSpPr/>
          <p:nvPr/>
        </p:nvSpPr>
        <p:spPr>
          <a:xfrm>
            <a:off x="11594116" y="1720296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82" name="Fluxograma: Conector 81">
            <a:extLst>
              <a:ext uri="{FF2B5EF4-FFF2-40B4-BE49-F238E27FC236}">
                <a16:creationId xmlns:a16="http://schemas.microsoft.com/office/drawing/2014/main" id="{95D6AAC9-D021-5927-8503-7EC83759F509}"/>
              </a:ext>
            </a:extLst>
          </p:cNvPr>
          <p:cNvSpPr/>
          <p:nvPr/>
        </p:nvSpPr>
        <p:spPr>
          <a:xfrm>
            <a:off x="11598966" y="2095433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83" name="Fluxograma: Conector 82">
            <a:extLst>
              <a:ext uri="{FF2B5EF4-FFF2-40B4-BE49-F238E27FC236}">
                <a16:creationId xmlns:a16="http://schemas.microsoft.com/office/drawing/2014/main" id="{99481C24-EC10-0C22-ED4C-0D4F9BBC79C5}"/>
              </a:ext>
            </a:extLst>
          </p:cNvPr>
          <p:cNvSpPr/>
          <p:nvPr/>
        </p:nvSpPr>
        <p:spPr>
          <a:xfrm>
            <a:off x="11598961" y="1886146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2752AAF5-2697-5EF7-CB45-06C2920D81EE}"/>
              </a:ext>
            </a:extLst>
          </p:cNvPr>
          <p:cNvSpPr/>
          <p:nvPr/>
        </p:nvSpPr>
        <p:spPr>
          <a:xfrm>
            <a:off x="6286781" y="2847286"/>
            <a:ext cx="5693398" cy="772783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caso de produtos que por construção geralmente estão atrelados a clientes bons, o modelo conquistou grandes patamares de rentabilidade</a:t>
            </a:r>
          </a:p>
        </p:txBody>
      </p:sp>
      <p:graphicFrame>
        <p:nvGraphicFramePr>
          <p:cNvPr id="85" name="Tabela 84">
            <a:extLst>
              <a:ext uri="{FF2B5EF4-FFF2-40B4-BE49-F238E27FC236}">
                <a16:creationId xmlns:a16="http://schemas.microsoft.com/office/drawing/2014/main" id="{19E2B176-C1BA-3CE8-4300-1E3249715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7155305"/>
              </p:ext>
            </p:extLst>
          </p:nvPr>
        </p:nvGraphicFramePr>
        <p:xfrm>
          <a:off x="6286781" y="2313818"/>
          <a:ext cx="5676963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56443">
                  <a:extLst>
                    <a:ext uri="{9D8B030D-6E8A-4147-A177-3AD203B41FA5}">
                      <a16:colId xmlns:a16="http://schemas.microsoft.com/office/drawing/2014/main" val="4066644723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3569739887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2537551198"/>
                    </a:ext>
                  </a:extLst>
                </a:gridCol>
                <a:gridCol w="1286544">
                  <a:extLst>
                    <a:ext uri="{9D8B030D-6E8A-4147-A177-3AD203B41FA5}">
                      <a16:colId xmlns:a16="http://schemas.microsoft.com/office/drawing/2014/main" val="3177722514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Cartão de Crédito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22.16%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707988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31.75%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13.13%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566811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33.15%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9.31%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9746256"/>
                  </a:ext>
                </a:extLst>
              </a:tr>
            </a:tbl>
          </a:graphicData>
        </a:graphic>
      </p:graphicFrame>
      <p:sp>
        <p:nvSpPr>
          <p:cNvPr id="86" name="Fluxograma: Conector 85">
            <a:extLst>
              <a:ext uri="{FF2B5EF4-FFF2-40B4-BE49-F238E27FC236}">
                <a16:creationId xmlns:a16="http://schemas.microsoft.com/office/drawing/2014/main" id="{43C40DE1-11C4-D41D-6E53-437518B7726A}"/>
              </a:ext>
            </a:extLst>
          </p:cNvPr>
          <p:cNvSpPr/>
          <p:nvPr/>
        </p:nvSpPr>
        <p:spPr>
          <a:xfrm>
            <a:off x="11615402" y="2315659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87" name="Fluxograma: Conector 86">
            <a:extLst>
              <a:ext uri="{FF2B5EF4-FFF2-40B4-BE49-F238E27FC236}">
                <a16:creationId xmlns:a16="http://schemas.microsoft.com/office/drawing/2014/main" id="{172D7732-E3E4-AF6D-FD5B-F456595CAE70}"/>
              </a:ext>
            </a:extLst>
          </p:cNvPr>
          <p:cNvSpPr/>
          <p:nvPr/>
        </p:nvSpPr>
        <p:spPr>
          <a:xfrm>
            <a:off x="11615401" y="2505061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88" name="Fluxograma: Conector 87">
            <a:extLst>
              <a:ext uri="{FF2B5EF4-FFF2-40B4-BE49-F238E27FC236}">
                <a16:creationId xmlns:a16="http://schemas.microsoft.com/office/drawing/2014/main" id="{38BD8E80-9AAE-C74A-5B23-B1D7DBC3E4E7}"/>
              </a:ext>
            </a:extLst>
          </p:cNvPr>
          <p:cNvSpPr/>
          <p:nvPr/>
        </p:nvSpPr>
        <p:spPr>
          <a:xfrm>
            <a:off x="11615401" y="2720040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graphicFrame>
        <p:nvGraphicFramePr>
          <p:cNvPr id="89" name="Tabela 88">
            <a:extLst>
              <a:ext uri="{FF2B5EF4-FFF2-40B4-BE49-F238E27FC236}">
                <a16:creationId xmlns:a16="http://schemas.microsoft.com/office/drawing/2014/main" id="{04224EA8-1695-D990-4613-7B31C2D46D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6537830"/>
              </p:ext>
            </p:extLst>
          </p:nvPr>
        </p:nvGraphicFramePr>
        <p:xfrm>
          <a:off x="6270346" y="3940784"/>
          <a:ext cx="5676963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56443">
                  <a:extLst>
                    <a:ext uri="{9D8B030D-6E8A-4147-A177-3AD203B41FA5}">
                      <a16:colId xmlns:a16="http://schemas.microsoft.com/office/drawing/2014/main" val="288327153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1995751622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804114629"/>
                    </a:ext>
                  </a:extLst>
                </a:gridCol>
                <a:gridCol w="1286544">
                  <a:extLst>
                    <a:ext uri="{9D8B030D-6E8A-4147-A177-3AD203B41FA5}">
                      <a16:colId xmlns:a16="http://schemas.microsoft.com/office/drawing/2014/main" val="1754052120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Pequeno Negócio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26.62%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21.16%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61517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24.04%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4.69%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08856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49.34%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-2.83%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7451247"/>
                  </a:ext>
                </a:extLst>
              </a:tr>
            </a:tbl>
          </a:graphicData>
        </a:graphic>
      </p:graphicFrame>
      <p:sp>
        <p:nvSpPr>
          <p:cNvPr id="90" name="Fluxograma: Conector 89">
            <a:extLst>
              <a:ext uri="{FF2B5EF4-FFF2-40B4-BE49-F238E27FC236}">
                <a16:creationId xmlns:a16="http://schemas.microsoft.com/office/drawing/2014/main" id="{214CB3D6-C36C-90C8-D5A1-089D29AE8B61}"/>
              </a:ext>
            </a:extLst>
          </p:cNvPr>
          <p:cNvSpPr/>
          <p:nvPr/>
        </p:nvSpPr>
        <p:spPr>
          <a:xfrm>
            <a:off x="11681741" y="3958954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91" name="Fluxograma: Conector 90">
            <a:extLst>
              <a:ext uri="{FF2B5EF4-FFF2-40B4-BE49-F238E27FC236}">
                <a16:creationId xmlns:a16="http://schemas.microsoft.com/office/drawing/2014/main" id="{C4686D8A-6730-3FE9-2BDC-FACE6B5123FD}"/>
              </a:ext>
            </a:extLst>
          </p:cNvPr>
          <p:cNvSpPr/>
          <p:nvPr/>
        </p:nvSpPr>
        <p:spPr>
          <a:xfrm>
            <a:off x="11681740" y="4343531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92" name="Fluxograma: Conector 91">
            <a:extLst>
              <a:ext uri="{FF2B5EF4-FFF2-40B4-BE49-F238E27FC236}">
                <a16:creationId xmlns:a16="http://schemas.microsoft.com/office/drawing/2014/main" id="{59C62A49-4987-BA08-A97B-86816FA3C85E}"/>
              </a:ext>
            </a:extLst>
          </p:cNvPr>
          <p:cNvSpPr/>
          <p:nvPr/>
        </p:nvSpPr>
        <p:spPr>
          <a:xfrm>
            <a:off x="11676887" y="4124012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graphicFrame>
        <p:nvGraphicFramePr>
          <p:cNvPr id="93" name="Tabela 92">
            <a:extLst>
              <a:ext uri="{FF2B5EF4-FFF2-40B4-BE49-F238E27FC236}">
                <a16:creationId xmlns:a16="http://schemas.microsoft.com/office/drawing/2014/main" id="{1D38D519-FA7E-C083-9990-E1F88AC680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5012023"/>
              </p:ext>
            </p:extLst>
          </p:nvPr>
        </p:nvGraphicFramePr>
        <p:xfrm>
          <a:off x="6270346" y="4563050"/>
          <a:ext cx="5693398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60659">
                  <a:extLst>
                    <a:ext uri="{9D8B030D-6E8A-4147-A177-3AD203B41FA5}">
                      <a16:colId xmlns:a16="http://schemas.microsoft.com/office/drawing/2014/main" val="487228591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601782186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3734891598"/>
                    </a:ext>
                  </a:extLst>
                </a:gridCol>
                <a:gridCol w="1290269">
                  <a:extLst>
                    <a:ext uri="{9D8B030D-6E8A-4147-A177-3AD203B41FA5}">
                      <a16:colId xmlns:a16="http://schemas.microsoft.com/office/drawing/2014/main" val="1985909957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Educação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1.2%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29.93%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26313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6.74%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-63.09%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400261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92.13%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-15.57%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307790"/>
                  </a:ext>
                </a:extLst>
              </a:tr>
            </a:tbl>
          </a:graphicData>
        </a:graphic>
      </p:graphicFrame>
      <p:sp>
        <p:nvSpPr>
          <p:cNvPr id="94" name="Fluxograma: Conector 93">
            <a:extLst>
              <a:ext uri="{FF2B5EF4-FFF2-40B4-BE49-F238E27FC236}">
                <a16:creationId xmlns:a16="http://schemas.microsoft.com/office/drawing/2014/main" id="{C8048EDF-28AD-4EC0-10B7-4ACF549E9AA9}"/>
              </a:ext>
            </a:extLst>
          </p:cNvPr>
          <p:cNvSpPr/>
          <p:nvPr/>
        </p:nvSpPr>
        <p:spPr>
          <a:xfrm>
            <a:off x="11681741" y="4564721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95" name="Fluxograma: Conector 94">
            <a:extLst>
              <a:ext uri="{FF2B5EF4-FFF2-40B4-BE49-F238E27FC236}">
                <a16:creationId xmlns:a16="http://schemas.microsoft.com/office/drawing/2014/main" id="{04A1335D-8347-CBE7-FAF2-C8473A84DC4C}"/>
              </a:ext>
            </a:extLst>
          </p:cNvPr>
          <p:cNvSpPr/>
          <p:nvPr/>
        </p:nvSpPr>
        <p:spPr>
          <a:xfrm>
            <a:off x="11681736" y="4955190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96" name="Fluxograma: Conector 95">
            <a:extLst>
              <a:ext uri="{FF2B5EF4-FFF2-40B4-BE49-F238E27FC236}">
                <a16:creationId xmlns:a16="http://schemas.microsoft.com/office/drawing/2014/main" id="{6BD95DA5-4A91-FC3A-B99D-075F9C639219}"/>
              </a:ext>
            </a:extLst>
          </p:cNvPr>
          <p:cNvSpPr/>
          <p:nvPr/>
        </p:nvSpPr>
        <p:spPr>
          <a:xfrm>
            <a:off x="11676887" y="4754636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graphicFrame>
        <p:nvGraphicFramePr>
          <p:cNvPr id="97" name="Tabela 96">
            <a:extLst>
              <a:ext uri="{FF2B5EF4-FFF2-40B4-BE49-F238E27FC236}">
                <a16:creationId xmlns:a16="http://schemas.microsoft.com/office/drawing/2014/main" id="{B7A564F6-DF91-274A-434D-35D528521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64041"/>
              </p:ext>
            </p:extLst>
          </p:nvPr>
        </p:nvGraphicFramePr>
        <p:xfrm>
          <a:off x="6270346" y="5204632"/>
          <a:ext cx="5693398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60659">
                  <a:extLst>
                    <a:ext uri="{9D8B030D-6E8A-4147-A177-3AD203B41FA5}">
                      <a16:colId xmlns:a16="http://schemas.microsoft.com/office/drawing/2014/main" val="2247025927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4230662626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579149200"/>
                    </a:ext>
                  </a:extLst>
                </a:gridCol>
                <a:gridCol w="1290269">
                  <a:extLst>
                    <a:ext uri="{9D8B030D-6E8A-4147-A177-3AD203B41FA5}">
                      <a16:colId xmlns:a16="http://schemas.microsoft.com/office/drawing/2014/main" val="2040416797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Energia Renovável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44.29%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23.05%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814744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12.86%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-8.55%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496361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44.29%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-3.65%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0872684"/>
                  </a:ext>
                </a:extLst>
              </a:tr>
            </a:tbl>
          </a:graphicData>
        </a:graphic>
      </p:graphicFrame>
      <p:sp>
        <p:nvSpPr>
          <p:cNvPr id="98" name="Fluxograma: Conector 97">
            <a:extLst>
              <a:ext uri="{FF2B5EF4-FFF2-40B4-BE49-F238E27FC236}">
                <a16:creationId xmlns:a16="http://schemas.microsoft.com/office/drawing/2014/main" id="{8DE649E1-4079-348C-D901-60E16701EC2A}"/>
              </a:ext>
            </a:extLst>
          </p:cNvPr>
          <p:cNvSpPr/>
          <p:nvPr/>
        </p:nvSpPr>
        <p:spPr>
          <a:xfrm>
            <a:off x="11676887" y="5190404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99" name="Fluxograma: Conector 98">
            <a:extLst>
              <a:ext uri="{FF2B5EF4-FFF2-40B4-BE49-F238E27FC236}">
                <a16:creationId xmlns:a16="http://schemas.microsoft.com/office/drawing/2014/main" id="{00FA7889-2672-6EE0-AB1F-70192254F24B}"/>
              </a:ext>
            </a:extLst>
          </p:cNvPr>
          <p:cNvSpPr/>
          <p:nvPr/>
        </p:nvSpPr>
        <p:spPr>
          <a:xfrm>
            <a:off x="11681736" y="5599590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100" name="Fluxograma: Conector 99">
            <a:extLst>
              <a:ext uri="{FF2B5EF4-FFF2-40B4-BE49-F238E27FC236}">
                <a16:creationId xmlns:a16="http://schemas.microsoft.com/office/drawing/2014/main" id="{4468D171-5880-3E8A-349A-D7F06D7BB265}"/>
              </a:ext>
            </a:extLst>
          </p:cNvPr>
          <p:cNvSpPr/>
          <p:nvPr/>
        </p:nvSpPr>
        <p:spPr>
          <a:xfrm>
            <a:off x="11685096" y="5384131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101" name="Retângulo 100">
            <a:extLst>
              <a:ext uri="{FF2B5EF4-FFF2-40B4-BE49-F238E27FC236}">
                <a16:creationId xmlns:a16="http://schemas.microsoft.com/office/drawing/2014/main" id="{D5F2111A-3579-EF7C-1BC3-407F28C9CD08}"/>
              </a:ext>
            </a:extLst>
          </p:cNvPr>
          <p:cNvSpPr/>
          <p:nvPr/>
        </p:nvSpPr>
        <p:spPr>
          <a:xfrm>
            <a:off x="6270346" y="5763696"/>
            <a:ext cx="5693398" cy="871995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 produtos mais arriscados, o modelo consegue obter rentabilidade para uma parcela de clientes ao passo que também penaliza clientes que dão prejuízo</a:t>
            </a:r>
          </a:p>
        </p:txBody>
      </p:sp>
      <p:sp>
        <p:nvSpPr>
          <p:cNvPr id="102" name="Retângulo 101">
            <a:extLst>
              <a:ext uri="{FF2B5EF4-FFF2-40B4-BE49-F238E27FC236}">
                <a16:creationId xmlns:a16="http://schemas.microsoft.com/office/drawing/2014/main" id="{3258B6FC-96CB-4E23-4C18-08F4792BC723}"/>
              </a:ext>
            </a:extLst>
          </p:cNvPr>
          <p:cNvSpPr/>
          <p:nvPr/>
        </p:nvSpPr>
        <p:spPr>
          <a:xfrm>
            <a:off x="295264" y="673228"/>
            <a:ext cx="2976441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Resultados Segmentados</a:t>
            </a:r>
          </a:p>
        </p:txBody>
      </p:sp>
      <p:sp>
        <p:nvSpPr>
          <p:cNvPr id="103" name="Fluxograma: Conector 102">
            <a:extLst>
              <a:ext uri="{FF2B5EF4-FFF2-40B4-BE49-F238E27FC236}">
                <a16:creationId xmlns:a16="http://schemas.microsoft.com/office/drawing/2014/main" id="{E285BF74-7657-37BB-8730-375A5443EBD6}"/>
              </a:ext>
            </a:extLst>
          </p:cNvPr>
          <p:cNvSpPr/>
          <p:nvPr/>
        </p:nvSpPr>
        <p:spPr>
          <a:xfrm>
            <a:off x="316543" y="696776"/>
            <a:ext cx="563723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lang="pt-BR" b="1" dirty="0">
              <a:solidFill>
                <a:srgbClr val="28396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4" name="Tabela 103">
            <a:extLst>
              <a:ext uri="{FF2B5EF4-FFF2-40B4-BE49-F238E27FC236}">
                <a16:creationId xmlns:a16="http://schemas.microsoft.com/office/drawing/2014/main" id="{1D331AD9-295A-D43C-26EC-0B8242D161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4781671"/>
              </p:ext>
            </p:extLst>
          </p:nvPr>
        </p:nvGraphicFramePr>
        <p:xfrm>
          <a:off x="7768359" y="3684783"/>
          <a:ext cx="4178950" cy="204153"/>
        </p:xfrm>
        <a:graphic>
          <a:graphicData uri="http://schemas.openxmlformats.org/drawingml/2006/table">
            <a:tbl>
              <a:tblPr firstRow="1" firstCol="1" bandRow="1"/>
              <a:tblGrid>
                <a:gridCol w="1445710">
                  <a:extLst>
                    <a:ext uri="{9D8B030D-6E8A-4147-A177-3AD203B41FA5}">
                      <a16:colId xmlns:a16="http://schemas.microsoft.com/office/drawing/2014/main" val="830739868"/>
                    </a:ext>
                  </a:extLst>
                </a:gridCol>
                <a:gridCol w="1456177">
                  <a:extLst>
                    <a:ext uri="{9D8B030D-6E8A-4147-A177-3AD203B41FA5}">
                      <a16:colId xmlns:a16="http://schemas.microsoft.com/office/drawing/2014/main" val="3822666862"/>
                    </a:ext>
                  </a:extLst>
                </a:gridCol>
                <a:gridCol w="1277063">
                  <a:extLst>
                    <a:ext uri="{9D8B030D-6E8A-4147-A177-3AD203B41FA5}">
                      <a16:colId xmlns:a16="http://schemas.microsoft.com/office/drawing/2014/main" val="4516739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Swap In - Swap Out</a:t>
                      </a: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Quantidade de Pessoas</a:t>
                      </a: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ROCP Segmentado</a:t>
                      </a: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1838626"/>
                  </a:ext>
                </a:extLst>
              </a:tr>
            </a:tbl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id="{1CA461C3-15AD-4C8F-69BB-706D1CA8F4BE}"/>
              </a:ext>
            </a:extLst>
          </p:cNvPr>
          <p:cNvSpPr txBox="1"/>
          <p:nvPr/>
        </p:nvSpPr>
        <p:spPr>
          <a:xfrm>
            <a:off x="295265" y="1273975"/>
            <a:ext cx="5638810" cy="789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latin typeface="Arial" panose="020B0604020202020204" pitchFamily="34" charset="0"/>
                <a:cs typeface="Arial" panose="020B0604020202020204" pitchFamily="34" charset="0"/>
              </a:rPr>
              <a:t>Além dos resultados gerais, também pode-se entender os resultados em relação aos produtos a fim de avaliar se a metodologia performa bem nos mais variados tipos de público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CC13484-A50E-DCE8-6EDF-B07BB166B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834227" y="493969"/>
            <a:ext cx="355833" cy="365125"/>
          </a:xfrm>
        </p:spPr>
        <p:txBody>
          <a:bodyPr/>
          <a:lstStyle/>
          <a:p>
            <a:fld id="{4A2E7D2D-E592-41F1-8B20-DBD4249F3386}" type="slidenum">
              <a:rPr lang="pt-BR" b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9</a:t>
            </a:fld>
            <a:endParaRPr lang="pt-BR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0115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1F58B-B58B-647E-6BA7-4560D6D3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tângulo 78">
            <a:extLst>
              <a:ext uri="{FF2B5EF4-FFF2-40B4-BE49-F238E27FC236}">
                <a16:creationId xmlns:a16="http://schemas.microsoft.com/office/drawing/2014/main" id="{34624FBA-EEC3-AD73-9A48-65C6F0F72E66}"/>
              </a:ext>
            </a:extLst>
          </p:cNvPr>
          <p:cNvSpPr/>
          <p:nvPr/>
        </p:nvSpPr>
        <p:spPr>
          <a:xfrm>
            <a:off x="6044438" y="801727"/>
            <a:ext cx="609648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07F3D4AF-F778-1300-AC0B-7965448A305A}"/>
              </a:ext>
            </a:extLst>
          </p:cNvPr>
          <p:cNvSpPr/>
          <p:nvPr/>
        </p:nvSpPr>
        <p:spPr>
          <a:xfrm>
            <a:off x="100684" y="801727"/>
            <a:ext cx="5872520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A259909-4EAF-2AE9-4369-CFCBEB0ED5D0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CONCLUSÃO</a:t>
            </a:r>
          </a:p>
        </p:txBody>
      </p:sp>
      <p:sp>
        <p:nvSpPr>
          <p:cNvPr id="102" name="Retângulo 101">
            <a:extLst>
              <a:ext uri="{FF2B5EF4-FFF2-40B4-BE49-F238E27FC236}">
                <a16:creationId xmlns:a16="http://schemas.microsoft.com/office/drawing/2014/main" id="{3258B6FC-96CB-4E23-4C18-08F4792BC723}"/>
              </a:ext>
            </a:extLst>
          </p:cNvPr>
          <p:cNvSpPr/>
          <p:nvPr/>
        </p:nvSpPr>
        <p:spPr>
          <a:xfrm>
            <a:off x="295264" y="673228"/>
            <a:ext cx="1793595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Conclusão</a:t>
            </a:r>
          </a:p>
        </p:txBody>
      </p:sp>
      <p:sp>
        <p:nvSpPr>
          <p:cNvPr id="103" name="Fluxograma: Conector 102">
            <a:extLst>
              <a:ext uri="{FF2B5EF4-FFF2-40B4-BE49-F238E27FC236}">
                <a16:creationId xmlns:a16="http://schemas.microsoft.com/office/drawing/2014/main" id="{E285BF74-7657-37BB-8730-375A5443EBD6}"/>
              </a:ext>
            </a:extLst>
          </p:cNvPr>
          <p:cNvSpPr/>
          <p:nvPr/>
        </p:nvSpPr>
        <p:spPr>
          <a:xfrm>
            <a:off x="316543" y="696776"/>
            <a:ext cx="563723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  <a:endParaRPr lang="pt-BR" b="1" dirty="0">
              <a:solidFill>
                <a:srgbClr val="28396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Gráfico 12" descr="Homem">
            <a:extLst>
              <a:ext uri="{FF2B5EF4-FFF2-40B4-BE49-F238E27FC236}">
                <a16:creationId xmlns:a16="http://schemas.microsoft.com/office/drawing/2014/main" id="{F8D4F6ED-EDA0-159F-63A8-75C51FDA21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9891" y="4933288"/>
            <a:ext cx="499760" cy="544576"/>
          </a:xfrm>
          <a:prstGeom prst="rect">
            <a:avLst/>
          </a:prstGeom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2FA8765C-B32C-60F8-705B-A75B5C69CA28}"/>
              </a:ext>
            </a:extLst>
          </p:cNvPr>
          <p:cNvSpPr txBox="1"/>
          <p:nvPr/>
        </p:nvSpPr>
        <p:spPr>
          <a:xfrm>
            <a:off x="278391" y="5120699"/>
            <a:ext cx="1389382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Adimplentes</a:t>
            </a:r>
          </a:p>
        </p:txBody>
      </p:sp>
      <p:pic>
        <p:nvPicPr>
          <p:cNvPr id="21" name="Gráfico 20" descr="Homem">
            <a:extLst>
              <a:ext uri="{FF2B5EF4-FFF2-40B4-BE49-F238E27FC236}">
                <a16:creationId xmlns:a16="http://schemas.microsoft.com/office/drawing/2014/main" id="{1DCF2510-A4F9-8B34-FEE5-3A3AC3FEA2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9891" y="6027004"/>
            <a:ext cx="499760" cy="544576"/>
          </a:xfrm>
          <a:prstGeom prst="rect">
            <a:avLst/>
          </a:prstGeom>
        </p:spPr>
      </p:pic>
      <p:sp>
        <p:nvSpPr>
          <p:cNvPr id="23" name="CaixaDeTexto 22">
            <a:extLst>
              <a:ext uri="{FF2B5EF4-FFF2-40B4-BE49-F238E27FC236}">
                <a16:creationId xmlns:a16="http://schemas.microsoft.com/office/drawing/2014/main" id="{9C305F57-7C95-BDCB-88E5-1ECFA0AA3524}"/>
              </a:ext>
            </a:extLst>
          </p:cNvPr>
          <p:cNvSpPr txBox="1"/>
          <p:nvPr/>
        </p:nvSpPr>
        <p:spPr>
          <a:xfrm>
            <a:off x="278391" y="6176180"/>
            <a:ext cx="1389382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Inadimplentes</a:t>
            </a:r>
          </a:p>
        </p:txBody>
      </p:sp>
      <p:sp>
        <p:nvSpPr>
          <p:cNvPr id="24" name="Seta: de Cima para Baixo 23">
            <a:extLst>
              <a:ext uri="{FF2B5EF4-FFF2-40B4-BE49-F238E27FC236}">
                <a16:creationId xmlns:a16="http://schemas.microsoft.com/office/drawing/2014/main" id="{6EFBD66D-3DEC-5BC2-7790-37A6FF5E4F31}"/>
              </a:ext>
            </a:extLst>
          </p:cNvPr>
          <p:cNvSpPr/>
          <p:nvPr/>
        </p:nvSpPr>
        <p:spPr>
          <a:xfrm>
            <a:off x="347744" y="5499815"/>
            <a:ext cx="104053" cy="510446"/>
          </a:xfrm>
          <a:prstGeom prst="upDownArrow">
            <a:avLst/>
          </a:prstGeom>
          <a:solidFill>
            <a:srgbClr val="31579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ixaDeTexto 24">
                <a:extLst>
                  <a:ext uri="{FF2B5EF4-FFF2-40B4-BE49-F238E27FC236}">
                    <a16:creationId xmlns:a16="http://schemas.microsoft.com/office/drawing/2014/main" id="{1623297B-1726-E9C2-316B-DF86CA3046F2}"/>
                  </a:ext>
                </a:extLst>
              </p:cNvPr>
              <p:cNvSpPr txBox="1"/>
              <p:nvPr/>
            </p:nvSpPr>
            <p:spPr>
              <a:xfrm>
                <a:off x="420995" y="5627040"/>
                <a:ext cx="1756376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𝑴</m:t>
                      </m:r>
                      <m:r>
                        <a:rPr lang="pt-BR" sz="10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á</m:t>
                      </m:r>
                      <m:r>
                        <a:rPr lang="pt-BR" sz="10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𝒙</m:t>
                      </m:r>
                      <m:r>
                        <a:rPr lang="pt-BR" sz="10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pt-BR" sz="1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t-BR" sz="1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𝒃𝒐𝒏𝒔</m:t>
                          </m:r>
                        </m:sub>
                      </m:sSub>
                      <m:r>
                        <a:rPr lang="pt-BR" sz="10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pt-BR" sz="10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  <m:r>
                        <a:rPr lang="pt-BR" sz="10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)−</m:t>
                      </m:r>
                      <m:sSub>
                        <m:sSubPr>
                          <m:ctrlPr>
                            <a:rPr lang="pt-BR" sz="1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pt-BR" sz="1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t-BR" sz="1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𝒎𝒂𝒖𝒔</m:t>
                          </m:r>
                        </m:sub>
                      </m:sSub>
                      <m:r>
                        <a:rPr lang="pt-BR" sz="10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pt-BR" sz="10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  <m:r>
                        <a:rPr lang="pt-BR" sz="10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))</m:t>
                      </m:r>
                    </m:oMath>
                  </m:oMathPara>
                </a14:m>
                <a:endParaRPr lang="pt-BR" sz="1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CaixaDeTexto 24">
                <a:extLst>
                  <a:ext uri="{FF2B5EF4-FFF2-40B4-BE49-F238E27FC236}">
                    <a16:creationId xmlns:a16="http://schemas.microsoft.com/office/drawing/2014/main" id="{1623297B-1726-E9C2-316B-DF86CA3046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95" y="5627040"/>
                <a:ext cx="1756376" cy="246221"/>
              </a:xfrm>
              <a:prstGeom prst="rect">
                <a:avLst/>
              </a:prstGeom>
              <a:blipFill>
                <a:blip r:embed="rId7"/>
                <a:stretch>
                  <a:fillRect b="-75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CaixaDeTexto 28">
            <a:extLst>
              <a:ext uri="{FF2B5EF4-FFF2-40B4-BE49-F238E27FC236}">
                <a16:creationId xmlns:a16="http://schemas.microsoft.com/office/drawing/2014/main" id="{22D70652-96FD-23F7-62E3-177E13425192}"/>
              </a:ext>
            </a:extLst>
          </p:cNvPr>
          <p:cNvSpPr txBox="1"/>
          <p:nvPr/>
        </p:nvSpPr>
        <p:spPr>
          <a:xfrm>
            <a:off x="2850209" y="5472551"/>
            <a:ext cx="515857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Lucro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F51D4ACC-B8C3-C9A2-21BB-05B9DDBEB81B}"/>
              </a:ext>
            </a:extLst>
          </p:cNvPr>
          <p:cNvSpPr txBox="1"/>
          <p:nvPr/>
        </p:nvSpPr>
        <p:spPr>
          <a:xfrm>
            <a:off x="2772643" y="5892921"/>
            <a:ext cx="682359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Perdas</a:t>
            </a:r>
          </a:p>
        </p:txBody>
      </p:sp>
      <p:sp>
        <p:nvSpPr>
          <p:cNvPr id="31" name="Sinal de Adição 30">
            <a:extLst>
              <a:ext uri="{FF2B5EF4-FFF2-40B4-BE49-F238E27FC236}">
                <a16:creationId xmlns:a16="http://schemas.microsoft.com/office/drawing/2014/main" id="{19CDAB32-A3CE-A1EC-4289-0148070B1919}"/>
              </a:ext>
            </a:extLst>
          </p:cNvPr>
          <p:cNvSpPr/>
          <p:nvPr/>
        </p:nvSpPr>
        <p:spPr>
          <a:xfrm>
            <a:off x="2590151" y="5472551"/>
            <a:ext cx="260058" cy="246221"/>
          </a:xfrm>
          <a:prstGeom prst="mathPlus">
            <a:avLst/>
          </a:prstGeom>
          <a:solidFill>
            <a:srgbClr val="1B7B5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B7B56"/>
              </a:solidFill>
            </a:endParaRPr>
          </a:p>
        </p:txBody>
      </p:sp>
      <p:sp>
        <p:nvSpPr>
          <p:cNvPr id="33" name="Sinal de Subtração 32">
            <a:extLst>
              <a:ext uri="{FF2B5EF4-FFF2-40B4-BE49-F238E27FC236}">
                <a16:creationId xmlns:a16="http://schemas.microsoft.com/office/drawing/2014/main" id="{62F72B9C-4A20-4779-0565-F125A624F12E}"/>
              </a:ext>
            </a:extLst>
          </p:cNvPr>
          <p:cNvSpPr/>
          <p:nvPr/>
        </p:nvSpPr>
        <p:spPr>
          <a:xfrm>
            <a:off x="2590151" y="5913645"/>
            <a:ext cx="260058" cy="204774"/>
          </a:xfrm>
          <a:prstGeom prst="mathMinus">
            <a:avLst/>
          </a:prstGeom>
          <a:solidFill>
            <a:srgbClr val="9933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717BB5E9-977E-4C23-D666-ACE86C31EEAB}"/>
              </a:ext>
            </a:extLst>
          </p:cNvPr>
          <p:cNvSpPr txBox="1"/>
          <p:nvPr/>
        </p:nvSpPr>
        <p:spPr>
          <a:xfrm>
            <a:off x="295265" y="1273975"/>
            <a:ext cx="5638810" cy="140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latin typeface="Arial" panose="020B0604020202020204" pitchFamily="34" charset="0"/>
                <a:cs typeface="Arial" panose="020B0604020202020204" pitchFamily="34" charset="0"/>
              </a:rPr>
              <a:t>Dado que o principal objetivo de uma análise de risco de crédito é separar os bons e maus pagadores de modo a maximizar o retorno financeiro, concluiu-se que esta pesquisa representou um avanço ao comparar a abordagem tradicional com a abordagem direcionada por modelagem matemática e aprendizado de máquina. </a:t>
            </a:r>
          </a:p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endParaRPr lang="pt-BR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1D6B565F-CB67-2495-7D46-EBB4A07E0732}"/>
              </a:ext>
            </a:extLst>
          </p:cNvPr>
          <p:cNvSpPr txBox="1"/>
          <p:nvPr/>
        </p:nvSpPr>
        <p:spPr>
          <a:xfrm>
            <a:off x="880266" y="2328005"/>
            <a:ext cx="205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Política</a:t>
            </a:r>
          </a:p>
        </p:txBody>
      </p:sp>
      <p:sp>
        <p:nvSpPr>
          <p:cNvPr id="38" name="Sinal de Multiplicação 37">
            <a:extLst>
              <a:ext uri="{FF2B5EF4-FFF2-40B4-BE49-F238E27FC236}">
                <a16:creationId xmlns:a16="http://schemas.microsoft.com/office/drawing/2014/main" id="{5657E76E-9894-F548-CB55-C77CC49004A2}"/>
              </a:ext>
            </a:extLst>
          </p:cNvPr>
          <p:cNvSpPr/>
          <p:nvPr/>
        </p:nvSpPr>
        <p:spPr>
          <a:xfrm>
            <a:off x="2666553" y="2356839"/>
            <a:ext cx="532702" cy="584775"/>
          </a:xfrm>
          <a:prstGeom prst="mathMultiply">
            <a:avLst/>
          </a:prstGeom>
          <a:solidFill>
            <a:srgbClr val="28396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635C3F9A-1438-4E91-5416-1A8CDA3D4AEF}"/>
              </a:ext>
            </a:extLst>
          </p:cNvPr>
          <p:cNvSpPr txBox="1"/>
          <p:nvPr/>
        </p:nvSpPr>
        <p:spPr>
          <a:xfrm>
            <a:off x="2932904" y="2349297"/>
            <a:ext cx="205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Modelo</a:t>
            </a:r>
          </a:p>
        </p:txBody>
      </p:sp>
      <p:graphicFrame>
        <p:nvGraphicFramePr>
          <p:cNvPr id="40" name="Tabela 39">
            <a:extLst>
              <a:ext uri="{FF2B5EF4-FFF2-40B4-BE49-F238E27FC236}">
                <a16:creationId xmlns:a16="http://schemas.microsoft.com/office/drawing/2014/main" id="{55DF7F85-E56D-01F3-CAD5-8E5C50925D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708869"/>
              </p:ext>
            </p:extLst>
          </p:nvPr>
        </p:nvGraphicFramePr>
        <p:xfrm>
          <a:off x="802925" y="3029089"/>
          <a:ext cx="4259957" cy="1718666"/>
        </p:xfrm>
        <a:graphic>
          <a:graphicData uri="http://schemas.openxmlformats.org/drawingml/2006/table">
            <a:tbl>
              <a:tblPr firstRow="1" firstCol="1" bandRow="1"/>
              <a:tblGrid>
                <a:gridCol w="2502786">
                  <a:extLst>
                    <a:ext uri="{9D8B030D-6E8A-4147-A177-3AD203B41FA5}">
                      <a16:colId xmlns:a16="http://schemas.microsoft.com/office/drawing/2014/main" val="320086811"/>
                    </a:ext>
                  </a:extLst>
                </a:gridCol>
                <a:gridCol w="721005">
                  <a:extLst>
                    <a:ext uri="{9D8B030D-6E8A-4147-A177-3AD203B41FA5}">
                      <a16:colId xmlns:a16="http://schemas.microsoft.com/office/drawing/2014/main" val="2581306591"/>
                    </a:ext>
                  </a:extLst>
                </a:gridCol>
                <a:gridCol w="1036166">
                  <a:extLst>
                    <a:ext uri="{9D8B030D-6E8A-4147-A177-3AD203B41FA5}">
                      <a16:colId xmlns:a16="http://schemas.microsoft.com/office/drawing/2014/main" val="3756179030"/>
                    </a:ext>
                  </a:extLst>
                </a:gridCol>
              </a:tblGrid>
              <a:tr h="24467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Comparativo</a:t>
                      </a: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Política</a:t>
                      </a: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Modelo</a:t>
                      </a: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2724199"/>
                  </a:ext>
                </a:extLst>
              </a:tr>
              <a:tr h="24566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Discriminação entre Bons e Maus Pagadores</a:t>
                      </a: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3417705"/>
                  </a:ext>
                </a:extLst>
              </a:tr>
              <a:tr h="24566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Métricas Técnicas</a:t>
                      </a: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6849557"/>
                  </a:ext>
                </a:extLst>
              </a:tr>
              <a:tr h="24566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Métricas de Retorno Financeiro</a:t>
                      </a: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endParaRPr lang="pt-BR" sz="10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5824885"/>
                  </a:ext>
                </a:extLst>
              </a:tr>
              <a:tr h="24566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Estabilidade</a:t>
                      </a: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418603"/>
                  </a:ext>
                </a:extLst>
              </a:tr>
              <a:tr h="24566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dirty="0" err="1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Explicabilidade</a:t>
                      </a:r>
                      <a:endParaRPr lang="pt-BR" sz="10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178660"/>
                  </a:ext>
                </a:extLst>
              </a:tr>
              <a:tr h="24566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Automação</a:t>
                      </a: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8402539"/>
                  </a:ext>
                </a:extLst>
              </a:tr>
            </a:tbl>
          </a:graphicData>
        </a:graphic>
      </p:graphicFrame>
      <p:sp>
        <p:nvSpPr>
          <p:cNvPr id="44" name="Fluxograma: Conector 43">
            <a:extLst>
              <a:ext uri="{FF2B5EF4-FFF2-40B4-BE49-F238E27FC236}">
                <a16:creationId xmlns:a16="http://schemas.microsoft.com/office/drawing/2014/main" id="{18FE1787-AF36-79B2-327A-559161DDFF4B}"/>
              </a:ext>
            </a:extLst>
          </p:cNvPr>
          <p:cNvSpPr/>
          <p:nvPr/>
        </p:nvSpPr>
        <p:spPr>
          <a:xfrm>
            <a:off x="4496281" y="3329598"/>
            <a:ext cx="70845" cy="75583"/>
          </a:xfrm>
          <a:prstGeom prst="flowChartConnector">
            <a:avLst/>
          </a:prstGeom>
          <a:solidFill>
            <a:srgbClr val="1B7B5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Fluxograma: Conector 44">
            <a:extLst>
              <a:ext uri="{FF2B5EF4-FFF2-40B4-BE49-F238E27FC236}">
                <a16:creationId xmlns:a16="http://schemas.microsoft.com/office/drawing/2014/main" id="{4B9CAAC6-E5BE-85C7-FC43-DF14DEAD59AD}"/>
              </a:ext>
            </a:extLst>
          </p:cNvPr>
          <p:cNvSpPr/>
          <p:nvPr/>
        </p:nvSpPr>
        <p:spPr>
          <a:xfrm>
            <a:off x="4496281" y="3610883"/>
            <a:ext cx="70845" cy="75583"/>
          </a:xfrm>
          <a:prstGeom prst="flowChartConnector">
            <a:avLst/>
          </a:prstGeom>
          <a:solidFill>
            <a:srgbClr val="1B7B5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Fluxograma: Conector 45">
            <a:extLst>
              <a:ext uri="{FF2B5EF4-FFF2-40B4-BE49-F238E27FC236}">
                <a16:creationId xmlns:a16="http://schemas.microsoft.com/office/drawing/2014/main" id="{39CD17D9-C3CF-1C3F-94CC-2C32F07A4373}"/>
              </a:ext>
            </a:extLst>
          </p:cNvPr>
          <p:cNvSpPr/>
          <p:nvPr/>
        </p:nvSpPr>
        <p:spPr>
          <a:xfrm>
            <a:off x="4496281" y="3844205"/>
            <a:ext cx="70845" cy="75583"/>
          </a:xfrm>
          <a:prstGeom prst="flowChartConnector">
            <a:avLst/>
          </a:prstGeom>
          <a:solidFill>
            <a:srgbClr val="1B7B5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Fluxograma: Conector 46">
            <a:extLst>
              <a:ext uri="{FF2B5EF4-FFF2-40B4-BE49-F238E27FC236}">
                <a16:creationId xmlns:a16="http://schemas.microsoft.com/office/drawing/2014/main" id="{7CF88A34-D925-2E2F-8261-D99E7BF82F49}"/>
              </a:ext>
            </a:extLst>
          </p:cNvPr>
          <p:cNvSpPr/>
          <p:nvPr/>
        </p:nvSpPr>
        <p:spPr>
          <a:xfrm>
            <a:off x="3627699" y="4325303"/>
            <a:ext cx="70845" cy="75583"/>
          </a:xfrm>
          <a:prstGeom prst="flowChartConnector">
            <a:avLst/>
          </a:prstGeom>
          <a:solidFill>
            <a:srgbClr val="1B7B5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1" name="Fluxograma: Conector 50">
            <a:extLst>
              <a:ext uri="{FF2B5EF4-FFF2-40B4-BE49-F238E27FC236}">
                <a16:creationId xmlns:a16="http://schemas.microsoft.com/office/drawing/2014/main" id="{A51C30E1-F824-7248-88B7-FEC55B46683E}"/>
              </a:ext>
            </a:extLst>
          </p:cNvPr>
          <p:cNvSpPr/>
          <p:nvPr/>
        </p:nvSpPr>
        <p:spPr>
          <a:xfrm>
            <a:off x="3627698" y="3326732"/>
            <a:ext cx="70845" cy="75583"/>
          </a:xfrm>
          <a:prstGeom prst="flowChartConnector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2" name="Fluxograma: Conector 51">
            <a:extLst>
              <a:ext uri="{FF2B5EF4-FFF2-40B4-BE49-F238E27FC236}">
                <a16:creationId xmlns:a16="http://schemas.microsoft.com/office/drawing/2014/main" id="{CFECF4FD-66BB-464B-A3C8-8BDB5E722BAF}"/>
              </a:ext>
            </a:extLst>
          </p:cNvPr>
          <p:cNvSpPr/>
          <p:nvPr/>
        </p:nvSpPr>
        <p:spPr>
          <a:xfrm>
            <a:off x="3627698" y="3610883"/>
            <a:ext cx="70845" cy="75583"/>
          </a:xfrm>
          <a:prstGeom prst="flowChartConnector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3" name="Fluxograma: Conector 52">
            <a:extLst>
              <a:ext uri="{FF2B5EF4-FFF2-40B4-BE49-F238E27FC236}">
                <a16:creationId xmlns:a16="http://schemas.microsoft.com/office/drawing/2014/main" id="{E55BBBD7-25C1-73D2-3DD1-FF6D1B71E937}"/>
              </a:ext>
            </a:extLst>
          </p:cNvPr>
          <p:cNvSpPr/>
          <p:nvPr/>
        </p:nvSpPr>
        <p:spPr>
          <a:xfrm>
            <a:off x="3627698" y="3850630"/>
            <a:ext cx="70845" cy="75583"/>
          </a:xfrm>
          <a:prstGeom prst="flowChartConnector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4" name="Fluxograma: Conector 53">
            <a:extLst>
              <a:ext uri="{FF2B5EF4-FFF2-40B4-BE49-F238E27FC236}">
                <a16:creationId xmlns:a16="http://schemas.microsoft.com/office/drawing/2014/main" id="{DE025CB1-54EE-7BDB-E2D1-4AD194B25B4B}"/>
              </a:ext>
            </a:extLst>
          </p:cNvPr>
          <p:cNvSpPr/>
          <p:nvPr/>
        </p:nvSpPr>
        <p:spPr>
          <a:xfrm>
            <a:off x="4496281" y="4341242"/>
            <a:ext cx="70845" cy="75583"/>
          </a:xfrm>
          <a:prstGeom prst="flowChartConnector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5" name="Fluxograma: Conector 54">
            <a:extLst>
              <a:ext uri="{FF2B5EF4-FFF2-40B4-BE49-F238E27FC236}">
                <a16:creationId xmlns:a16="http://schemas.microsoft.com/office/drawing/2014/main" id="{6574055C-9DFF-CFF4-5E22-FB700C4CD558}"/>
              </a:ext>
            </a:extLst>
          </p:cNvPr>
          <p:cNvSpPr/>
          <p:nvPr/>
        </p:nvSpPr>
        <p:spPr>
          <a:xfrm>
            <a:off x="4496281" y="4109345"/>
            <a:ext cx="70845" cy="75583"/>
          </a:xfrm>
          <a:prstGeom prst="flowChartConnector">
            <a:avLst/>
          </a:prstGeom>
          <a:solidFill>
            <a:srgbClr val="1B7B5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6" name="Fluxograma: Conector 55">
            <a:extLst>
              <a:ext uri="{FF2B5EF4-FFF2-40B4-BE49-F238E27FC236}">
                <a16:creationId xmlns:a16="http://schemas.microsoft.com/office/drawing/2014/main" id="{F1D97248-4AA8-19F4-6F11-C773DEF48997}"/>
              </a:ext>
            </a:extLst>
          </p:cNvPr>
          <p:cNvSpPr/>
          <p:nvPr/>
        </p:nvSpPr>
        <p:spPr>
          <a:xfrm>
            <a:off x="3627698" y="4115770"/>
            <a:ext cx="70845" cy="75583"/>
          </a:xfrm>
          <a:prstGeom prst="flowChartConnector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7" name="Fluxograma: Conector 56">
            <a:extLst>
              <a:ext uri="{FF2B5EF4-FFF2-40B4-BE49-F238E27FC236}">
                <a16:creationId xmlns:a16="http://schemas.microsoft.com/office/drawing/2014/main" id="{623343CB-DAE9-AA14-891A-14A8FBE23FA1}"/>
              </a:ext>
            </a:extLst>
          </p:cNvPr>
          <p:cNvSpPr/>
          <p:nvPr/>
        </p:nvSpPr>
        <p:spPr>
          <a:xfrm>
            <a:off x="4496281" y="4573139"/>
            <a:ext cx="70845" cy="75583"/>
          </a:xfrm>
          <a:prstGeom prst="flowChartConnector">
            <a:avLst/>
          </a:prstGeom>
          <a:solidFill>
            <a:srgbClr val="1B7B5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Fluxograma: Conector 57">
            <a:extLst>
              <a:ext uri="{FF2B5EF4-FFF2-40B4-BE49-F238E27FC236}">
                <a16:creationId xmlns:a16="http://schemas.microsoft.com/office/drawing/2014/main" id="{2D7E245B-357D-4D3E-F674-CD15AEF6564E}"/>
              </a:ext>
            </a:extLst>
          </p:cNvPr>
          <p:cNvSpPr/>
          <p:nvPr/>
        </p:nvSpPr>
        <p:spPr>
          <a:xfrm>
            <a:off x="3627698" y="4579564"/>
            <a:ext cx="70845" cy="75583"/>
          </a:xfrm>
          <a:prstGeom prst="flowChartConnector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809D6E5E-2DC8-8CB8-7FC1-F2FBEAF41C4B}"/>
              </a:ext>
            </a:extLst>
          </p:cNvPr>
          <p:cNvSpPr/>
          <p:nvPr/>
        </p:nvSpPr>
        <p:spPr>
          <a:xfrm>
            <a:off x="207158" y="4830190"/>
            <a:ext cx="1867135" cy="18707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8B546BC9-DE1B-9DAF-1A30-8494D622BFFE}"/>
              </a:ext>
            </a:extLst>
          </p:cNvPr>
          <p:cNvSpPr/>
          <p:nvPr/>
        </p:nvSpPr>
        <p:spPr>
          <a:xfrm>
            <a:off x="2088859" y="4830190"/>
            <a:ext cx="1867135" cy="18707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0DD646F6-23E7-35F1-9F85-091FDBE0F0F7}"/>
              </a:ext>
            </a:extLst>
          </p:cNvPr>
          <p:cNvSpPr/>
          <p:nvPr/>
        </p:nvSpPr>
        <p:spPr>
          <a:xfrm>
            <a:off x="3970560" y="4830190"/>
            <a:ext cx="1867135" cy="18707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4" name="CaixaDeTexto 63">
            <a:extLst>
              <a:ext uri="{FF2B5EF4-FFF2-40B4-BE49-F238E27FC236}">
                <a16:creationId xmlns:a16="http://schemas.microsoft.com/office/drawing/2014/main" id="{AEB94491-5F44-53B8-4BE5-635FBAF7A2DB}"/>
              </a:ext>
            </a:extLst>
          </p:cNvPr>
          <p:cNvSpPr txBox="1"/>
          <p:nvPr/>
        </p:nvSpPr>
        <p:spPr>
          <a:xfrm>
            <a:off x="4765881" y="5509589"/>
            <a:ext cx="854743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Automação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62354222-1911-12A8-E70B-C3CCBADB60F9}"/>
              </a:ext>
            </a:extLst>
          </p:cNvPr>
          <p:cNvSpPr txBox="1"/>
          <p:nvPr/>
        </p:nvSpPr>
        <p:spPr>
          <a:xfrm>
            <a:off x="4688315" y="5843389"/>
            <a:ext cx="932309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Processos Manuais</a:t>
            </a:r>
          </a:p>
        </p:txBody>
      </p:sp>
      <p:sp>
        <p:nvSpPr>
          <p:cNvPr id="66" name="Sinal de Adição 65">
            <a:extLst>
              <a:ext uri="{FF2B5EF4-FFF2-40B4-BE49-F238E27FC236}">
                <a16:creationId xmlns:a16="http://schemas.microsoft.com/office/drawing/2014/main" id="{B3BBF763-9B18-BE6B-468F-DE4066CB4E15}"/>
              </a:ext>
            </a:extLst>
          </p:cNvPr>
          <p:cNvSpPr/>
          <p:nvPr/>
        </p:nvSpPr>
        <p:spPr>
          <a:xfrm>
            <a:off x="4505823" y="5509589"/>
            <a:ext cx="260058" cy="246221"/>
          </a:xfrm>
          <a:prstGeom prst="mathPlus">
            <a:avLst/>
          </a:prstGeom>
          <a:solidFill>
            <a:srgbClr val="1B7B5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B7B56"/>
              </a:solidFill>
            </a:endParaRPr>
          </a:p>
        </p:txBody>
      </p:sp>
      <p:sp>
        <p:nvSpPr>
          <p:cNvPr id="67" name="Sinal de Subtração 66">
            <a:extLst>
              <a:ext uri="{FF2B5EF4-FFF2-40B4-BE49-F238E27FC236}">
                <a16:creationId xmlns:a16="http://schemas.microsoft.com/office/drawing/2014/main" id="{209EC60C-465F-EE57-6D43-C192C3088BF9}"/>
              </a:ext>
            </a:extLst>
          </p:cNvPr>
          <p:cNvSpPr/>
          <p:nvPr/>
        </p:nvSpPr>
        <p:spPr>
          <a:xfrm>
            <a:off x="4505823" y="5950683"/>
            <a:ext cx="260058" cy="204774"/>
          </a:xfrm>
          <a:prstGeom prst="mathMinus">
            <a:avLst/>
          </a:prstGeom>
          <a:solidFill>
            <a:srgbClr val="9933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2" name="CaixaDeTexto 71">
            <a:extLst>
              <a:ext uri="{FF2B5EF4-FFF2-40B4-BE49-F238E27FC236}">
                <a16:creationId xmlns:a16="http://schemas.microsoft.com/office/drawing/2014/main" id="{6346E139-B2C8-CFD9-937C-504CCE53BE2F}"/>
              </a:ext>
            </a:extLst>
          </p:cNvPr>
          <p:cNvSpPr txBox="1"/>
          <p:nvPr/>
        </p:nvSpPr>
        <p:spPr>
          <a:xfrm>
            <a:off x="6173659" y="879513"/>
            <a:ext cx="5638810" cy="917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latin typeface="Arial" panose="020B0604020202020204" pitchFamily="34" charset="0"/>
                <a:cs typeface="Arial" panose="020B0604020202020204" pitchFamily="34" charset="0"/>
              </a:rPr>
              <a:t>Embora promissora, destacam-se algumas ressalvas a respeito das limitações deste estudo: Viés de Público e Monitoramento do Modelo.</a:t>
            </a:r>
          </a:p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endParaRPr lang="pt-BR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333D9108-B002-9551-8C13-98DD5167450B}"/>
              </a:ext>
            </a:extLst>
          </p:cNvPr>
          <p:cNvSpPr/>
          <p:nvPr/>
        </p:nvSpPr>
        <p:spPr>
          <a:xfrm>
            <a:off x="7891007" y="2378589"/>
            <a:ext cx="682181" cy="265987"/>
          </a:xfrm>
          <a:prstGeom prst="rect">
            <a:avLst/>
          </a:prstGeom>
          <a:noFill/>
          <a:ln>
            <a:solidFill>
              <a:srgbClr val="2839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Aprovados</a:t>
            </a:r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D59D50D5-85CC-9FA2-1297-0143E9FBFF56}"/>
              </a:ext>
            </a:extLst>
          </p:cNvPr>
          <p:cNvSpPr/>
          <p:nvPr/>
        </p:nvSpPr>
        <p:spPr>
          <a:xfrm>
            <a:off x="7919391" y="3710218"/>
            <a:ext cx="682181" cy="265987"/>
          </a:xfrm>
          <a:prstGeom prst="rect">
            <a:avLst/>
          </a:prstGeom>
          <a:noFill/>
          <a:ln>
            <a:solidFill>
              <a:srgbClr val="99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Negados</a:t>
            </a:r>
          </a:p>
        </p:txBody>
      </p:sp>
      <p:sp>
        <p:nvSpPr>
          <p:cNvPr id="77" name="Fluxograma: Terminação 76">
            <a:extLst>
              <a:ext uri="{FF2B5EF4-FFF2-40B4-BE49-F238E27FC236}">
                <a16:creationId xmlns:a16="http://schemas.microsoft.com/office/drawing/2014/main" id="{33731054-E3AE-C9E8-AC35-1038ABCEE70E}"/>
              </a:ext>
            </a:extLst>
          </p:cNvPr>
          <p:cNvSpPr/>
          <p:nvPr/>
        </p:nvSpPr>
        <p:spPr>
          <a:xfrm>
            <a:off x="6200426" y="3049552"/>
            <a:ext cx="1249959" cy="265987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Metodologia Antiga</a:t>
            </a:r>
          </a:p>
        </p:txBody>
      </p:sp>
      <p:sp>
        <p:nvSpPr>
          <p:cNvPr id="80" name="Chave Esquerda 79">
            <a:extLst>
              <a:ext uri="{FF2B5EF4-FFF2-40B4-BE49-F238E27FC236}">
                <a16:creationId xmlns:a16="http://schemas.microsoft.com/office/drawing/2014/main" id="{2E69E217-D6F5-33DF-53B8-59A90A11F63D}"/>
              </a:ext>
            </a:extLst>
          </p:cNvPr>
          <p:cNvSpPr/>
          <p:nvPr/>
        </p:nvSpPr>
        <p:spPr>
          <a:xfrm>
            <a:off x="8671482" y="2046114"/>
            <a:ext cx="293798" cy="917752"/>
          </a:xfrm>
          <a:prstGeom prst="leftBrace">
            <a:avLst/>
          </a:prstGeom>
          <a:ln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1" name="Chave Esquerda 80">
            <a:extLst>
              <a:ext uri="{FF2B5EF4-FFF2-40B4-BE49-F238E27FC236}">
                <a16:creationId xmlns:a16="http://schemas.microsoft.com/office/drawing/2014/main" id="{78D6D587-7C36-2C7C-E429-B4DD95D9A2D7}"/>
              </a:ext>
            </a:extLst>
          </p:cNvPr>
          <p:cNvSpPr/>
          <p:nvPr/>
        </p:nvSpPr>
        <p:spPr>
          <a:xfrm>
            <a:off x="7523797" y="2488171"/>
            <a:ext cx="293798" cy="1397346"/>
          </a:xfrm>
          <a:prstGeom prst="leftBrace">
            <a:avLst/>
          </a:prstGeom>
          <a:ln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2" name="Retângulo 81">
            <a:extLst>
              <a:ext uri="{FF2B5EF4-FFF2-40B4-BE49-F238E27FC236}">
                <a16:creationId xmlns:a16="http://schemas.microsoft.com/office/drawing/2014/main" id="{A0BE17CD-0CE8-EB59-476A-ED2798A1EADA}"/>
              </a:ext>
            </a:extLst>
          </p:cNvPr>
          <p:cNvSpPr/>
          <p:nvPr/>
        </p:nvSpPr>
        <p:spPr>
          <a:xfrm>
            <a:off x="9017146" y="1932905"/>
            <a:ext cx="905945" cy="265987"/>
          </a:xfrm>
          <a:prstGeom prst="rect">
            <a:avLst/>
          </a:prstGeom>
          <a:noFill/>
          <a:ln>
            <a:solidFill>
              <a:srgbClr val="2839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Adimplentes</a:t>
            </a:r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DB5FF8D7-780C-B1FA-AECD-DCBFC849A63C}"/>
              </a:ext>
            </a:extLst>
          </p:cNvPr>
          <p:cNvSpPr/>
          <p:nvPr/>
        </p:nvSpPr>
        <p:spPr>
          <a:xfrm>
            <a:off x="9039147" y="2847855"/>
            <a:ext cx="883944" cy="265987"/>
          </a:xfrm>
          <a:prstGeom prst="rect">
            <a:avLst/>
          </a:prstGeom>
          <a:noFill/>
          <a:ln>
            <a:solidFill>
              <a:srgbClr val="2839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Inadimplentes</a:t>
            </a:r>
          </a:p>
        </p:txBody>
      </p:sp>
      <p:sp>
        <p:nvSpPr>
          <p:cNvPr id="84" name="Chave Esquerda 83">
            <a:extLst>
              <a:ext uri="{FF2B5EF4-FFF2-40B4-BE49-F238E27FC236}">
                <a16:creationId xmlns:a16="http://schemas.microsoft.com/office/drawing/2014/main" id="{91900F30-EE19-EEDA-C4F2-1DFC5224C3C7}"/>
              </a:ext>
            </a:extLst>
          </p:cNvPr>
          <p:cNvSpPr/>
          <p:nvPr/>
        </p:nvSpPr>
        <p:spPr>
          <a:xfrm>
            <a:off x="8699266" y="3385329"/>
            <a:ext cx="293798" cy="917752"/>
          </a:xfrm>
          <a:prstGeom prst="leftBrace">
            <a:avLst/>
          </a:prstGeom>
          <a:ln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8" name="Retângulo 87">
            <a:extLst>
              <a:ext uri="{FF2B5EF4-FFF2-40B4-BE49-F238E27FC236}">
                <a16:creationId xmlns:a16="http://schemas.microsoft.com/office/drawing/2014/main" id="{372A8964-C2CC-E8C0-4D75-69FF63DDE633}"/>
              </a:ext>
            </a:extLst>
          </p:cNvPr>
          <p:cNvSpPr/>
          <p:nvPr/>
        </p:nvSpPr>
        <p:spPr>
          <a:xfrm>
            <a:off x="9022410" y="3273211"/>
            <a:ext cx="905945" cy="265987"/>
          </a:xfrm>
          <a:prstGeom prst="rect">
            <a:avLst/>
          </a:prstGeom>
          <a:noFill/>
          <a:ln>
            <a:solidFill>
              <a:srgbClr val="99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Adimplentes</a:t>
            </a:r>
          </a:p>
        </p:txBody>
      </p:sp>
      <p:sp>
        <p:nvSpPr>
          <p:cNvPr id="89" name="Retângulo 88">
            <a:extLst>
              <a:ext uri="{FF2B5EF4-FFF2-40B4-BE49-F238E27FC236}">
                <a16:creationId xmlns:a16="http://schemas.microsoft.com/office/drawing/2014/main" id="{3B13C166-D8F5-3D0B-5D8C-D4C8DDF9C77C}"/>
              </a:ext>
            </a:extLst>
          </p:cNvPr>
          <p:cNvSpPr/>
          <p:nvPr/>
        </p:nvSpPr>
        <p:spPr>
          <a:xfrm>
            <a:off x="9039147" y="4177847"/>
            <a:ext cx="883944" cy="265987"/>
          </a:xfrm>
          <a:prstGeom prst="rect">
            <a:avLst/>
          </a:prstGeom>
          <a:noFill/>
          <a:ln>
            <a:solidFill>
              <a:srgbClr val="99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Inadimplentes</a:t>
            </a:r>
          </a:p>
        </p:txBody>
      </p:sp>
      <p:sp>
        <p:nvSpPr>
          <p:cNvPr id="91" name="Retângulo 90">
            <a:extLst>
              <a:ext uri="{FF2B5EF4-FFF2-40B4-BE49-F238E27FC236}">
                <a16:creationId xmlns:a16="http://schemas.microsoft.com/office/drawing/2014/main" id="{DDBA163F-60A8-CB31-3B49-D8218EFCF38B}"/>
              </a:ext>
            </a:extLst>
          </p:cNvPr>
          <p:cNvSpPr/>
          <p:nvPr/>
        </p:nvSpPr>
        <p:spPr>
          <a:xfrm>
            <a:off x="7838817" y="1875051"/>
            <a:ext cx="2191106" cy="1284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2" name="Seta: para a Direita 91">
            <a:extLst>
              <a:ext uri="{FF2B5EF4-FFF2-40B4-BE49-F238E27FC236}">
                <a16:creationId xmlns:a16="http://schemas.microsoft.com/office/drawing/2014/main" id="{91CC65C9-D7E5-767C-96B6-26006D4D0963}"/>
              </a:ext>
            </a:extLst>
          </p:cNvPr>
          <p:cNvSpPr/>
          <p:nvPr/>
        </p:nvSpPr>
        <p:spPr>
          <a:xfrm>
            <a:off x="10146354" y="2430023"/>
            <a:ext cx="293798" cy="91454"/>
          </a:xfrm>
          <a:prstGeom prst="rightArrow">
            <a:avLst/>
          </a:prstGeom>
          <a:solidFill>
            <a:srgbClr val="28396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3" name="Retângulo 92">
            <a:extLst>
              <a:ext uri="{FF2B5EF4-FFF2-40B4-BE49-F238E27FC236}">
                <a16:creationId xmlns:a16="http://schemas.microsoft.com/office/drawing/2014/main" id="{2527C3AC-3B5E-B225-A439-F5B620C593EB}"/>
              </a:ext>
            </a:extLst>
          </p:cNvPr>
          <p:cNvSpPr/>
          <p:nvPr/>
        </p:nvSpPr>
        <p:spPr>
          <a:xfrm>
            <a:off x="10528033" y="2206517"/>
            <a:ext cx="1482515" cy="585925"/>
          </a:xfrm>
          <a:prstGeom prst="rect">
            <a:avLst/>
          </a:prstGeom>
          <a:noFill/>
          <a:ln>
            <a:solidFill>
              <a:srgbClr val="2839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pt-BR" sz="8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Modelo estimado com base nos aprovados pela metodologia anterior</a:t>
            </a:r>
          </a:p>
        </p:txBody>
      </p:sp>
      <p:sp>
        <p:nvSpPr>
          <p:cNvPr id="94" name="Seta: para a Direita 93">
            <a:extLst>
              <a:ext uri="{FF2B5EF4-FFF2-40B4-BE49-F238E27FC236}">
                <a16:creationId xmlns:a16="http://schemas.microsoft.com/office/drawing/2014/main" id="{D7631AAF-33DF-233C-06D4-70A0A3584FEF}"/>
              </a:ext>
            </a:extLst>
          </p:cNvPr>
          <p:cNvSpPr/>
          <p:nvPr/>
        </p:nvSpPr>
        <p:spPr>
          <a:xfrm>
            <a:off x="10146354" y="3798980"/>
            <a:ext cx="293798" cy="91454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rgbClr val="99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5" name="Retângulo 94">
            <a:extLst>
              <a:ext uri="{FF2B5EF4-FFF2-40B4-BE49-F238E27FC236}">
                <a16:creationId xmlns:a16="http://schemas.microsoft.com/office/drawing/2014/main" id="{FD42C9D6-F6AD-9FFA-6FCC-F8D8455FF667}"/>
              </a:ext>
            </a:extLst>
          </p:cNvPr>
          <p:cNvSpPr/>
          <p:nvPr/>
        </p:nvSpPr>
        <p:spPr>
          <a:xfrm>
            <a:off x="10528033" y="3575474"/>
            <a:ext cx="1482515" cy="585925"/>
          </a:xfrm>
          <a:prstGeom prst="rect">
            <a:avLst/>
          </a:prstGeom>
          <a:noFill/>
          <a:ln>
            <a:solidFill>
              <a:srgbClr val="99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Inferência de Negados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6658;p77">
                <a:extLst>
                  <a:ext uri="{FF2B5EF4-FFF2-40B4-BE49-F238E27FC236}">
                    <a16:creationId xmlns:a16="http://schemas.microsoft.com/office/drawing/2014/main" id="{61A7D9B1-6191-BDDB-7090-84D743561B30}"/>
                  </a:ext>
                </a:extLst>
              </p:cNvPr>
              <p:cNvSpPr/>
              <p:nvPr/>
            </p:nvSpPr>
            <p:spPr>
              <a:xfrm>
                <a:off x="8671482" y="1463767"/>
                <a:ext cx="1512243" cy="290924"/>
              </a:xfrm>
              <a:prstGeom prst="roundRect">
                <a:avLst>
                  <a:gd name="adj" fmla="val 50000"/>
                </a:avLst>
              </a:prstGeom>
              <a:solidFill>
                <a:srgbClr val="28396E"/>
              </a:solidFill>
              <a:ln w="19050">
                <a:solidFill>
                  <a:schemeClr val="tx1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8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𝑽𝒊</m:t>
                      </m:r>
                      <m:r>
                        <a:rPr lang="pt-BR" sz="8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é</m:t>
                      </m:r>
                      <m:r>
                        <a:rPr lang="pt-BR" sz="8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𝒔</m:t>
                      </m:r>
                      <m:r>
                        <a:rPr lang="pt-BR" sz="8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pt-BR" sz="8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𝒅𝒆</m:t>
                      </m:r>
                      <m:r>
                        <a:rPr lang="pt-BR" sz="8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pt-BR" sz="8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𝑷</m:t>
                      </m:r>
                      <m:r>
                        <a:rPr lang="pt-BR" sz="8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ú</m:t>
                      </m:r>
                      <m:r>
                        <a:rPr lang="pt-BR" sz="8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𝒃𝒍𝒊𝒄𝒐</m:t>
                      </m:r>
                    </m:oMath>
                  </m:oMathPara>
                </a14:m>
                <a:endParaRPr lang="pt-BR" sz="8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Google Shape;6658;p77">
                <a:extLst>
                  <a:ext uri="{FF2B5EF4-FFF2-40B4-BE49-F238E27FC236}">
                    <a16:creationId xmlns:a16="http://schemas.microsoft.com/office/drawing/2014/main" id="{61A7D9B1-6191-BDDB-7090-84D743561B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1482" y="1463767"/>
                <a:ext cx="1512243" cy="290924"/>
              </a:xfrm>
              <a:prstGeom prst="roundRect">
                <a:avLst>
                  <a:gd name="adj" fmla="val 50000"/>
                </a:avLst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6658;p77">
                <a:extLst>
                  <a:ext uri="{FF2B5EF4-FFF2-40B4-BE49-F238E27FC236}">
                    <a16:creationId xmlns:a16="http://schemas.microsoft.com/office/drawing/2014/main" id="{7E3898D4-4185-1C4A-859E-80F686E36864}"/>
                  </a:ext>
                </a:extLst>
              </p:cNvPr>
              <p:cNvSpPr/>
              <p:nvPr/>
            </p:nvSpPr>
            <p:spPr>
              <a:xfrm>
                <a:off x="8732053" y="4621063"/>
                <a:ext cx="1512243" cy="290924"/>
              </a:xfrm>
              <a:prstGeom prst="roundRect">
                <a:avLst>
                  <a:gd name="adj" fmla="val 50000"/>
                </a:avLst>
              </a:prstGeom>
              <a:solidFill>
                <a:srgbClr val="28396E"/>
              </a:solidFill>
              <a:ln w="19050">
                <a:solidFill>
                  <a:schemeClr val="tx1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8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𝑴𝒐𝒏𝒊𝒕𝒐𝒓𝒂𝒎𝒆𝒏𝒕𝒐</m:t>
                      </m:r>
                      <m:r>
                        <a:rPr lang="pt-BR" sz="8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pt-BR" sz="8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𝒅𝒐</m:t>
                      </m:r>
                      <m:r>
                        <a:rPr lang="pt-BR" sz="8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pt-BR" sz="8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𝑴𝒐𝒅𝒆𝒍𝒐</m:t>
                      </m:r>
                    </m:oMath>
                  </m:oMathPara>
                </a14:m>
                <a:endParaRPr lang="pt-BR" sz="8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Google Shape;6658;p77">
                <a:extLst>
                  <a:ext uri="{FF2B5EF4-FFF2-40B4-BE49-F238E27FC236}">
                    <a16:creationId xmlns:a16="http://schemas.microsoft.com/office/drawing/2014/main" id="{7E3898D4-4185-1C4A-859E-80F686E36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2053" y="4621063"/>
                <a:ext cx="1512243" cy="290924"/>
              </a:xfrm>
              <a:prstGeom prst="roundRect">
                <a:avLst>
                  <a:gd name="adj" fmla="val 50000"/>
                </a:avLst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898AC9AD-2A68-57FF-248F-06F5F37E0381}"/>
              </a:ext>
            </a:extLst>
          </p:cNvPr>
          <p:cNvSpPr/>
          <p:nvPr/>
        </p:nvSpPr>
        <p:spPr>
          <a:xfrm>
            <a:off x="6883606" y="5771942"/>
            <a:ext cx="1646767" cy="228742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0.61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D7A678F-924B-FB81-4715-4529E9007B6D}"/>
              </a:ext>
            </a:extLst>
          </p:cNvPr>
          <p:cNvSpPr/>
          <p:nvPr/>
        </p:nvSpPr>
        <p:spPr>
          <a:xfrm>
            <a:off x="6885181" y="6064060"/>
            <a:ext cx="1646766" cy="228742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0.72</a:t>
            </a:r>
          </a:p>
        </p:txBody>
      </p:sp>
      <p:sp>
        <p:nvSpPr>
          <p:cNvPr id="7" name="Fluxograma: Terminação 6">
            <a:extLst>
              <a:ext uri="{FF2B5EF4-FFF2-40B4-BE49-F238E27FC236}">
                <a16:creationId xmlns:a16="http://schemas.microsoft.com/office/drawing/2014/main" id="{D3BB3C51-ADFD-E9D6-4AEE-4CF97D02F0D7}"/>
              </a:ext>
            </a:extLst>
          </p:cNvPr>
          <p:cNvSpPr/>
          <p:nvPr/>
        </p:nvSpPr>
        <p:spPr>
          <a:xfrm>
            <a:off x="6104278" y="5737666"/>
            <a:ext cx="697413" cy="265987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Recall</a:t>
            </a:r>
          </a:p>
        </p:txBody>
      </p:sp>
      <p:sp>
        <p:nvSpPr>
          <p:cNvPr id="10" name="Fluxograma: Terminação 9">
            <a:extLst>
              <a:ext uri="{FF2B5EF4-FFF2-40B4-BE49-F238E27FC236}">
                <a16:creationId xmlns:a16="http://schemas.microsoft.com/office/drawing/2014/main" id="{87AFD27C-7BD1-1409-B393-12B5EA05220F}"/>
              </a:ext>
            </a:extLst>
          </p:cNvPr>
          <p:cNvSpPr/>
          <p:nvPr/>
        </p:nvSpPr>
        <p:spPr>
          <a:xfrm>
            <a:off x="6119339" y="6035037"/>
            <a:ext cx="697413" cy="265987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AUC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0F91F521-989D-034C-D278-13124FE425F6}"/>
              </a:ext>
            </a:extLst>
          </p:cNvPr>
          <p:cNvSpPr/>
          <p:nvPr/>
        </p:nvSpPr>
        <p:spPr>
          <a:xfrm>
            <a:off x="6886141" y="6345089"/>
            <a:ext cx="1645805" cy="228742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0.32</a:t>
            </a:r>
          </a:p>
        </p:txBody>
      </p:sp>
      <p:sp>
        <p:nvSpPr>
          <p:cNvPr id="12" name="Fluxograma: Terminação 11">
            <a:extLst>
              <a:ext uri="{FF2B5EF4-FFF2-40B4-BE49-F238E27FC236}">
                <a16:creationId xmlns:a16="http://schemas.microsoft.com/office/drawing/2014/main" id="{094D4510-B9BC-C59A-3D6C-DB1B0272028A}"/>
              </a:ext>
            </a:extLst>
          </p:cNvPr>
          <p:cNvSpPr/>
          <p:nvPr/>
        </p:nvSpPr>
        <p:spPr>
          <a:xfrm>
            <a:off x="6117142" y="6326466"/>
            <a:ext cx="697413" cy="265987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KS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34781B7D-E484-3802-5E10-BBACE920603A}"/>
              </a:ext>
            </a:extLst>
          </p:cNvPr>
          <p:cNvSpPr/>
          <p:nvPr/>
        </p:nvSpPr>
        <p:spPr>
          <a:xfrm>
            <a:off x="6885180" y="5466701"/>
            <a:ext cx="1657118" cy="228742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Rating 0: 29% ~ Rating 9: 1.87%</a:t>
            </a:r>
          </a:p>
        </p:txBody>
      </p:sp>
      <p:sp>
        <p:nvSpPr>
          <p:cNvPr id="18" name="Fluxograma: Terminação 17">
            <a:extLst>
              <a:ext uri="{FF2B5EF4-FFF2-40B4-BE49-F238E27FC236}">
                <a16:creationId xmlns:a16="http://schemas.microsoft.com/office/drawing/2014/main" id="{C267FF14-0DC9-E200-2DF8-6D41FFFCBF28}"/>
              </a:ext>
            </a:extLst>
          </p:cNvPr>
          <p:cNvSpPr/>
          <p:nvPr/>
        </p:nvSpPr>
        <p:spPr>
          <a:xfrm>
            <a:off x="6104278" y="5448079"/>
            <a:ext cx="697413" cy="265987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%BAD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F82727F8-0667-77A7-A1C5-543C9BB28CB8}"/>
              </a:ext>
            </a:extLst>
          </p:cNvPr>
          <p:cNvSpPr/>
          <p:nvPr/>
        </p:nvSpPr>
        <p:spPr>
          <a:xfrm>
            <a:off x="7299434" y="5106599"/>
            <a:ext cx="801548" cy="265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Safra 202403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6F604AA3-7ABC-6F0D-F8CF-415786E98AC0}"/>
              </a:ext>
            </a:extLst>
          </p:cNvPr>
          <p:cNvSpPr/>
          <p:nvPr/>
        </p:nvSpPr>
        <p:spPr>
          <a:xfrm>
            <a:off x="8671573" y="5771942"/>
            <a:ext cx="1646767" cy="228742"/>
          </a:xfrm>
          <a:prstGeom prst="rect">
            <a:avLst/>
          </a:prstGeom>
          <a:solidFill>
            <a:srgbClr val="1B7B5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31A3B718-7708-5334-7B5B-AC4A080C0BF4}"/>
              </a:ext>
            </a:extLst>
          </p:cNvPr>
          <p:cNvSpPr/>
          <p:nvPr/>
        </p:nvSpPr>
        <p:spPr>
          <a:xfrm>
            <a:off x="8673148" y="6064060"/>
            <a:ext cx="1646766" cy="228742"/>
          </a:xfrm>
          <a:prstGeom prst="rect">
            <a:avLst/>
          </a:prstGeom>
          <a:solidFill>
            <a:srgbClr val="1B7B5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87A0A5B6-6699-1F63-F4EC-96F9B5F22F27}"/>
              </a:ext>
            </a:extLst>
          </p:cNvPr>
          <p:cNvSpPr/>
          <p:nvPr/>
        </p:nvSpPr>
        <p:spPr>
          <a:xfrm>
            <a:off x="8674108" y="6345089"/>
            <a:ext cx="1645805" cy="228742"/>
          </a:xfrm>
          <a:prstGeom prst="rect">
            <a:avLst/>
          </a:prstGeom>
          <a:solidFill>
            <a:srgbClr val="1B7B5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D2DC3EA0-5479-32E6-270F-D4C3E846C306}"/>
              </a:ext>
            </a:extLst>
          </p:cNvPr>
          <p:cNvSpPr/>
          <p:nvPr/>
        </p:nvSpPr>
        <p:spPr>
          <a:xfrm>
            <a:off x="8673147" y="5466701"/>
            <a:ext cx="1645193" cy="228742"/>
          </a:xfrm>
          <a:prstGeom prst="rect">
            <a:avLst/>
          </a:prstGeom>
          <a:solidFill>
            <a:srgbClr val="1B7B5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F2F62A9C-FBAF-599A-7ECD-014E6A84FDA4}"/>
              </a:ext>
            </a:extLst>
          </p:cNvPr>
          <p:cNvSpPr/>
          <p:nvPr/>
        </p:nvSpPr>
        <p:spPr>
          <a:xfrm>
            <a:off x="9087401" y="5106599"/>
            <a:ext cx="801548" cy="265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Safra 202404</a:t>
            </a:r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1BC484A0-94B0-A1B3-874C-95C85BB6C0C8}"/>
              </a:ext>
            </a:extLst>
          </p:cNvPr>
          <p:cNvSpPr/>
          <p:nvPr/>
        </p:nvSpPr>
        <p:spPr>
          <a:xfrm>
            <a:off x="10426882" y="5771942"/>
            <a:ext cx="1646767" cy="22874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8BB210EE-C136-38EA-5E13-EFCDAD096123}"/>
              </a:ext>
            </a:extLst>
          </p:cNvPr>
          <p:cNvSpPr/>
          <p:nvPr/>
        </p:nvSpPr>
        <p:spPr>
          <a:xfrm>
            <a:off x="10428457" y="6064060"/>
            <a:ext cx="1646766" cy="22874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CE8CE1E5-B20F-E6E8-F84A-DF36032CF6E6}"/>
              </a:ext>
            </a:extLst>
          </p:cNvPr>
          <p:cNvSpPr/>
          <p:nvPr/>
        </p:nvSpPr>
        <p:spPr>
          <a:xfrm>
            <a:off x="10429417" y="6345089"/>
            <a:ext cx="1645805" cy="22874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E250E13B-472E-14C5-60A3-D4BB5A1F3293}"/>
              </a:ext>
            </a:extLst>
          </p:cNvPr>
          <p:cNvSpPr/>
          <p:nvPr/>
        </p:nvSpPr>
        <p:spPr>
          <a:xfrm>
            <a:off x="10428456" y="5466701"/>
            <a:ext cx="1643416" cy="22874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28D5FA5F-27C7-234D-CE90-B60F11B98C1E}"/>
              </a:ext>
            </a:extLst>
          </p:cNvPr>
          <p:cNvSpPr/>
          <p:nvPr/>
        </p:nvSpPr>
        <p:spPr>
          <a:xfrm>
            <a:off x="10842710" y="5106599"/>
            <a:ext cx="801548" cy="265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Safra 202405</a:t>
            </a:r>
          </a:p>
        </p:txBody>
      </p:sp>
      <p:cxnSp>
        <p:nvCxnSpPr>
          <p:cNvPr id="68" name="Conector reto 67">
            <a:extLst>
              <a:ext uri="{FF2B5EF4-FFF2-40B4-BE49-F238E27FC236}">
                <a16:creationId xmlns:a16="http://schemas.microsoft.com/office/drawing/2014/main" id="{1227738B-DEF7-4163-6186-1A4EBAE98ADE}"/>
              </a:ext>
            </a:extLst>
          </p:cNvPr>
          <p:cNvCxnSpPr>
            <a:cxnSpLocks/>
          </p:cNvCxnSpPr>
          <p:nvPr/>
        </p:nvCxnSpPr>
        <p:spPr>
          <a:xfrm>
            <a:off x="8613532" y="5051786"/>
            <a:ext cx="0" cy="1728219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ector reto 77">
            <a:extLst>
              <a:ext uri="{FF2B5EF4-FFF2-40B4-BE49-F238E27FC236}">
                <a16:creationId xmlns:a16="http://schemas.microsoft.com/office/drawing/2014/main" id="{81FF45D3-521F-7286-9D82-969F9EA0B141}"/>
              </a:ext>
            </a:extLst>
          </p:cNvPr>
          <p:cNvCxnSpPr>
            <a:cxnSpLocks/>
          </p:cNvCxnSpPr>
          <p:nvPr/>
        </p:nvCxnSpPr>
        <p:spPr>
          <a:xfrm>
            <a:off x="10382202" y="5031062"/>
            <a:ext cx="0" cy="1728219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tângulo 84">
            <a:extLst>
              <a:ext uri="{FF2B5EF4-FFF2-40B4-BE49-F238E27FC236}">
                <a16:creationId xmlns:a16="http://schemas.microsoft.com/office/drawing/2014/main" id="{E5C19F1E-6C0D-0FFC-0F56-F7D9251D7A55}"/>
              </a:ext>
            </a:extLst>
          </p:cNvPr>
          <p:cNvSpPr/>
          <p:nvPr/>
        </p:nvSpPr>
        <p:spPr>
          <a:xfrm>
            <a:off x="7833674" y="3245035"/>
            <a:ext cx="2191106" cy="1284626"/>
          </a:xfrm>
          <a:prstGeom prst="rect">
            <a:avLst/>
          </a:prstGeom>
          <a:noFill/>
          <a:ln>
            <a:solidFill>
              <a:srgbClr val="9933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6" name="Espaço Reservado para Número de Slide 85">
            <a:extLst>
              <a:ext uri="{FF2B5EF4-FFF2-40B4-BE49-F238E27FC236}">
                <a16:creationId xmlns:a16="http://schemas.microsoft.com/office/drawing/2014/main" id="{687DC6B9-7650-0D23-454A-B98CE1369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843479" y="529188"/>
            <a:ext cx="339055" cy="365125"/>
          </a:xfrm>
        </p:spPr>
        <p:txBody>
          <a:bodyPr/>
          <a:lstStyle/>
          <a:p>
            <a:fld id="{4A2E7D2D-E592-41F1-8B20-DBD4249F3386}" type="slidenum">
              <a:rPr lang="pt-BR" b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10</a:t>
            </a:fld>
            <a:endParaRPr lang="pt-BR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4498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1D3BA-1DAD-B90C-343F-10465245B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id="{DB56AC0E-6DE4-929A-0030-3823BD42DA49}"/>
              </a:ext>
            </a:extLst>
          </p:cNvPr>
          <p:cNvSpPr/>
          <p:nvPr/>
        </p:nvSpPr>
        <p:spPr>
          <a:xfrm rot="5400000" flipH="1">
            <a:off x="6675591" y="1912044"/>
            <a:ext cx="6858000" cy="3033911"/>
          </a:xfrm>
          <a:prstGeom prst="rect">
            <a:avLst/>
          </a:prstGeom>
          <a:solidFill>
            <a:srgbClr val="28396E"/>
          </a:solidFill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AC865A7-2DB1-2A8E-0FE6-D9B3ACF98C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0453" y="418011"/>
            <a:ext cx="5051394" cy="753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E5F632A6-14AA-909E-394D-E2E611445D62}"/>
              </a:ext>
            </a:extLst>
          </p:cNvPr>
          <p:cNvSpPr txBox="1"/>
          <p:nvPr/>
        </p:nvSpPr>
        <p:spPr>
          <a:xfrm>
            <a:off x="310392" y="2732334"/>
            <a:ext cx="72229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latin typeface="Arial" panose="020B0604020202020204" pitchFamily="34" charset="0"/>
                <a:cs typeface="Arial" panose="020B0604020202020204" pitchFamily="34" charset="0"/>
              </a:rPr>
              <a:t>OBRIGADO!</a:t>
            </a:r>
          </a:p>
        </p:txBody>
      </p:sp>
      <p:grpSp>
        <p:nvGrpSpPr>
          <p:cNvPr id="14" name="Group 4">
            <a:extLst>
              <a:ext uri="{FF2B5EF4-FFF2-40B4-BE49-F238E27FC236}">
                <a16:creationId xmlns:a16="http://schemas.microsoft.com/office/drawing/2014/main" id="{0BA0A289-53F4-6A3B-66BC-4DA06E71C2C2}"/>
              </a:ext>
            </a:extLst>
          </p:cNvPr>
          <p:cNvGrpSpPr/>
          <p:nvPr/>
        </p:nvGrpSpPr>
        <p:grpSpPr>
          <a:xfrm>
            <a:off x="8292378" y="0"/>
            <a:ext cx="3718851" cy="6858000"/>
            <a:chOff x="0" y="0"/>
            <a:chExt cx="7437701" cy="13716000"/>
          </a:xfrm>
        </p:grpSpPr>
        <p:pic>
          <p:nvPicPr>
            <p:cNvPr id="15" name="Picture 5">
              <a:extLst>
                <a:ext uri="{FF2B5EF4-FFF2-40B4-BE49-F238E27FC236}">
                  <a16:creationId xmlns:a16="http://schemas.microsoft.com/office/drawing/2014/main" id="{6D9E8A31-3F00-0D67-1BC1-4023164F46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6034" r="38040"/>
            <a:stretch>
              <a:fillRect/>
            </a:stretch>
          </p:blipFill>
          <p:spPr>
            <a:xfrm>
              <a:off x="0" y="0"/>
              <a:ext cx="7437701" cy="13716000"/>
            </a:xfrm>
            <a:prstGeom prst="rect">
              <a:avLst/>
            </a:prstGeom>
          </p:spPr>
        </p:pic>
      </p:grp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A624B10-C4D2-6655-ED04-34122F36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9103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01BA30-8FE4-9656-2201-E76FBD159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Retângulo 128">
            <a:extLst>
              <a:ext uri="{FF2B5EF4-FFF2-40B4-BE49-F238E27FC236}">
                <a16:creationId xmlns:a16="http://schemas.microsoft.com/office/drawing/2014/main" id="{3D224878-E01F-B622-367B-F84FB69F5DC0}"/>
              </a:ext>
            </a:extLst>
          </p:cNvPr>
          <p:cNvSpPr/>
          <p:nvPr/>
        </p:nvSpPr>
        <p:spPr>
          <a:xfrm>
            <a:off x="4660583" y="894790"/>
            <a:ext cx="7448467" cy="58978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>
                  <a:lumMod val="95000"/>
                </a:schemeClr>
              </a:solidFill>
            </a:endParaRPr>
          </a:p>
        </p:txBody>
      </p:sp>
      <p:cxnSp>
        <p:nvCxnSpPr>
          <p:cNvPr id="145" name="Conector reto 144">
            <a:extLst>
              <a:ext uri="{FF2B5EF4-FFF2-40B4-BE49-F238E27FC236}">
                <a16:creationId xmlns:a16="http://schemas.microsoft.com/office/drawing/2014/main" id="{B9D7268A-A0CF-5253-C863-A80FF1D521E1}"/>
              </a:ext>
            </a:extLst>
          </p:cNvPr>
          <p:cNvCxnSpPr>
            <a:cxnSpLocks/>
          </p:cNvCxnSpPr>
          <p:nvPr/>
        </p:nvCxnSpPr>
        <p:spPr>
          <a:xfrm>
            <a:off x="10914941" y="2450977"/>
            <a:ext cx="0" cy="279893"/>
          </a:xfrm>
          <a:prstGeom prst="line">
            <a:avLst/>
          </a:prstGeom>
          <a:ln w="1905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ector reto 138">
            <a:extLst>
              <a:ext uri="{FF2B5EF4-FFF2-40B4-BE49-F238E27FC236}">
                <a16:creationId xmlns:a16="http://schemas.microsoft.com/office/drawing/2014/main" id="{CF572BF5-D8A9-9302-85CF-88EBF2D269FE}"/>
              </a:ext>
            </a:extLst>
          </p:cNvPr>
          <p:cNvCxnSpPr>
            <a:cxnSpLocks/>
          </p:cNvCxnSpPr>
          <p:nvPr/>
        </p:nvCxnSpPr>
        <p:spPr>
          <a:xfrm>
            <a:off x="9794187" y="2933828"/>
            <a:ext cx="0" cy="279893"/>
          </a:xfrm>
          <a:prstGeom prst="line">
            <a:avLst/>
          </a:prstGeom>
          <a:ln w="1905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ector reto 136">
            <a:extLst>
              <a:ext uri="{FF2B5EF4-FFF2-40B4-BE49-F238E27FC236}">
                <a16:creationId xmlns:a16="http://schemas.microsoft.com/office/drawing/2014/main" id="{0E48453D-9567-3E51-EB6C-11EFF48DD6E4}"/>
              </a:ext>
            </a:extLst>
          </p:cNvPr>
          <p:cNvCxnSpPr>
            <a:cxnSpLocks/>
          </p:cNvCxnSpPr>
          <p:nvPr/>
        </p:nvCxnSpPr>
        <p:spPr>
          <a:xfrm>
            <a:off x="7343879" y="2918236"/>
            <a:ext cx="0" cy="279893"/>
          </a:xfrm>
          <a:prstGeom prst="line">
            <a:avLst/>
          </a:prstGeom>
          <a:ln w="1905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ector reto 134">
            <a:extLst>
              <a:ext uri="{FF2B5EF4-FFF2-40B4-BE49-F238E27FC236}">
                <a16:creationId xmlns:a16="http://schemas.microsoft.com/office/drawing/2014/main" id="{71ABE8F4-42AA-A959-A706-75364B08B445}"/>
              </a:ext>
            </a:extLst>
          </p:cNvPr>
          <p:cNvCxnSpPr>
            <a:cxnSpLocks/>
          </p:cNvCxnSpPr>
          <p:nvPr/>
        </p:nvCxnSpPr>
        <p:spPr>
          <a:xfrm>
            <a:off x="6118725" y="2427827"/>
            <a:ext cx="0" cy="279893"/>
          </a:xfrm>
          <a:prstGeom prst="line">
            <a:avLst/>
          </a:prstGeom>
          <a:ln w="1905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ector reto 137">
            <a:extLst>
              <a:ext uri="{FF2B5EF4-FFF2-40B4-BE49-F238E27FC236}">
                <a16:creationId xmlns:a16="http://schemas.microsoft.com/office/drawing/2014/main" id="{C4602F83-9258-F3D8-C422-85179FBF9467}"/>
              </a:ext>
            </a:extLst>
          </p:cNvPr>
          <p:cNvCxnSpPr>
            <a:cxnSpLocks/>
          </p:cNvCxnSpPr>
          <p:nvPr/>
        </p:nvCxnSpPr>
        <p:spPr>
          <a:xfrm>
            <a:off x="8569033" y="2427826"/>
            <a:ext cx="0" cy="279893"/>
          </a:xfrm>
          <a:prstGeom prst="line">
            <a:avLst/>
          </a:prstGeom>
          <a:ln w="1905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tângulo 8">
            <a:extLst>
              <a:ext uri="{FF2B5EF4-FFF2-40B4-BE49-F238E27FC236}">
                <a16:creationId xmlns:a16="http://schemas.microsoft.com/office/drawing/2014/main" id="{1E5EB17B-7EAD-03EF-228C-AE157EAC5292}"/>
              </a:ext>
            </a:extLst>
          </p:cNvPr>
          <p:cNvSpPr/>
          <p:nvPr/>
        </p:nvSpPr>
        <p:spPr>
          <a:xfrm>
            <a:off x="82950" y="894790"/>
            <a:ext cx="4400272" cy="58978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085ABB5D-A37C-1F72-353E-8F002B88097E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ENTENDIMENTO DO RISCO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A0650BA-4EAB-A658-D7BA-A8AA38408E74}"/>
              </a:ext>
            </a:extLst>
          </p:cNvPr>
          <p:cNvSpPr txBox="1"/>
          <p:nvPr/>
        </p:nvSpPr>
        <p:spPr>
          <a:xfrm>
            <a:off x="82950" y="1243719"/>
            <a:ext cx="4051873" cy="1031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Por tratar-se de uma “operação de confiança”, a concessão é realizada sob condições de incerteza e toda vez que há uma antecipação de recursos há chances da não recuperação do valor:</a:t>
            </a:r>
            <a:endParaRPr lang="pt-BR" sz="1050" b="1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65660E4-A247-E16B-6B44-2E8FD6CDDD7B}"/>
              </a:ext>
            </a:extLst>
          </p:cNvPr>
          <p:cNvSpPr/>
          <p:nvPr/>
        </p:nvSpPr>
        <p:spPr>
          <a:xfrm>
            <a:off x="295266" y="673228"/>
            <a:ext cx="2456323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risco da operação</a:t>
            </a:r>
          </a:p>
        </p:txBody>
      </p:sp>
      <p:sp>
        <p:nvSpPr>
          <p:cNvPr id="11" name="Google Shape;2205;p34">
            <a:extLst>
              <a:ext uri="{FF2B5EF4-FFF2-40B4-BE49-F238E27FC236}">
                <a16:creationId xmlns:a16="http://schemas.microsoft.com/office/drawing/2014/main" id="{FE3F964A-8ECC-7E39-3723-71FCD37B3971}"/>
              </a:ext>
            </a:extLst>
          </p:cNvPr>
          <p:cNvSpPr/>
          <p:nvPr/>
        </p:nvSpPr>
        <p:spPr>
          <a:xfrm>
            <a:off x="1861249" y="2993665"/>
            <a:ext cx="804865" cy="804865"/>
          </a:xfrm>
          <a:prstGeom prst="ellipse">
            <a:avLst/>
          </a:prstGeom>
          <a:solidFill>
            <a:srgbClr val="28396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2206;p34">
            <a:extLst>
              <a:ext uri="{FF2B5EF4-FFF2-40B4-BE49-F238E27FC236}">
                <a16:creationId xmlns:a16="http://schemas.microsoft.com/office/drawing/2014/main" id="{7A1F3952-4D1B-273A-1D9A-FA26A09606C2}"/>
              </a:ext>
            </a:extLst>
          </p:cNvPr>
          <p:cNvSpPr/>
          <p:nvPr/>
        </p:nvSpPr>
        <p:spPr>
          <a:xfrm>
            <a:off x="1921101" y="3053596"/>
            <a:ext cx="684999" cy="68499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" name="Google Shape;2208;p34">
            <a:extLst>
              <a:ext uri="{FF2B5EF4-FFF2-40B4-BE49-F238E27FC236}">
                <a16:creationId xmlns:a16="http://schemas.microsoft.com/office/drawing/2014/main" id="{E38E8475-5CDE-70A9-186C-76F7CBE62D32}"/>
              </a:ext>
            </a:extLst>
          </p:cNvPr>
          <p:cNvSpPr/>
          <p:nvPr/>
        </p:nvSpPr>
        <p:spPr>
          <a:xfrm>
            <a:off x="2090612" y="3408389"/>
            <a:ext cx="345977" cy="116019"/>
          </a:xfrm>
          <a:custGeom>
            <a:avLst/>
            <a:gdLst/>
            <a:ahLst/>
            <a:cxnLst/>
            <a:rect l="l" t="t" r="r" b="b"/>
            <a:pathLst>
              <a:path w="10807" h="3624" extrusionOk="0">
                <a:moveTo>
                  <a:pt x="2111" y="1"/>
                </a:moveTo>
                <a:cubicBezTo>
                  <a:pt x="945" y="1"/>
                  <a:pt x="0" y="946"/>
                  <a:pt x="0" y="2080"/>
                </a:cubicBezTo>
                <a:lnTo>
                  <a:pt x="0" y="3183"/>
                </a:lnTo>
                <a:cubicBezTo>
                  <a:pt x="0" y="3435"/>
                  <a:pt x="221" y="3624"/>
                  <a:pt x="441" y="3624"/>
                </a:cubicBezTo>
                <a:lnTo>
                  <a:pt x="10365" y="3624"/>
                </a:lnTo>
                <a:cubicBezTo>
                  <a:pt x="10618" y="3624"/>
                  <a:pt x="10807" y="3435"/>
                  <a:pt x="10807" y="3183"/>
                </a:cubicBezTo>
                <a:lnTo>
                  <a:pt x="10807" y="2080"/>
                </a:lnTo>
                <a:cubicBezTo>
                  <a:pt x="10807" y="946"/>
                  <a:pt x="9861" y="1"/>
                  <a:pt x="8727" y="1"/>
                </a:cubicBezTo>
                <a:close/>
              </a:path>
            </a:pathLst>
          </a:custGeom>
          <a:solidFill>
            <a:srgbClr val="28396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2210;p34">
            <a:extLst>
              <a:ext uri="{FF2B5EF4-FFF2-40B4-BE49-F238E27FC236}">
                <a16:creationId xmlns:a16="http://schemas.microsoft.com/office/drawing/2014/main" id="{6D97EF2D-7C87-36F4-1292-34B470E2CF15}"/>
              </a:ext>
            </a:extLst>
          </p:cNvPr>
          <p:cNvSpPr/>
          <p:nvPr/>
        </p:nvSpPr>
        <p:spPr>
          <a:xfrm>
            <a:off x="2170807" y="3154943"/>
            <a:ext cx="185586" cy="211838"/>
          </a:xfrm>
          <a:custGeom>
            <a:avLst/>
            <a:gdLst/>
            <a:ahLst/>
            <a:cxnLst/>
            <a:rect l="l" t="t" r="r" b="b"/>
            <a:pathLst>
              <a:path w="5797" h="6617" extrusionOk="0">
                <a:moveTo>
                  <a:pt x="2930" y="0"/>
                </a:moveTo>
                <a:cubicBezTo>
                  <a:pt x="1292" y="0"/>
                  <a:pt x="0" y="1292"/>
                  <a:pt x="0" y="2867"/>
                </a:cubicBezTo>
                <a:cubicBezTo>
                  <a:pt x="32" y="3812"/>
                  <a:pt x="504" y="4694"/>
                  <a:pt x="1260" y="5230"/>
                </a:cubicBezTo>
                <a:lnTo>
                  <a:pt x="1260" y="6616"/>
                </a:lnTo>
                <a:lnTo>
                  <a:pt x="4568" y="6616"/>
                </a:lnTo>
                <a:lnTo>
                  <a:pt x="4568" y="5230"/>
                </a:lnTo>
                <a:cubicBezTo>
                  <a:pt x="5356" y="4694"/>
                  <a:pt x="5797" y="3812"/>
                  <a:pt x="5797" y="2867"/>
                </a:cubicBezTo>
                <a:cubicBezTo>
                  <a:pt x="5797" y="1260"/>
                  <a:pt x="4505" y="0"/>
                  <a:pt x="2930" y="0"/>
                </a:cubicBezTo>
                <a:close/>
              </a:path>
            </a:pathLst>
          </a:custGeom>
          <a:solidFill>
            <a:srgbClr val="28396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" name="Google Shape;2209;p34">
            <a:extLst>
              <a:ext uri="{FF2B5EF4-FFF2-40B4-BE49-F238E27FC236}">
                <a16:creationId xmlns:a16="http://schemas.microsoft.com/office/drawing/2014/main" id="{B92E26A1-C039-F097-D1F7-9CF711CBB009}"/>
              </a:ext>
            </a:extLst>
          </p:cNvPr>
          <p:cNvSpPr/>
          <p:nvPr/>
        </p:nvSpPr>
        <p:spPr>
          <a:xfrm>
            <a:off x="2117839" y="3536747"/>
            <a:ext cx="291521" cy="27276"/>
          </a:xfrm>
          <a:custGeom>
            <a:avLst/>
            <a:gdLst/>
            <a:ahLst/>
            <a:cxnLst/>
            <a:rect l="l" t="t" r="r" b="b"/>
            <a:pathLst>
              <a:path w="9106" h="852" extrusionOk="0">
                <a:moveTo>
                  <a:pt x="0" y="1"/>
                </a:moveTo>
                <a:lnTo>
                  <a:pt x="0" y="442"/>
                </a:lnTo>
                <a:cubicBezTo>
                  <a:pt x="0" y="694"/>
                  <a:pt x="190" y="851"/>
                  <a:pt x="442" y="851"/>
                </a:cubicBezTo>
                <a:lnTo>
                  <a:pt x="8696" y="851"/>
                </a:lnTo>
                <a:cubicBezTo>
                  <a:pt x="8948" y="851"/>
                  <a:pt x="9105" y="631"/>
                  <a:pt x="9105" y="442"/>
                </a:cubicBezTo>
                <a:lnTo>
                  <a:pt x="9105" y="1"/>
                </a:lnTo>
                <a:close/>
              </a:path>
            </a:pathLst>
          </a:custGeom>
          <a:solidFill>
            <a:srgbClr val="28396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Chave Esquerda 38">
            <a:extLst>
              <a:ext uri="{FF2B5EF4-FFF2-40B4-BE49-F238E27FC236}">
                <a16:creationId xmlns:a16="http://schemas.microsoft.com/office/drawing/2014/main" id="{D5565E21-F3FD-094F-541C-D8A0503B066F}"/>
              </a:ext>
            </a:extLst>
          </p:cNvPr>
          <p:cNvSpPr/>
          <p:nvPr/>
        </p:nvSpPr>
        <p:spPr>
          <a:xfrm rot="5400000">
            <a:off x="1916085" y="2971046"/>
            <a:ext cx="666750" cy="2390774"/>
          </a:xfrm>
          <a:prstGeom prst="leftBrace">
            <a:avLst/>
          </a:prstGeom>
          <a:noFill/>
          <a:ln w="28575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9" name="Google Shape;6658;p77">
            <a:extLst>
              <a:ext uri="{FF2B5EF4-FFF2-40B4-BE49-F238E27FC236}">
                <a16:creationId xmlns:a16="http://schemas.microsoft.com/office/drawing/2014/main" id="{150E44FD-FFF5-F6F4-DDD2-82FD35539C5B}"/>
              </a:ext>
            </a:extLst>
          </p:cNvPr>
          <p:cNvSpPr/>
          <p:nvPr/>
        </p:nvSpPr>
        <p:spPr>
          <a:xfrm>
            <a:off x="415888" y="4534337"/>
            <a:ext cx="1233344" cy="290924"/>
          </a:xfrm>
          <a:prstGeom prst="roundRect">
            <a:avLst>
              <a:gd name="adj" fmla="val 50000"/>
            </a:avLst>
          </a:prstGeom>
          <a:solidFill>
            <a:srgbClr val="1B7B5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>
                <a:solidFill>
                  <a:srgbClr val="FFFFFF"/>
                </a:solidFill>
              </a:rPr>
              <a:t>Pagar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81" name="Google Shape;6658;p77">
            <a:extLst>
              <a:ext uri="{FF2B5EF4-FFF2-40B4-BE49-F238E27FC236}">
                <a16:creationId xmlns:a16="http://schemas.microsoft.com/office/drawing/2014/main" id="{E9529B99-B7FC-4545-4FED-137ABB2F7927}"/>
              </a:ext>
            </a:extLst>
          </p:cNvPr>
          <p:cNvSpPr/>
          <p:nvPr/>
        </p:nvSpPr>
        <p:spPr>
          <a:xfrm>
            <a:off x="2824420" y="4541221"/>
            <a:ext cx="1240854" cy="290924"/>
          </a:xfrm>
          <a:prstGeom prst="roundRect">
            <a:avLst>
              <a:gd name="adj" fmla="val 50000"/>
            </a:avLst>
          </a:prstGeom>
          <a:solidFill>
            <a:srgbClr val="9933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>
                <a:solidFill>
                  <a:srgbClr val="FFFFFF"/>
                </a:solidFill>
              </a:rPr>
              <a:t>Não Pagar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02" name="CaixaDeTexto 101">
            <a:extLst>
              <a:ext uri="{FF2B5EF4-FFF2-40B4-BE49-F238E27FC236}">
                <a16:creationId xmlns:a16="http://schemas.microsoft.com/office/drawing/2014/main" id="{440D6753-1A6A-2241-F447-83D16EF35D80}"/>
              </a:ext>
            </a:extLst>
          </p:cNvPr>
          <p:cNvSpPr txBox="1"/>
          <p:nvPr/>
        </p:nvSpPr>
        <p:spPr>
          <a:xfrm>
            <a:off x="607523" y="5237356"/>
            <a:ext cx="3815395" cy="612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200" b="1" dirty="0">
                <a:latin typeface="Arial" panose="020B0604020202020204" pitchFamily="34" charset="0"/>
                <a:cs typeface="Arial" panose="020B0604020202020204" pitchFamily="34" charset="0"/>
              </a:rPr>
              <a:t>Clientes adimplentes conquistam o bem desejado ao passo que a instituição lucra </a:t>
            </a:r>
            <a:endParaRPr lang="pt-BR" sz="1200" b="1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CaixaDeTexto 103">
            <a:extLst>
              <a:ext uri="{FF2B5EF4-FFF2-40B4-BE49-F238E27FC236}">
                <a16:creationId xmlns:a16="http://schemas.microsoft.com/office/drawing/2014/main" id="{5E18ABE7-341D-F91B-ADE9-B376D7E3E794}"/>
              </a:ext>
            </a:extLst>
          </p:cNvPr>
          <p:cNvSpPr txBox="1"/>
          <p:nvPr/>
        </p:nvSpPr>
        <p:spPr>
          <a:xfrm>
            <a:off x="612444" y="6032385"/>
            <a:ext cx="3810474" cy="612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>
              <a:lnSpc>
                <a:spcPct val="150000"/>
              </a:lnSpc>
              <a:spcAft>
                <a:spcPts val="1000"/>
              </a:spcAft>
            </a:pPr>
            <a:r>
              <a:rPr lang="pt-BR" sz="1200" b="1" dirty="0">
                <a:latin typeface="Arial" panose="020B0604020202020204" pitchFamily="34" charset="0"/>
                <a:cs typeface="Arial" panose="020B0604020202020204" pitchFamily="34" charset="0"/>
              </a:rPr>
              <a:t>Clientes inadimplentes endividam-se e a instituição sofre prejuízo</a:t>
            </a:r>
            <a:endParaRPr lang="pt-BR" sz="1200" b="1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Fluxograma: Conector 118">
            <a:extLst>
              <a:ext uri="{FF2B5EF4-FFF2-40B4-BE49-F238E27FC236}">
                <a16:creationId xmlns:a16="http://schemas.microsoft.com/office/drawing/2014/main" id="{BB0991DE-DAE0-58B6-68B2-36FEDB9507AE}"/>
              </a:ext>
            </a:extLst>
          </p:cNvPr>
          <p:cNvSpPr/>
          <p:nvPr/>
        </p:nvSpPr>
        <p:spPr>
          <a:xfrm>
            <a:off x="317633" y="5369517"/>
            <a:ext cx="276653" cy="290924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0" name="Fluxograma: Conector 119">
            <a:extLst>
              <a:ext uri="{FF2B5EF4-FFF2-40B4-BE49-F238E27FC236}">
                <a16:creationId xmlns:a16="http://schemas.microsoft.com/office/drawing/2014/main" id="{54C25F13-BCF5-EB5F-AFA1-47CDAFC698E7}"/>
              </a:ext>
            </a:extLst>
          </p:cNvPr>
          <p:cNvSpPr/>
          <p:nvPr/>
        </p:nvSpPr>
        <p:spPr>
          <a:xfrm>
            <a:off x="316546" y="6154339"/>
            <a:ext cx="276653" cy="290924"/>
          </a:xfrm>
          <a:prstGeom prst="flowChartConnector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6D6156F-50C3-1B71-67BE-DFAE999EC5C4}"/>
              </a:ext>
            </a:extLst>
          </p:cNvPr>
          <p:cNvSpPr/>
          <p:nvPr/>
        </p:nvSpPr>
        <p:spPr>
          <a:xfrm>
            <a:off x="4950458" y="674021"/>
            <a:ext cx="2985528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Análise de risco de crédito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68CBDAF-DC22-5546-BEB2-0D2A91DD1842}"/>
              </a:ext>
            </a:extLst>
          </p:cNvPr>
          <p:cNvSpPr txBox="1"/>
          <p:nvPr/>
        </p:nvSpPr>
        <p:spPr>
          <a:xfrm>
            <a:off x="4660583" y="1260868"/>
            <a:ext cx="7293729" cy="547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Nesse âmbito</a:t>
            </a:r>
            <a:r>
              <a:rPr lang="pt-BR" sz="1050" b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, a análise de risco de crédito surge como norteador do processo, sendo responsável por melhorar a discriminação entre bons e maus clientes. </a:t>
            </a:r>
            <a:r>
              <a:rPr lang="pt-BR" sz="105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endParaRPr lang="pt-BR" sz="1050" b="1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1" name="Google Shape;2450;p52">
            <a:extLst>
              <a:ext uri="{FF2B5EF4-FFF2-40B4-BE49-F238E27FC236}">
                <a16:creationId xmlns:a16="http://schemas.microsoft.com/office/drawing/2014/main" id="{E52B11A4-5E15-DDC3-CF3A-380FB110FE99}"/>
              </a:ext>
            </a:extLst>
          </p:cNvPr>
          <p:cNvSpPr/>
          <p:nvPr/>
        </p:nvSpPr>
        <p:spPr>
          <a:xfrm>
            <a:off x="5682456" y="2725785"/>
            <a:ext cx="5356590" cy="186148"/>
          </a:xfrm>
          <a:prstGeom prst="roundRect">
            <a:avLst>
              <a:gd name="adj" fmla="val 24841"/>
            </a:avLst>
          </a:prstGeom>
          <a:solidFill>
            <a:schemeClr val="lt2"/>
          </a:solidFill>
          <a:ln w="762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2485;p52">
            <a:extLst>
              <a:ext uri="{FF2B5EF4-FFF2-40B4-BE49-F238E27FC236}">
                <a16:creationId xmlns:a16="http://schemas.microsoft.com/office/drawing/2014/main" id="{A8AE4BF8-BBD6-BD65-9A2C-F4E1C20E3767}"/>
              </a:ext>
            </a:extLst>
          </p:cNvPr>
          <p:cNvSpPr/>
          <p:nvPr/>
        </p:nvSpPr>
        <p:spPr>
          <a:xfrm>
            <a:off x="6014325" y="2707720"/>
            <a:ext cx="208800" cy="208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/>
              <a:t>1</a:t>
            </a:r>
            <a:endParaRPr sz="900" b="1" dirty="0"/>
          </a:p>
        </p:txBody>
      </p:sp>
      <p:sp>
        <p:nvSpPr>
          <p:cNvPr id="123" name="Google Shape;2486;p52">
            <a:extLst>
              <a:ext uri="{FF2B5EF4-FFF2-40B4-BE49-F238E27FC236}">
                <a16:creationId xmlns:a16="http://schemas.microsoft.com/office/drawing/2014/main" id="{2AB5E25F-1964-DAFB-4C13-079FA05BC93C}"/>
              </a:ext>
            </a:extLst>
          </p:cNvPr>
          <p:cNvSpPr/>
          <p:nvPr/>
        </p:nvSpPr>
        <p:spPr>
          <a:xfrm>
            <a:off x="7239479" y="2707720"/>
            <a:ext cx="208800" cy="208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/>
              <a:t>2</a:t>
            </a:r>
            <a:endParaRPr sz="900" b="1" dirty="0"/>
          </a:p>
        </p:txBody>
      </p:sp>
      <p:sp>
        <p:nvSpPr>
          <p:cNvPr id="124" name="Google Shape;2487;p52">
            <a:extLst>
              <a:ext uri="{FF2B5EF4-FFF2-40B4-BE49-F238E27FC236}">
                <a16:creationId xmlns:a16="http://schemas.microsoft.com/office/drawing/2014/main" id="{D8967AF6-2759-981A-5732-F8D6D5CE5E68}"/>
              </a:ext>
            </a:extLst>
          </p:cNvPr>
          <p:cNvSpPr/>
          <p:nvPr/>
        </p:nvSpPr>
        <p:spPr>
          <a:xfrm>
            <a:off x="8464633" y="2707720"/>
            <a:ext cx="208800" cy="208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/>
              <a:t>3</a:t>
            </a:r>
            <a:endParaRPr sz="900" b="1" dirty="0"/>
          </a:p>
        </p:txBody>
      </p:sp>
      <p:sp>
        <p:nvSpPr>
          <p:cNvPr id="125" name="Google Shape;2488;p52">
            <a:extLst>
              <a:ext uri="{FF2B5EF4-FFF2-40B4-BE49-F238E27FC236}">
                <a16:creationId xmlns:a16="http://schemas.microsoft.com/office/drawing/2014/main" id="{4468DAB5-D953-02EE-9B4A-578D9845C91C}"/>
              </a:ext>
            </a:extLst>
          </p:cNvPr>
          <p:cNvSpPr/>
          <p:nvPr/>
        </p:nvSpPr>
        <p:spPr>
          <a:xfrm>
            <a:off x="9689787" y="2707720"/>
            <a:ext cx="208800" cy="208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/>
              <a:t>4</a:t>
            </a:r>
            <a:endParaRPr sz="900" b="1" dirty="0"/>
          </a:p>
        </p:txBody>
      </p:sp>
      <p:sp>
        <p:nvSpPr>
          <p:cNvPr id="130" name="Google Shape;6658;p77">
            <a:extLst>
              <a:ext uri="{FF2B5EF4-FFF2-40B4-BE49-F238E27FC236}">
                <a16:creationId xmlns:a16="http://schemas.microsoft.com/office/drawing/2014/main" id="{56F2C493-16C0-87B1-1FEF-AF9BBEFFC6CC}"/>
              </a:ext>
            </a:extLst>
          </p:cNvPr>
          <p:cNvSpPr/>
          <p:nvPr/>
        </p:nvSpPr>
        <p:spPr>
          <a:xfrm>
            <a:off x="5502053" y="2140728"/>
            <a:ext cx="1233344" cy="29092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8396E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Definição do Bom e Mau Pagador</a:t>
            </a:r>
            <a:endParaRPr sz="9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1" name="Google Shape;6658;p77">
            <a:extLst>
              <a:ext uri="{FF2B5EF4-FFF2-40B4-BE49-F238E27FC236}">
                <a16:creationId xmlns:a16="http://schemas.microsoft.com/office/drawing/2014/main" id="{70933140-92B4-A88A-1BC4-758966009708}"/>
              </a:ext>
            </a:extLst>
          </p:cNvPr>
          <p:cNvSpPr/>
          <p:nvPr/>
        </p:nvSpPr>
        <p:spPr>
          <a:xfrm>
            <a:off x="6748596" y="3213721"/>
            <a:ext cx="1233344" cy="29092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8396E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Análise de Variáveis</a:t>
            </a:r>
            <a:endParaRPr sz="9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Google Shape;6658;p77">
            <a:extLst>
              <a:ext uri="{FF2B5EF4-FFF2-40B4-BE49-F238E27FC236}">
                <a16:creationId xmlns:a16="http://schemas.microsoft.com/office/drawing/2014/main" id="{054C9D9D-E036-EF22-93D6-0CF788F9293D}"/>
              </a:ext>
            </a:extLst>
          </p:cNvPr>
          <p:cNvSpPr/>
          <p:nvPr/>
        </p:nvSpPr>
        <p:spPr>
          <a:xfrm>
            <a:off x="7952361" y="2136903"/>
            <a:ext cx="1233344" cy="29092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8396E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Metodologia de Classificação</a:t>
            </a:r>
            <a:endParaRPr sz="9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3" name="Google Shape;6658;p77">
            <a:extLst>
              <a:ext uri="{FF2B5EF4-FFF2-40B4-BE49-F238E27FC236}">
                <a16:creationId xmlns:a16="http://schemas.microsoft.com/office/drawing/2014/main" id="{EE985181-290D-9685-1911-8DE390E45609}"/>
              </a:ext>
            </a:extLst>
          </p:cNvPr>
          <p:cNvSpPr/>
          <p:nvPr/>
        </p:nvSpPr>
        <p:spPr>
          <a:xfrm>
            <a:off x="9177515" y="3226406"/>
            <a:ext cx="1233344" cy="29092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8396E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Criação do Score</a:t>
            </a:r>
            <a:endParaRPr sz="9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Google Shape;2488;p52">
            <a:extLst>
              <a:ext uri="{FF2B5EF4-FFF2-40B4-BE49-F238E27FC236}">
                <a16:creationId xmlns:a16="http://schemas.microsoft.com/office/drawing/2014/main" id="{2B7D6042-C673-07F9-3AED-6F719B2A9C38}"/>
              </a:ext>
            </a:extLst>
          </p:cNvPr>
          <p:cNvSpPr/>
          <p:nvPr/>
        </p:nvSpPr>
        <p:spPr>
          <a:xfrm>
            <a:off x="10815930" y="2703133"/>
            <a:ext cx="208800" cy="208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/>
              <a:t>5</a:t>
            </a:r>
            <a:endParaRPr sz="900" b="1" dirty="0"/>
          </a:p>
        </p:txBody>
      </p:sp>
      <p:sp>
        <p:nvSpPr>
          <p:cNvPr id="146" name="Google Shape;6658;p77">
            <a:extLst>
              <a:ext uri="{FF2B5EF4-FFF2-40B4-BE49-F238E27FC236}">
                <a16:creationId xmlns:a16="http://schemas.microsoft.com/office/drawing/2014/main" id="{D3B3C2F0-8B3C-D983-50E6-4F92FEBF1736}"/>
              </a:ext>
            </a:extLst>
          </p:cNvPr>
          <p:cNvSpPr/>
          <p:nvPr/>
        </p:nvSpPr>
        <p:spPr>
          <a:xfrm>
            <a:off x="10298269" y="2160054"/>
            <a:ext cx="1233344" cy="29092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8396E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Concessão de Crédito</a:t>
            </a:r>
            <a:endParaRPr sz="9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9" name="Gráfico 148" descr="Homem">
            <a:extLst>
              <a:ext uri="{FF2B5EF4-FFF2-40B4-BE49-F238E27FC236}">
                <a16:creationId xmlns:a16="http://schemas.microsoft.com/office/drawing/2014/main" id="{35284356-9CB0-138C-8F44-B59F4B3DB3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09229" y="5643185"/>
            <a:ext cx="914400" cy="914400"/>
          </a:xfrm>
          <a:prstGeom prst="rect">
            <a:avLst/>
          </a:prstGeom>
        </p:spPr>
      </p:pic>
      <p:pic>
        <p:nvPicPr>
          <p:cNvPr id="150" name="Gráfico 149" descr="Homem">
            <a:extLst>
              <a:ext uri="{FF2B5EF4-FFF2-40B4-BE49-F238E27FC236}">
                <a16:creationId xmlns:a16="http://schemas.microsoft.com/office/drawing/2014/main" id="{908BEBE5-7CF0-2A9E-49A8-700292E662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18871" y="4454898"/>
            <a:ext cx="914400" cy="914400"/>
          </a:xfrm>
          <a:prstGeom prst="rect">
            <a:avLst/>
          </a:prstGeom>
        </p:spPr>
      </p:pic>
      <p:pic>
        <p:nvPicPr>
          <p:cNvPr id="152" name="Gráfico 151" descr="Adicionar">
            <a:extLst>
              <a:ext uri="{FF2B5EF4-FFF2-40B4-BE49-F238E27FC236}">
                <a16:creationId xmlns:a16="http://schemas.microsoft.com/office/drawing/2014/main" id="{8DE40D3B-E323-0CD8-C100-AE1EFE54BC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71929" y="4752954"/>
            <a:ext cx="290924" cy="290924"/>
          </a:xfrm>
          <a:prstGeom prst="rect">
            <a:avLst/>
          </a:prstGeom>
        </p:spPr>
      </p:pic>
      <p:sp>
        <p:nvSpPr>
          <p:cNvPr id="153" name="Google Shape;6658;p77">
            <a:extLst>
              <a:ext uri="{FF2B5EF4-FFF2-40B4-BE49-F238E27FC236}">
                <a16:creationId xmlns:a16="http://schemas.microsoft.com/office/drawing/2014/main" id="{FB9AA2D3-DE1D-8D8B-C36E-A06416B18A44}"/>
              </a:ext>
            </a:extLst>
          </p:cNvPr>
          <p:cNvSpPr/>
          <p:nvPr/>
        </p:nvSpPr>
        <p:spPr>
          <a:xfrm>
            <a:off x="6294227" y="4752954"/>
            <a:ext cx="1233344" cy="290924"/>
          </a:xfrm>
          <a:prstGeom prst="roundRect">
            <a:avLst>
              <a:gd name="adj" fmla="val 50000"/>
            </a:avLst>
          </a:prstGeom>
          <a:solidFill>
            <a:srgbClr val="1B7B56"/>
          </a:solidFill>
          <a:ln w="19050">
            <a:solidFill>
              <a:schemeClr val="tx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Aprovação</a:t>
            </a:r>
            <a:endParaRPr sz="1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Fluxograma: Conector 153">
            <a:extLst>
              <a:ext uri="{FF2B5EF4-FFF2-40B4-BE49-F238E27FC236}">
                <a16:creationId xmlns:a16="http://schemas.microsoft.com/office/drawing/2014/main" id="{9D664E6C-C12E-87DB-A337-11848A76CA1E}"/>
              </a:ext>
            </a:extLst>
          </p:cNvPr>
          <p:cNvSpPr/>
          <p:nvPr/>
        </p:nvSpPr>
        <p:spPr>
          <a:xfrm>
            <a:off x="5001672" y="4766636"/>
            <a:ext cx="276653" cy="290924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5" name="Fluxograma: Conector 154">
            <a:extLst>
              <a:ext uri="{FF2B5EF4-FFF2-40B4-BE49-F238E27FC236}">
                <a16:creationId xmlns:a16="http://schemas.microsoft.com/office/drawing/2014/main" id="{9F1A5215-0B3A-9054-C992-694474E5EC05}"/>
              </a:ext>
            </a:extLst>
          </p:cNvPr>
          <p:cNvSpPr/>
          <p:nvPr/>
        </p:nvSpPr>
        <p:spPr>
          <a:xfrm>
            <a:off x="5000264" y="6100385"/>
            <a:ext cx="276653" cy="290924"/>
          </a:xfrm>
          <a:prstGeom prst="flowChartConnector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9" name="Google Shape;6658;p77">
            <a:extLst>
              <a:ext uri="{FF2B5EF4-FFF2-40B4-BE49-F238E27FC236}">
                <a16:creationId xmlns:a16="http://schemas.microsoft.com/office/drawing/2014/main" id="{1D4473FE-AB18-D930-C445-3A6D8B77CEA4}"/>
              </a:ext>
            </a:extLst>
          </p:cNvPr>
          <p:cNvSpPr/>
          <p:nvPr/>
        </p:nvSpPr>
        <p:spPr>
          <a:xfrm>
            <a:off x="6347826" y="6091311"/>
            <a:ext cx="1233344" cy="290924"/>
          </a:xfrm>
          <a:prstGeom prst="roundRect">
            <a:avLst>
              <a:gd name="adj" fmla="val 50000"/>
            </a:avLst>
          </a:prstGeom>
          <a:solidFill>
            <a:srgbClr val="993300"/>
          </a:solidFill>
          <a:ln w="19050">
            <a:solidFill>
              <a:schemeClr val="tx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Aprovação</a:t>
            </a:r>
            <a:endParaRPr sz="1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2" name="Retângulo 161">
            <a:extLst>
              <a:ext uri="{FF2B5EF4-FFF2-40B4-BE49-F238E27FC236}">
                <a16:creationId xmlns:a16="http://schemas.microsoft.com/office/drawing/2014/main" id="{103A297A-1EA5-CE95-4C02-7D4AE7F429B9}"/>
              </a:ext>
            </a:extLst>
          </p:cNvPr>
          <p:cNvSpPr/>
          <p:nvPr/>
        </p:nvSpPr>
        <p:spPr>
          <a:xfrm>
            <a:off x="6028172" y="6206052"/>
            <a:ext cx="261158" cy="45719"/>
          </a:xfrm>
          <a:prstGeom prst="rect">
            <a:avLst/>
          </a:prstGeom>
          <a:solidFill>
            <a:srgbClr val="993300"/>
          </a:solidFill>
          <a:ln>
            <a:solidFill>
              <a:srgbClr val="99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4" name="Chave Esquerda 163">
            <a:extLst>
              <a:ext uri="{FF2B5EF4-FFF2-40B4-BE49-F238E27FC236}">
                <a16:creationId xmlns:a16="http://schemas.microsoft.com/office/drawing/2014/main" id="{A624E1E3-3901-3A74-5616-F4D9D2B49CB2}"/>
              </a:ext>
            </a:extLst>
          </p:cNvPr>
          <p:cNvSpPr/>
          <p:nvPr/>
        </p:nvSpPr>
        <p:spPr>
          <a:xfrm rot="10800000">
            <a:off x="7636894" y="4878107"/>
            <a:ext cx="666750" cy="1373663"/>
          </a:xfrm>
          <a:prstGeom prst="leftBrace">
            <a:avLst/>
          </a:prstGeom>
          <a:noFill/>
          <a:ln w="28575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5" name="CaixaDeTexto 164">
            <a:extLst>
              <a:ext uri="{FF2B5EF4-FFF2-40B4-BE49-F238E27FC236}">
                <a16:creationId xmlns:a16="http://schemas.microsoft.com/office/drawing/2014/main" id="{F3B83059-A09C-1865-B49C-798FAD42D592}"/>
              </a:ext>
            </a:extLst>
          </p:cNvPr>
          <p:cNvSpPr txBox="1"/>
          <p:nvPr/>
        </p:nvSpPr>
        <p:spPr>
          <a:xfrm>
            <a:off x="5000596" y="4198543"/>
            <a:ext cx="13893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Adimplentes</a:t>
            </a:r>
          </a:p>
        </p:txBody>
      </p:sp>
      <p:sp>
        <p:nvSpPr>
          <p:cNvPr id="166" name="CaixaDeTexto 165">
            <a:extLst>
              <a:ext uri="{FF2B5EF4-FFF2-40B4-BE49-F238E27FC236}">
                <a16:creationId xmlns:a16="http://schemas.microsoft.com/office/drawing/2014/main" id="{F881CECC-CE29-6319-132D-D7C14469B939}"/>
              </a:ext>
            </a:extLst>
          </p:cNvPr>
          <p:cNvSpPr txBox="1"/>
          <p:nvPr/>
        </p:nvSpPr>
        <p:spPr>
          <a:xfrm>
            <a:off x="4971738" y="5422364"/>
            <a:ext cx="13893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Inadimplentes</a:t>
            </a:r>
          </a:p>
        </p:txBody>
      </p:sp>
      <p:sp>
        <p:nvSpPr>
          <p:cNvPr id="217" name="Shape 4">
            <a:extLst>
              <a:ext uri="{FF2B5EF4-FFF2-40B4-BE49-F238E27FC236}">
                <a16:creationId xmlns:a16="http://schemas.microsoft.com/office/drawing/2014/main" id="{3BAFC5EC-C798-956D-E771-3FB01279AF21}"/>
              </a:ext>
            </a:extLst>
          </p:cNvPr>
          <p:cNvSpPr/>
          <p:nvPr/>
        </p:nvSpPr>
        <p:spPr>
          <a:xfrm>
            <a:off x="8839916" y="5469249"/>
            <a:ext cx="391558" cy="63862"/>
          </a:xfrm>
          <a:prstGeom prst="roundRect">
            <a:avLst>
              <a:gd name="adj" fmla="val 225103"/>
            </a:avLst>
          </a:prstGeom>
          <a:solidFill>
            <a:srgbClr val="C9CAC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8" name="Shape 3">
            <a:extLst>
              <a:ext uri="{FF2B5EF4-FFF2-40B4-BE49-F238E27FC236}">
                <a16:creationId xmlns:a16="http://schemas.microsoft.com/office/drawing/2014/main" id="{A33151E8-31D0-CBFD-28EA-FDCD24A27E90}"/>
              </a:ext>
            </a:extLst>
          </p:cNvPr>
          <p:cNvSpPr/>
          <p:nvPr/>
        </p:nvSpPr>
        <p:spPr>
          <a:xfrm>
            <a:off x="8568433" y="4560688"/>
            <a:ext cx="109153" cy="1870380"/>
          </a:xfrm>
          <a:prstGeom prst="roundRect">
            <a:avLst>
              <a:gd name="adj" fmla="val 225103"/>
            </a:avLst>
          </a:prstGeom>
          <a:solidFill>
            <a:srgbClr val="C9CAC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9" name="Shape 4">
            <a:extLst>
              <a:ext uri="{FF2B5EF4-FFF2-40B4-BE49-F238E27FC236}">
                <a16:creationId xmlns:a16="http://schemas.microsoft.com/office/drawing/2014/main" id="{CBDA084F-5E1B-6BC4-8655-D44FD12A7156}"/>
              </a:ext>
            </a:extLst>
          </p:cNvPr>
          <p:cNvSpPr/>
          <p:nvPr/>
        </p:nvSpPr>
        <p:spPr>
          <a:xfrm>
            <a:off x="8854038" y="4908610"/>
            <a:ext cx="391558" cy="63862"/>
          </a:xfrm>
          <a:prstGeom prst="roundRect">
            <a:avLst>
              <a:gd name="adj" fmla="val 225103"/>
            </a:avLst>
          </a:prstGeom>
          <a:solidFill>
            <a:srgbClr val="C9CAC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0" name="Shape 5">
            <a:extLst>
              <a:ext uri="{FF2B5EF4-FFF2-40B4-BE49-F238E27FC236}">
                <a16:creationId xmlns:a16="http://schemas.microsoft.com/office/drawing/2014/main" id="{4F429B89-535F-1B5F-3F49-14B9AA3E9E06}"/>
              </a:ext>
            </a:extLst>
          </p:cNvPr>
          <p:cNvSpPr/>
          <p:nvPr/>
        </p:nvSpPr>
        <p:spPr>
          <a:xfrm>
            <a:off x="8378382" y="4691976"/>
            <a:ext cx="475655" cy="475655"/>
          </a:xfrm>
          <a:prstGeom prst="roundRect">
            <a:avLst>
              <a:gd name="adj" fmla="val 20003"/>
            </a:avLst>
          </a:prstGeom>
          <a:solidFill>
            <a:srgbClr val="E3E4E8"/>
          </a:solidFill>
          <a:ln w="7620">
            <a:solidFill>
              <a:srgbClr val="C9CAC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1" name="Text 6">
            <a:extLst>
              <a:ext uri="{FF2B5EF4-FFF2-40B4-BE49-F238E27FC236}">
                <a16:creationId xmlns:a16="http://schemas.microsoft.com/office/drawing/2014/main" id="{F5807004-3891-A531-E39B-912B0FC07335}"/>
              </a:ext>
            </a:extLst>
          </p:cNvPr>
          <p:cNvSpPr/>
          <p:nvPr/>
        </p:nvSpPr>
        <p:spPr>
          <a:xfrm>
            <a:off x="8554833" y="4731505"/>
            <a:ext cx="122753" cy="39647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3122"/>
              </a:lnSpc>
              <a:buNone/>
            </a:pPr>
            <a:r>
              <a:rPr lang="en-US" sz="2497" b="1" dirty="0">
                <a:solidFill>
                  <a:srgbClr val="28396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1</a:t>
            </a:r>
            <a:endParaRPr lang="en-US" sz="2497" dirty="0">
              <a:solidFill>
                <a:srgbClr val="28396E"/>
              </a:solidFill>
            </a:endParaRPr>
          </a:p>
        </p:txBody>
      </p:sp>
      <p:sp>
        <p:nvSpPr>
          <p:cNvPr id="222" name="Shape 10">
            <a:extLst>
              <a:ext uri="{FF2B5EF4-FFF2-40B4-BE49-F238E27FC236}">
                <a16:creationId xmlns:a16="http://schemas.microsoft.com/office/drawing/2014/main" id="{AC1FDD46-3D5E-E700-DE8C-DFF5F7C1B3B3}"/>
              </a:ext>
            </a:extLst>
          </p:cNvPr>
          <p:cNvSpPr/>
          <p:nvPr/>
        </p:nvSpPr>
        <p:spPr>
          <a:xfrm>
            <a:off x="8392357" y="5250777"/>
            <a:ext cx="475655" cy="475655"/>
          </a:xfrm>
          <a:prstGeom prst="roundRect">
            <a:avLst>
              <a:gd name="adj" fmla="val 20003"/>
            </a:avLst>
          </a:prstGeom>
          <a:solidFill>
            <a:srgbClr val="E3E4E8"/>
          </a:solidFill>
          <a:ln w="7620">
            <a:solidFill>
              <a:srgbClr val="C9CAC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3" name="Text 11">
            <a:extLst>
              <a:ext uri="{FF2B5EF4-FFF2-40B4-BE49-F238E27FC236}">
                <a16:creationId xmlns:a16="http://schemas.microsoft.com/office/drawing/2014/main" id="{3D5413F9-122E-A225-53AF-F9011D6580AE}"/>
              </a:ext>
            </a:extLst>
          </p:cNvPr>
          <p:cNvSpPr/>
          <p:nvPr/>
        </p:nvSpPr>
        <p:spPr>
          <a:xfrm>
            <a:off x="8541781" y="5290305"/>
            <a:ext cx="176689" cy="39647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3122"/>
              </a:lnSpc>
              <a:buNone/>
            </a:pPr>
            <a:r>
              <a:rPr lang="en-US" sz="2497" b="1" dirty="0">
                <a:solidFill>
                  <a:srgbClr val="28396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2</a:t>
            </a:r>
            <a:endParaRPr lang="en-US" sz="2497" dirty="0">
              <a:solidFill>
                <a:srgbClr val="28396E"/>
              </a:solidFill>
            </a:endParaRPr>
          </a:p>
        </p:txBody>
      </p:sp>
      <p:sp>
        <p:nvSpPr>
          <p:cNvPr id="224" name="Shape 15">
            <a:extLst>
              <a:ext uri="{FF2B5EF4-FFF2-40B4-BE49-F238E27FC236}">
                <a16:creationId xmlns:a16="http://schemas.microsoft.com/office/drawing/2014/main" id="{A0CF7B12-C167-19DA-18F0-4D4F75E0D0DF}"/>
              </a:ext>
            </a:extLst>
          </p:cNvPr>
          <p:cNvSpPr/>
          <p:nvPr/>
        </p:nvSpPr>
        <p:spPr>
          <a:xfrm>
            <a:off x="8408862" y="5842789"/>
            <a:ext cx="475655" cy="475655"/>
          </a:xfrm>
          <a:prstGeom prst="roundRect">
            <a:avLst>
              <a:gd name="adj" fmla="val 20003"/>
            </a:avLst>
          </a:prstGeom>
          <a:solidFill>
            <a:srgbClr val="E3E4E8"/>
          </a:solidFill>
          <a:ln w="7620">
            <a:solidFill>
              <a:srgbClr val="C9CAC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5" name="Text 16">
            <a:extLst>
              <a:ext uri="{FF2B5EF4-FFF2-40B4-BE49-F238E27FC236}">
                <a16:creationId xmlns:a16="http://schemas.microsoft.com/office/drawing/2014/main" id="{A91E8FD0-EE83-99A6-52F0-997B5675B27E}"/>
              </a:ext>
            </a:extLst>
          </p:cNvPr>
          <p:cNvSpPr/>
          <p:nvPr/>
        </p:nvSpPr>
        <p:spPr>
          <a:xfrm>
            <a:off x="8554833" y="5882317"/>
            <a:ext cx="183594" cy="39647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3122"/>
              </a:lnSpc>
              <a:buNone/>
            </a:pPr>
            <a:r>
              <a:rPr lang="en-US" sz="2497" b="1" dirty="0">
                <a:solidFill>
                  <a:srgbClr val="28396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3</a:t>
            </a:r>
            <a:endParaRPr lang="en-US" sz="2497" dirty="0">
              <a:solidFill>
                <a:srgbClr val="28396E"/>
              </a:solidFill>
            </a:endParaRPr>
          </a:p>
        </p:txBody>
      </p:sp>
      <p:sp>
        <p:nvSpPr>
          <p:cNvPr id="226" name="CaixaDeTexto 225">
            <a:extLst>
              <a:ext uri="{FF2B5EF4-FFF2-40B4-BE49-F238E27FC236}">
                <a16:creationId xmlns:a16="http://schemas.microsoft.com/office/drawing/2014/main" id="{648A09AF-A1D3-F860-EEBC-0F31A3C95A8D}"/>
              </a:ext>
            </a:extLst>
          </p:cNvPr>
          <p:cNvSpPr txBox="1"/>
          <p:nvPr/>
        </p:nvSpPr>
        <p:spPr>
          <a:xfrm>
            <a:off x="9013608" y="4738879"/>
            <a:ext cx="3359032" cy="335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>
              <a:lnSpc>
                <a:spcPct val="150000"/>
              </a:lnSpc>
              <a:spcAft>
                <a:spcPts val="1000"/>
              </a:spcAft>
            </a:pPr>
            <a:r>
              <a:rPr lang="pt-BR" sz="1200" b="1" dirty="0">
                <a:latin typeface="Arial" panose="020B0604020202020204" pitchFamily="34" charset="0"/>
                <a:cs typeface="Arial" panose="020B0604020202020204" pitchFamily="34" charset="0"/>
              </a:rPr>
              <a:t>Aumento do Lucro da instituição</a:t>
            </a:r>
            <a:endParaRPr lang="pt-BR" sz="1200" b="1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020B677E-11C6-5B65-72CF-9F39A7A753D1}"/>
              </a:ext>
            </a:extLst>
          </p:cNvPr>
          <p:cNvSpPr/>
          <p:nvPr/>
        </p:nvSpPr>
        <p:spPr>
          <a:xfrm>
            <a:off x="8886654" y="6052763"/>
            <a:ext cx="391558" cy="63862"/>
          </a:xfrm>
          <a:prstGeom prst="roundRect">
            <a:avLst>
              <a:gd name="adj" fmla="val 225103"/>
            </a:avLst>
          </a:prstGeom>
          <a:solidFill>
            <a:srgbClr val="C9CAC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8" name="CaixaDeTexto 227">
            <a:extLst>
              <a:ext uri="{FF2B5EF4-FFF2-40B4-BE49-F238E27FC236}">
                <a16:creationId xmlns:a16="http://schemas.microsoft.com/office/drawing/2014/main" id="{29DB64F1-9E6A-9D80-A9E0-EDD977ABA5A2}"/>
              </a:ext>
            </a:extLst>
          </p:cNvPr>
          <p:cNvSpPr txBox="1"/>
          <p:nvPr/>
        </p:nvSpPr>
        <p:spPr>
          <a:xfrm>
            <a:off x="8999739" y="5290203"/>
            <a:ext cx="2206159" cy="335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>
              <a:lnSpc>
                <a:spcPct val="150000"/>
              </a:lnSpc>
              <a:spcAft>
                <a:spcPts val="1000"/>
              </a:spcAft>
            </a:pPr>
            <a:r>
              <a:rPr lang="pt-BR" sz="1200" b="1" dirty="0">
                <a:latin typeface="Arial" panose="020B0604020202020204" pitchFamily="34" charset="0"/>
                <a:cs typeface="Arial" panose="020B0604020202020204" pitchFamily="34" charset="0"/>
              </a:rPr>
              <a:t>Satisfação do Cliente</a:t>
            </a:r>
            <a:endParaRPr lang="pt-BR" sz="1200" b="1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9" name="CaixaDeTexto 228">
            <a:extLst>
              <a:ext uri="{FF2B5EF4-FFF2-40B4-BE49-F238E27FC236}">
                <a16:creationId xmlns:a16="http://schemas.microsoft.com/office/drawing/2014/main" id="{76E7DBC7-2801-0D56-D23F-FFEEF9A66561}"/>
              </a:ext>
            </a:extLst>
          </p:cNvPr>
          <p:cNvSpPr txBox="1"/>
          <p:nvPr/>
        </p:nvSpPr>
        <p:spPr>
          <a:xfrm>
            <a:off x="9030488" y="5862310"/>
            <a:ext cx="3090677" cy="335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>
              <a:lnSpc>
                <a:spcPct val="150000"/>
              </a:lnSpc>
              <a:spcAft>
                <a:spcPts val="1000"/>
              </a:spcAft>
            </a:pPr>
            <a:r>
              <a:rPr lang="pt-BR" sz="1200" b="1" dirty="0">
                <a:latin typeface="Arial" panose="020B0604020202020204" pitchFamily="34" charset="0"/>
                <a:cs typeface="Arial" panose="020B0604020202020204" pitchFamily="34" charset="0"/>
              </a:rPr>
              <a:t>Estímulo ao crescimento econômico </a:t>
            </a:r>
            <a:endParaRPr lang="pt-BR" sz="1200" b="1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luxograma: Conector 9">
            <a:extLst>
              <a:ext uri="{FF2B5EF4-FFF2-40B4-BE49-F238E27FC236}">
                <a16:creationId xmlns:a16="http://schemas.microsoft.com/office/drawing/2014/main" id="{49CC665B-B2BA-D6A8-1101-26592AEA381B}"/>
              </a:ext>
            </a:extLst>
          </p:cNvPr>
          <p:cNvSpPr/>
          <p:nvPr/>
        </p:nvSpPr>
        <p:spPr>
          <a:xfrm>
            <a:off x="329280" y="718198"/>
            <a:ext cx="527838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2" name="Fluxograma: Conector 11">
            <a:extLst>
              <a:ext uri="{FF2B5EF4-FFF2-40B4-BE49-F238E27FC236}">
                <a16:creationId xmlns:a16="http://schemas.microsoft.com/office/drawing/2014/main" id="{ECB4D7C0-968E-CB4E-0686-CB4F30DBB5B9}"/>
              </a:ext>
            </a:extLst>
          </p:cNvPr>
          <p:cNvSpPr/>
          <p:nvPr/>
        </p:nvSpPr>
        <p:spPr>
          <a:xfrm>
            <a:off x="4974215" y="716399"/>
            <a:ext cx="527838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5AB4927-AFBE-2470-DA7A-0659EC967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8493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B1F58B-B58B-647E-6BA7-4560D6D3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E1463F1-4DD4-D715-00D8-0A522E5614C5}"/>
              </a:ext>
            </a:extLst>
          </p:cNvPr>
          <p:cNvSpPr/>
          <p:nvPr/>
        </p:nvSpPr>
        <p:spPr>
          <a:xfrm>
            <a:off x="100684" y="801727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A259909-4EAF-2AE9-4369-CFCBEB0ED5D0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POLÍTICA DE CRÉDITO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5F8CF414-EAE4-CAC3-C0AA-E5E97D77B18A}"/>
              </a:ext>
            </a:extLst>
          </p:cNvPr>
          <p:cNvSpPr/>
          <p:nvPr/>
        </p:nvSpPr>
        <p:spPr>
          <a:xfrm>
            <a:off x="295265" y="673228"/>
            <a:ext cx="2578564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Política de Crédito </a:t>
            </a:r>
          </a:p>
        </p:txBody>
      </p:sp>
      <p:sp>
        <p:nvSpPr>
          <p:cNvPr id="3" name="Fluxograma: Conector 2">
            <a:extLst>
              <a:ext uri="{FF2B5EF4-FFF2-40B4-BE49-F238E27FC236}">
                <a16:creationId xmlns:a16="http://schemas.microsoft.com/office/drawing/2014/main" id="{A4F1DE7D-BD2A-628C-0C9F-5D16AF487C4D}"/>
              </a:ext>
            </a:extLst>
          </p:cNvPr>
          <p:cNvSpPr/>
          <p:nvPr/>
        </p:nvSpPr>
        <p:spPr>
          <a:xfrm>
            <a:off x="316543" y="696776"/>
            <a:ext cx="563723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endParaRPr lang="pt-BR" b="1" dirty="0">
              <a:solidFill>
                <a:srgbClr val="28396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B78896B-9AE3-79C2-DA79-11EB8450570E}"/>
              </a:ext>
            </a:extLst>
          </p:cNvPr>
          <p:cNvSpPr txBox="1"/>
          <p:nvPr/>
        </p:nvSpPr>
        <p:spPr>
          <a:xfrm>
            <a:off x="295265" y="1273975"/>
            <a:ext cx="5638810" cy="1031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latin typeface="Arial" panose="020B0604020202020204" pitchFamily="34" charset="0"/>
                <a:cs typeface="Arial" panose="020B0604020202020204" pitchFamily="34" charset="0"/>
              </a:rPr>
              <a:t>A política de crédito é um documento que indica regras e critérios responsáveis por direcionar a empresa durante a tomada de decisão em uma concessão. Pelo fato de tratar-se de uma abordagem menos sofisticada, a criação de uma política demanda uma seleção de variáveis mais criteriosa.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7BBE15D-BF0C-28E0-A39D-08E45F717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543" y="4008120"/>
            <a:ext cx="5318760" cy="2575560"/>
          </a:xfrm>
          <a:prstGeom prst="rect">
            <a:avLst/>
          </a:prstGeom>
        </p:spPr>
      </p:pic>
      <p:sp>
        <p:nvSpPr>
          <p:cNvPr id="11" name="Rectangle 2">
            <a:extLst>
              <a:ext uri="{FF2B5EF4-FFF2-40B4-BE49-F238E27FC236}">
                <a16:creationId xmlns:a16="http://schemas.microsoft.com/office/drawing/2014/main" id="{AA216A67-6555-9458-0652-3AD2DCEA67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553" y="3681107"/>
            <a:ext cx="4468739" cy="65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indent="457200">
              <a:lnSpc>
                <a:spcPct val="150000"/>
              </a:lnSpc>
              <a:spcAft>
                <a:spcPts val="600"/>
              </a:spcAft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6 –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Information</a:t>
            </a:r>
            <a:r>
              <a:rPr lang="pt-BR" sz="90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Value</a:t>
            </a:r>
            <a:r>
              <a:rPr lang="pt-BR" sz="90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(IV) das variáveis da Política de Crédito</a:t>
            </a: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842E541-590F-C294-8203-EFB03683DC5B}"/>
              </a:ext>
            </a:extLst>
          </p:cNvPr>
          <p:cNvSpPr/>
          <p:nvPr/>
        </p:nvSpPr>
        <p:spPr>
          <a:xfrm>
            <a:off x="200025" y="2596746"/>
            <a:ext cx="5734049" cy="1031885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IV é criado a partir da junção dos </a:t>
            </a:r>
            <a:r>
              <a:rPr lang="pt-BR" sz="1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WOE’s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das variáveis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suma, essa métrica traduz o quão bem uma variável pode prever ou explicar o resultado desejado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6EDDA8C-D0D2-A123-8621-2B997870A28C}"/>
              </a:ext>
            </a:extLst>
          </p:cNvPr>
          <p:cNvSpPr/>
          <p:nvPr/>
        </p:nvSpPr>
        <p:spPr>
          <a:xfrm>
            <a:off x="6145374" y="801727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aphicFrame>
        <p:nvGraphicFramePr>
          <p:cNvPr id="26" name="Tabela 25">
            <a:extLst>
              <a:ext uri="{FF2B5EF4-FFF2-40B4-BE49-F238E27FC236}">
                <a16:creationId xmlns:a16="http://schemas.microsoft.com/office/drawing/2014/main" id="{5D900721-B39D-E18F-E8EA-CE4737C0ECFF}"/>
              </a:ext>
            </a:extLst>
          </p:cNvPr>
          <p:cNvGraphicFramePr>
            <a:graphicFrameLocks noGrp="1"/>
          </p:cNvGraphicFramePr>
          <p:nvPr/>
        </p:nvGraphicFramePr>
        <p:xfrm>
          <a:off x="6308064" y="3252652"/>
          <a:ext cx="5620564" cy="3129918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865100">
                  <a:extLst>
                    <a:ext uri="{9D8B030D-6E8A-4147-A177-3AD203B41FA5}">
                      <a16:colId xmlns:a16="http://schemas.microsoft.com/office/drawing/2014/main" val="2788744274"/>
                    </a:ext>
                  </a:extLst>
                </a:gridCol>
                <a:gridCol w="2377732">
                  <a:extLst>
                    <a:ext uri="{9D8B030D-6E8A-4147-A177-3AD203B41FA5}">
                      <a16:colId xmlns:a16="http://schemas.microsoft.com/office/drawing/2014/main" val="3688854412"/>
                    </a:ext>
                  </a:extLst>
                </a:gridCol>
                <a:gridCol w="2377732">
                  <a:extLst>
                    <a:ext uri="{9D8B030D-6E8A-4147-A177-3AD203B41FA5}">
                      <a16:colId xmlns:a16="http://schemas.microsoft.com/office/drawing/2014/main" val="12051044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5C’s do Crédito</a:t>
                      </a:r>
                      <a:endParaRPr lang="pt-BR" sz="800" i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Definição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Variáveis</a:t>
                      </a:r>
                      <a:endParaRPr lang="pt-BR" sz="800" i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7102"/>
                  </a:ext>
                </a:extLst>
              </a:tr>
              <a:tr h="40096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Caráter</a:t>
                      </a:r>
                      <a:endParaRPr lang="pt-BR" sz="800" i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Este critério avalia características pessoais e profissionais do cliente, como sua reputação em termos de integridade e honestidade</a:t>
                      </a:r>
                      <a:endParaRPr lang="pt-BR" sz="800" b="1" i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qt_meses_classificacao_mais_recente_90dias </a:t>
                      </a:r>
                      <a:r>
                        <a:rPr lang="pt-BR" sz="800" b="1" i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qt_meses_ultima_inadimplencia</a:t>
                      </a:r>
                      <a:endParaRPr lang="pt-BR" sz="800" b="1" i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561869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Capacidade</a:t>
                      </a:r>
                      <a:endParaRPr lang="pt-BR" sz="800" i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Refere-se à validação sobre as condições do tomador pagar suas dívidas, avaliando questões como renda e suas fontes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limite_rotativos_utilizado</a:t>
                      </a:r>
                      <a:endParaRPr lang="pt-BR" sz="800" b="1" i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comprometimento_de_renda_anual</a:t>
                      </a:r>
                      <a:endParaRPr lang="pt-BR" sz="800" b="1" i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faturamento_anual</a:t>
                      </a:r>
                      <a:endParaRPr lang="pt-BR" sz="800" b="1" i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479821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Colateral</a:t>
                      </a:r>
                      <a:endParaRPr lang="pt-BR" sz="800" i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É a garantia do pagamento do empréstimo a qual o credor pode recorrer em casos de inadimplência do solicitante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grau_de_emprestimo</a:t>
                      </a:r>
                      <a:endParaRPr lang="pt-BR" sz="800" b="1" i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subclasse_de_emprestimo</a:t>
                      </a:r>
                      <a:endParaRPr lang="pt-BR" sz="800" b="1" i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00259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Condições</a:t>
                      </a:r>
                      <a:endParaRPr lang="pt-BR" sz="800" i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Indica as condições referentes ao contexto econômico no qual o empréstimo será realizado, avaliando as características socioeconômicas do tomador e do mercado nacional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taxa_de_juros</a:t>
                      </a:r>
                      <a:endParaRPr lang="pt-BR" sz="800" b="1" i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45192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Capital</a:t>
                      </a:r>
                      <a:endParaRPr lang="pt-BR" sz="800" i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Apresenta uma análise interna sobre as finanças da instituição a fim de garantir que ela possui o dinheiro solicitado pelo cliente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0417117"/>
                  </a:ext>
                </a:extLst>
              </a:tr>
            </a:tbl>
          </a:graphicData>
        </a:graphic>
      </p:graphicFrame>
      <p:sp>
        <p:nvSpPr>
          <p:cNvPr id="27" name="Retângulo 26">
            <a:extLst>
              <a:ext uri="{FF2B5EF4-FFF2-40B4-BE49-F238E27FC236}">
                <a16:creationId xmlns:a16="http://schemas.microsoft.com/office/drawing/2014/main" id="{D921A997-0C9A-22DD-01B6-A4A546EDFA7E}"/>
              </a:ext>
            </a:extLst>
          </p:cNvPr>
          <p:cNvSpPr/>
          <p:nvPr/>
        </p:nvSpPr>
        <p:spPr>
          <a:xfrm>
            <a:off x="6241209" y="1030367"/>
            <a:ext cx="5734049" cy="151910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Posteriormente, segmentou-se cada uma das informações através da análise dos </a:t>
            </a:r>
            <a:r>
              <a:rPr lang="pt-BR" sz="1200" b="1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5C’s de Crédito </a:t>
            </a:r>
            <a:r>
              <a:rPr lang="pt-BR" sz="1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 fim de</a:t>
            </a:r>
            <a:r>
              <a:rPr lang="pt-BR" sz="1200" b="1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compreender se estas encaixavam-se nos conceitos propostos.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sz="1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ara a parte de </a:t>
            </a:r>
            <a:r>
              <a:rPr lang="pt-BR" sz="1200" b="1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Capital, </a:t>
            </a:r>
            <a:r>
              <a:rPr lang="pt-BR" sz="1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não se encontrou nenhuma informação presente na base de dados</a:t>
            </a:r>
            <a:endParaRPr lang="pt-BR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8CD55B9-B9E9-313E-D6BA-CA9815018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933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B1F58B-B58B-647E-6BA7-4560D6D3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E1463F1-4DD4-D715-00D8-0A522E5614C5}"/>
              </a:ext>
            </a:extLst>
          </p:cNvPr>
          <p:cNvSpPr/>
          <p:nvPr/>
        </p:nvSpPr>
        <p:spPr>
          <a:xfrm>
            <a:off x="100684" y="801727"/>
            <a:ext cx="5633366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A259909-4EAF-2AE9-4369-CFCBEB0ED5D0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POLÍTICA DE CRÉDITO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6EDDA8C-D0D2-A123-8621-2B997870A28C}"/>
              </a:ext>
            </a:extLst>
          </p:cNvPr>
          <p:cNvSpPr/>
          <p:nvPr/>
        </p:nvSpPr>
        <p:spPr>
          <a:xfrm>
            <a:off x="5860897" y="801727"/>
            <a:ext cx="6230421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aphicFrame>
        <p:nvGraphicFramePr>
          <p:cNvPr id="16" name="Tabela 15">
            <a:extLst>
              <a:ext uri="{FF2B5EF4-FFF2-40B4-BE49-F238E27FC236}">
                <a16:creationId xmlns:a16="http://schemas.microsoft.com/office/drawing/2014/main" id="{08FA68FB-8471-7825-927E-9F2231D136FD}"/>
              </a:ext>
            </a:extLst>
          </p:cNvPr>
          <p:cNvGraphicFramePr>
            <a:graphicFrameLocks noGrp="1"/>
          </p:cNvGraphicFramePr>
          <p:nvPr/>
        </p:nvGraphicFramePr>
        <p:xfrm>
          <a:off x="240736" y="1918982"/>
          <a:ext cx="5353262" cy="2630177"/>
        </p:xfrm>
        <a:graphic>
          <a:graphicData uri="http://schemas.openxmlformats.org/drawingml/2006/table">
            <a:tbl>
              <a:tblPr firstRow="1" bandRow="1">
                <a:solidFill>
                  <a:schemeClr val="accent2">
                    <a:lumMod val="60000"/>
                    <a:lumOff val="40000"/>
                  </a:schemeClr>
                </a:solidFill>
                <a:tableStyleId>{EB344D84-9AFB-497E-A393-DC336BA19D2E}</a:tableStyleId>
              </a:tblPr>
              <a:tblGrid>
                <a:gridCol w="538227">
                  <a:extLst>
                    <a:ext uri="{9D8B030D-6E8A-4147-A177-3AD203B41FA5}">
                      <a16:colId xmlns:a16="http://schemas.microsoft.com/office/drawing/2014/main" val="2788744274"/>
                    </a:ext>
                  </a:extLst>
                </a:gridCol>
                <a:gridCol w="1479317">
                  <a:extLst>
                    <a:ext uri="{9D8B030D-6E8A-4147-A177-3AD203B41FA5}">
                      <a16:colId xmlns:a16="http://schemas.microsoft.com/office/drawing/2014/main" val="1205104467"/>
                    </a:ext>
                  </a:extLst>
                </a:gridCol>
                <a:gridCol w="1788718">
                  <a:extLst>
                    <a:ext uri="{9D8B030D-6E8A-4147-A177-3AD203B41FA5}">
                      <a16:colId xmlns:a16="http://schemas.microsoft.com/office/drawing/2014/main" val="2154919097"/>
                    </a:ext>
                  </a:extLst>
                </a:gridCol>
                <a:gridCol w="1547000">
                  <a:extLst>
                    <a:ext uri="{9D8B030D-6E8A-4147-A177-3AD203B41FA5}">
                      <a16:colId xmlns:a16="http://schemas.microsoft.com/office/drawing/2014/main" val="2939204814"/>
                    </a:ext>
                  </a:extLst>
                </a:gridCol>
              </a:tblGrid>
              <a:tr h="328747">
                <a:tc>
                  <a:txBody>
                    <a:bodyPr/>
                    <a:lstStyle/>
                    <a:p>
                      <a:pPr algn="ctr"/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%BAD Faturam. Anual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BAD </a:t>
                      </a:r>
                      <a:r>
                        <a:rPr lang="pt-BR" sz="800" b="1" i="1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Compromet</a:t>
                      </a:r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Renda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%BAD Taxa de Juros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7102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8.1%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3.5%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561869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13.8%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8.3%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5.3%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479821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8.8%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7.5%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00259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9.4%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8.2%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45192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11.8%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9.8%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0417117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10.2%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11.3%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856447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11.4%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12.7%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577338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9.3%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13.2%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3302101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8.6%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18.2%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120192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7.9%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18.4%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22.2%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151410"/>
                  </a:ext>
                </a:extLst>
              </a:tr>
            </a:tbl>
          </a:graphicData>
        </a:graphic>
      </p:graphicFrame>
      <p:graphicFrame>
        <p:nvGraphicFramePr>
          <p:cNvPr id="21" name="Tabela 20">
            <a:extLst>
              <a:ext uri="{FF2B5EF4-FFF2-40B4-BE49-F238E27FC236}">
                <a16:creationId xmlns:a16="http://schemas.microsoft.com/office/drawing/2014/main" id="{B34BA667-0627-43FC-BF12-AB262108DEAF}"/>
              </a:ext>
            </a:extLst>
          </p:cNvPr>
          <p:cNvGraphicFramePr>
            <a:graphicFrameLocks noGrp="1"/>
          </p:cNvGraphicFramePr>
          <p:nvPr/>
        </p:nvGraphicFramePr>
        <p:xfrm>
          <a:off x="227532" y="4668343"/>
          <a:ext cx="2370698" cy="1674742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1103897">
                  <a:extLst>
                    <a:ext uri="{9D8B030D-6E8A-4147-A177-3AD203B41FA5}">
                      <a16:colId xmlns:a16="http://schemas.microsoft.com/office/drawing/2014/main" val="2788744274"/>
                    </a:ext>
                  </a:extLst>
                </a:gridCol>
                <a:gridCol w="1266801">
                  <a:extLst>
                    <a:ext uri="{9D8B030D-6E8A-4147-A177-3AD203B41FA5}">
                      <a16:colId xmlns:a16="http://schemas.microsoft.com/office/drawing/2014/main" val="1205104467"/>
                    </a:ext>
                  </a:extLst>
                </a:gridCol>
              </a:tblGrid>
              <a:tr h="367212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Classe de Produto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% BAD Classe de Produto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7102"/>
                  </a:ext>
                </a:extLst>
              </a:tr>
              <a:tr h="18679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561869"/>
                  </a:ext>
                </a:extLst>
              </a:tr>
              <a:tr h="18679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8.2%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479821"/>
                  </a:ext>
                </a:extLst>
              </a:tr>
              <a:tr h="18679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11.8%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00259"/>
                  </a:ext>
                </a:extLst>
              </a:tr>
              <a:tr h="18679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15.8%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45192"/>
                  </a:ext>
                </a:extLst>
              </a:tr>
              <a:tr h="18679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0417117"/>
                  </a:ext>
                </a:extLst>
              </a:tr>
              <a:tr h="18679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25.1%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856447"/>
                  </a:ext>
                </a:extLst>
              </a:tr>
              <a:tr h="18679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28.1%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577338"/>
                  </a:ext>
                </a:extLst>
              </a:tr>
            </a:tbl>
          </a:graphicData>
        </a:graphic>
      </p:graphicFrame>
      <p:graphicFrame>
        <p:nvGraphicFramePr>
          <p:cNvPr id="23" name="Tabela 22">
            <a:extLst>
              <a:ext uri="{FF2B5EF4-FFF2-40B4-BE49-F238E27FC236}">
                <a16:creationId xmlns:a16="http://schemas.microsoft.com/office/drawing/2014/main" id="{A27FEC56-06A9-4DAC-960C-FCB148A5568D}"/>
              </a:ext>
            </a:extLst>
          </p:cNvPr>
          <p:cNvGraphicFramePr>
            <a:graphicFrameLocks noGrp="1"/>
          </p:cNvGraphicFramePr>
          <p:nvPr/>
        </p:nvGraphicFramePr>
        <p:xfrm>
          <a:off x="3223300" y="4664543"/>
          <a:ext cx="2370698" cy="1678542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1103896">
                  <a:extLst>
                    <a:ext uri="{9D8B030D-6E8A-4147-A177-3AD203B41FA5}">
                      <a16:colId xmlns:a16="http://schemas.microsoft.com/office/drawing/2014/main" val="2788744274"/>
                    </a:ext>
                  </a:extLst>
                </a:gridCol>
                <a:gridCol w="1266802">
                  <a:extLst>
                    <a:ext uri="{9D8B030D-6E8A-4147-A177-3AD203B41FA5}">
                      <a16:colId xmlns:a16="http://schemas.microsoft.com/office/drawing/2014/main" val="12051044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Subclasse de Produto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% BAD Subclasse de Produto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7102"/>
                  </a:ext>
                </a:extLst>
              </a:tr>
              <a:tr h="19068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A1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1.9%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561869"/>
                  </a:ext>
                </a:extLst>
              </a:tr>
              <a:tr h="19068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A2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2.9%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479821"/>
                  </a:ext>
                </a:extLst>
              </a:tr>
              <a:tr h="19068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A3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3.5%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00259"/>
                  </a:ext>
                </a:extLst>
              </a:tr>
              <a:tr h="19068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...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45192"/>
                  </a:ext>
                </a:extLst>
              </a:tr>
              <a:tr h="19068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G3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29.3%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0417117"/>
                  </a:ext>
                </a:extLst>
              </a:tr>
              <a:tr h="19068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G4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29.5%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856447"/>
                  </a:ext>
                </a:extLst>
              </a:tr>
              <a:tr h="19068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G5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577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Google Shape;6658;p77">
                <a:extLst>
                  <a:ext uri="{FF2B5EF4-FFF2-40B4-BE49-F238E27FC236}">
                    <a16:creationId xmlns:a16="http://schemas.microsoft.com/office/drawing/2014/main" id="{12B2007E-A44F-7BAF-31CE-1AEEF3B1A711}"/>
                  </a:ext>
                </a:extLst>
              </p:cNvPr>
              <p:cNvSpPr/>
              <p:nvPr/>
            </p:nvSpPr>
            <p:spPr>
              <a:xfrm>
                <a:off x="5963874" y="6123106"/>
                <a:ext cx="6078210" cy="437225"/>
              </a:xfrm>
              <a:prstGeom prst="roundRect">
                <a:avLst>
                  <a:gd name="adj" fmla="val 50000"/>
                </a:avLst>
              </a:prstGeom>
              <a:noFill/>
              <a:ln w="19050">
                <a:solidFill>
                  <a:schemeClr val="tx1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algn="just"/>
                <a:r>
                  <a:rPr lang="pt-BR" sz="1000" b="1" i="1" u="none" strike="noStrike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PD</a:t>
                </a:r>
                <a:r>
                  <a:rPr lang="pt-BR" sz="1000" b="1" u="none" strike="noStrike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sz="1000" b="1" i="1" u="none" strike="noStrike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 </m:t>
                    </m:r>
                    <m:sSub>
                      <m:sSubPr>
                        <m:ctrlP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𝑷𝑫</m:t>
                        </m:r>
                      </m:e>
                      <m:sub>
                        <m:r>
                          <a:rPr lang="pt-BR" sz="1000" b="1" i="1" u="none" strike="noStrike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𝑭𝒂𝒕</m:t>
                        </m:r>
                        <m:r>
                          <a:rPr lang="pt-BR" sz="1000" b="1" i="1" u="none" strike="noStrike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. 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𝑨𝒏𝒖𝒂𝒍</m:t>
                        </m:r>
                      </m:sub>
                    </m:sSub>
                    <m:r>
                      <a:rPr lang="pt-BR" sz="1000" b="1" i="1" u="none" strike="noStrike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𝑷𝑫</m:t>
                        </m:r>
                      </m:e>
                      <m:sub>
                        <m:r>
                          <a:rPr lang="pt-BR" sz="1000" b="1" i="1" u="none" strike="noStrike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𝑪𝒐𝒎𝒑𝒓𝒐𝒎</m:t>
                        </m:r>
                        <m:r>
                          <a:rPr lang="pt-BR" sz="1000" b="1" i="1" u="none" strike="noStrike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..  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𝑹𝒆𝒏𝒅𝒂</m:t>
                        </m:r>
                      </m:sub>
                    </m:sSub>
                    <m:r>
                      <a:rPr lang="pt-BR" sz="1000" b="1" i="1" u="none" strike="noStrike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𝑷𝑫</m:t>
                        </m:r>
                      </m:e>
                      <m:sub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𝑻𝒂𝒙𝒂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𝒅𝒆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𝑱𝒖𝒓𝒐𝒔</m:t>
                        </m:r>
                      </m:sub>
                    </m:sSub>
                    <m:r>
                      <a:rPr lang="pt-BR" sz="1000" b="1" i="1" u="none" strike="noStrike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𝑷𝑫</m:t>
                        </m:r>
                      </m:e>
                      <m:sub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𝑪𝒍𝒂𝒔𝒔𝒆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𝑷𝒓𝒐𝒅𝒖𝒕𝒐</m:t>
                        </m:r>
                      </m:sub>
                    </m:sSub>
                    <m:r>
                      <a:rPr lang="pt-BR" sz="1000" b="1" i="1" u="none" strike="noStrike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𝑷𝑫</m:t>
                        </m:r>
                      </m:e>
                      <m:sub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𝑺𝒖𝒃𝒄𝒍𝒂𝒔𝒔𝒆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pt-BR" sz="1000" b="1" i="1" u="none" strike="noStrike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𝑷𝒓𝒐𝒅𝒖𝒕𝒐</m:t>
                        </m:r>
                      </m:sub>
                    </m:sSub>
                  </m:oMath>
                </a14:m>
                <a:endParaRPr lang="pt-BR" sz="800" b="1" i="1" u="sng" dirty="0"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Google Shape;6658;p77">
                <a:extLst>
                  <a:ext uri="{FF2B5EF4-FFF2-40B4-BE49-F238E27FC236}">
                    <a16:creationId xmlns:a16="http://schemas.microsoft.com/office/drawing/2014/main" id="{12B2007E-A44F-7BAF-31CE-1AEEF3B1A7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3874" y="6123106"/>
                <a:ext cx="6078210" cy="437225"/>
              </a:xfrm>
              <a:prstGeom prst="roundRect">
                <a:avLst>
                  <a:gd name="adj" fmla="val 50000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Google Shape;6658;p77">
            <a:extLst>
              <a:ext uri="{FF2B5EF4-FFF2-40B4-BE49-F238E27FC236}">
                <a16:creationId xmlns:a16="http://schemas.microsoft.com/office/drawing/2014/main" id="{48CDBDA4-DA5C-6727-853C-6E701D696F44}"/>
              </a:ext>
            </a:extLst>
          </p:cNvPr>
          <p:cNvSpPr/>
          <p:nvPr/>
        </p:nvSpPr>
        <p:spPr>
          <a:xfrm>
            <a:off x="2294092" y="6435493"/>
            <a:ext cx="1233344" cy="249677"/>
          </a:xfrm>
          <a:prstGeom prst="roundRect">
            <a:avLst>
              <a:gd name="adj" fmla="val 50000"/>
            </a:avLst>
          </a:prstGeom>
          <a:solidFill>
            <a:srgbClr val="1B7B56"/>
          </a:solidFill>
          <a:ln w="19050">
            <a:solidFill>
              <a:schemeClr val="tx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 Ordenação</a:t>
            </a:r>
            <a:endParaRPr sz="1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FA4EEA07-2547-01DD-9C82-EFD1C3BEB125}"/>
              </a:ext>
            </a:extLst>
          </p:cNvPr>
          <p:cNvSpPr/>
          <p:nvPr/>
        </p:nvSpPr>
        <p:spPr>
          <a:xfrm>
            <a:off x="240736" y="890560"/>
            <a:ext cx="5366467" cy="971796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lnSpc>
                <a:spcPct val="15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pt-B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pt-BR" sz="1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explicabilidade</a:t>
            </a:r>
            <a:r>
              <a:rPr lang="pt-B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essencial durante a construção de uma política, portanto, ela demanda maior preciosismo.</a:t>
            </a:r>
          </a:p>
          <a:p>
            <a:pPr marL="171450" indent="-171450" algn="just">
              <a:lnSpc>
                <a:spcPct val="15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pt-B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Dessa forma,  escolheu-se utilizar apenas variáveis com ordenação correta</a:t>
            </a:r>
          </a:p>
        </p:txBody>
      </p:sp>
      <p:graphicFrame>
        <p:nvGraphicFramePr>
          <p:cNvPr id="11" name="Tabela 10">
            <a:extLst>
              <a:ext uri="{FF2B5EF4-FFF2-40B4-BE49-F238E27FC236}">
                <a16:creationId xmlns:a16="http://schemas.microsoft.com/office/drawing/2014/main" id="{E58F8E7C-8F08-15C3-D0A1-93C48EE930CC}"/>
              </a:ext>
            </a:extLst>
          </p:cNvPr>
          <p:cNvGraphicFramePr>
            <a:graphicFrameLocks noGrp="1"/>
          </p:cNvGraphicFramePr>
          <p:nvPr/>
        </p:nvGraphicFramePr>
        <p:xfrm>
          <a:off x="6224107" y="1760386"/>
          <a:ext cx="5273676" cy="2630173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530225">
                  <a:extLst>
                    <a:ext uri="{9D8B030D-6E8A-4147-A177-3AD203B41FA5}">
                      <a16:colId xmlns:a16="http://schemas.microsoft.com/office/drawing/2014/main" val="2788744274"/>
                    </a:ext>
                  </a:extLst>
                </a:gridCol>
                <a:gridCol w="1457325">
                  <a:extLst>
                    <a:ext uri="{9D8B030D-6E8A-4147-A177-3AD203B41FA5}">
                      <a16:colId xmlns:a16="http://schemas.microsoft.com/office/drawing/2014/main" val="1205104467"/>
                    </a:ext>
                  </a:extLst>
                </a:gridCol>
                <a:gridCol w="1762125">
                  <a:extLst>
                    <a:ext uri="{9D8B030D-6E8A-4147-A177-3AD203B41FA5}">
                      <a16:colId xmlns:a16="http://schemas.microsoft.com/office/drawing/2014/main" val="2154919097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2939204814"/>
                    </a:ext>
                  </a:extLst>
                </a:gridCol>
              </a:tblGrid>
              <a:tr h="364933">
                <a:tc>
                  <a:txBody>
                    <a:bodyPr/>
                    <a:lstStyle/>
                    <a:p>
                      <a:pPr algn="ctr"/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% BAD Limite de Rotativos Utilizado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% BAD Qt Meses desde última </a:t>
                      </a:r>
                      <a:r>
                        <a:rPr lang="pt-BR" sz="800" b="1" i="1" u="none" strike="noStrike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inadimp</a:t>
                      </a:r>
                      <a:r>
                        <a:rPr lang="pt-BR" sz="800" b="1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%BAD Qt Meses desde </a:t>
                      </a:r>
                      <a:r>
                        <a:rPr lang="pt-BR" sz="800" b="1" i="1" u="none" strike="noStrike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classif</a:t>
                      </a:r>
                      <a:r>
                        <a:rPr lang="pt-BR" sz="800" b="1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 mais recente 90d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7102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11.8%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11.7%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11.5%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561869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11.4%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10.8%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479821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11.8%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10.8%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10.6%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00259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11.6%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10.5%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10.2%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45192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11.8%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10.4%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10.6%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0417117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11.4%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9.7%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856447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11.7%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10.5%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577338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11.2%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10.7%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9.5%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3302101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10.4%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10.6%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10.7%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120192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9.4%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11.3%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11.2%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151410"/>
                  </a:ext>
                </a:extLst>
              </a:tr>
            </a:tbl>
          </a:graphicData>
        </a:graphic>
      </p:graphicFrame>
      <p:sp>
        <p:nvSpPr>
          <p:cNvPr id="17" name="Google Shape;6658;p77">
            <a:extLst>
              <a:ext uri="{FF2B5EF4-FFF2-40B4-BE49-F238E27FC236}">
                <a16:creationId xmlns:a16="http://schemas.microsoft.com/office/drawing/2014/main" id="{A0DDA7B3-0877-D747-145E-75C03C831717}"/>
              </a:ext>
            </a:extLst>
          </p:cNvPr>
          <p:cNvSpPr/>
          <p:nvPr/>
        </p:nvSpPr>
        <p:spPr>
          <a:xfrm>
            <a:off x="8239994" y="4508415"/>
            <a:ext cx="1233344" cy="210527"/>
          </a:xfrm>
          <a:prstGeom prst="roundRect">
            <a:avLst>
              <a:gd name="adj" fmla="val 50000"/>
            </a:avLst>
          </a:prstGeom>
          <a:solidFill>
            <a:srgbClr val="993300"/>
          </a:solidFill>
          <a:ln w="19050">
            <a:solidFill>
              <a:schemeClr val="tx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 Ordenação</a:t>
            </a:r>
            <a:endParaRPr sz="1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272E77E3-DBAD-4732-2CD6-96B020364E09}"/>
              </a:ext>
            </a:extLst>
          </p:cNvPr>
          <p:cNvSpPr/>
          <p:nvPr/>
        </p:nvSpPr>
        <p:spPr>
          <a:xfrm>
            <a:off x="5963874" y="4898356"/>
            <a:ext cx="6078210" cy="1045335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lnSpc>
                <a:spcPct val="15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pt-B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Sendo assim, optou-se por combinar a PD de cada variável </a:t>
            </a:r>
          </a:p>
          <a:p>
            <a:pPr marL="171450" indent="-171450" algn="just">
              <a:lnSpc>
                <a:spcPct val="15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pt-B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Essa combinação permite a detecção dos perfis mais arriscados de forma intuitiva, garantindo bons resultados e boa </a:t>
            </a:r>
            <a:r>
              <a:rPr lang="pt-BR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explicabilidade</a:t>
            </a:r>
            <a:endParaRPr lang="pt-BR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CB397F6A-94B0-02A5-122E-8B12263A9F08}"/>
              </a:ext>
            </a:extLst>
          </p:cNvPr>
          <p:cNvSpPr/>
          <p:nvPr/>
        </p:nvSpPr>
        <p:spPr>
          <a:xfrm>
            <a:off x="5937002" y="846076"/>
            <a:ext cx="6078210" cy="77289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lnSpc>
                <a:spcPct val="15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pt-B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Variáveis sem ordenação muitas vezes são complexas de explicar, pois elas não seguem a intuição padrão e, portanto, acabam sem justificativas plausíveis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7507D8-124C-E7CD-7D14-2E7AAEE0F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16623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B1F58B-B58B-647E-6BA7-4560D6D3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E1463F1-4DD4-D715-00D8-0A522E5614C5}"/>
              </a:ext>
            </a:extLst>
          </p:cNvPr>
          <p:cNvSpPr/>
          <p:nvPr/>
        </p:nvSpPr>
        <p:spPr>
          <a:xfrm>
            <a:off x="100684" y="801727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A259909-4EAF-2AE9-4369-CFCBEB0ED5D0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MODELAGEM MATEMÁTICA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6EDDA8C-D0D2-A123-8621-2B997870A28C}"/>
              </a:ext>
            </a:extLst>
          </p:cNvPr>
          <p:cNvSpPr/>
          <p:nvPr/>
        </p:nvSpPr>
        <p:spPr>
          <a:xfrm>
            <a:off x="6145374" y="801727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173CDAA-6D68-4BBF-47B3-0204BAA6FD7B}"/>
              </a:ext>
            </a:extLst>
          </p:cNvPr>
          <p:cNvSpPr/>
          <p:nvPr/>
        </p:nvSpPr>
        <p:spPr>
          <a:xfrm>
            <a:off x="295265" y="673228"/>
            <a:ext cx="2533660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Modelagem por ML</a:t>
            </a:r>
          </a:p>
        </p:txBody>
      </p:sp>
      <p:sp>
        <p:nvSpPr>
          <p:cNvPr id="5" name="Fluxograma: Conector 4">
            <a:extLst>
              <a:ext uri="{FF2B5EF4-FFF2-40B4-BE49-F238E27FC236}">
                <a16:creationId xmlns:a16="http://schemas.microsoft.com/office/drawing/2014/main" id="{60C39546-C8D0-3FA7-8F59-B6106AB12FC5}"/>
              </a:ext>
            </a:extLst>
          </p:cNvPr>
          <p:cNvSpPr/>
          <p:nvPr/>
        </p:nvSpPr>
        <p:spPr>
          <a:xfrm>
            <a:off x="316543" y="696776"/>
            <a:ext cx="563723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  <a:endParaRPr lang="pt-BR" b="1" dirty="0">
              <a:solidFill>
                <a:srgbClr val="28396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A3C447B-C496-5659-6DAC-73AE34008B98}"/>
              </a:ext>
            </a:extLst>
          </p:cNvPr>
          <p:cNvSpPr txBox="1"/>
          <p:nvPr/>
        </p:nvSpPr>
        <p:spPr>
          <a:xfrm>
            <a:off x="277876" y="1193476"/>
            <a:ext cx="5638810" cy="547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latin typeface="Arial" panose="020B0604020202020204" pitchFamily="34" charset="0"/>
                <a:cs typeface="Arial" panose="020B0604020202020204" pitchFamily="34" charset="0"/>
              </a:rPr>
              <a:t>O destaque do Machine Learning deve-se ao fato de que ele é capaz de reconhecer padrões complexos através dos dados, tendo grande poder preditivo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367E57C-0420-E2E6-36AC-FAE70B47786B}"/>
              </a:ext>
            </a:extLst>
          </p:cNvPr>
          <p:cNvSpPr/>
          <p:nvPr/>
        </p:nvSpPr>
        <p:spPr>
          <a:xfrm>
            <a:off x="6216886" y="2861670"/>
            <a:ext cx="5734049" cy="72462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Variance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Threshold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Eliminou-se variáveis de variância 0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Mutual </a:t>
            </a: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Information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Eliminou-se variáveis com ganho de inf. de 0%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Feature </a:t>
            </a: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Importance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Eliminou-se variáveis abaixo da importância de 1%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70445F69-8704-EEB9-C659-C5443BEFD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117" y="3951182"/>
            <a:ext cx="5318760" cy="2575560"/>
          </a:xfrm>
          <a:prstGeom prst="rect">
            <a:avLst/>
          </a:prstGeom>
        </p:spPr>
      </p:pic>
      <p:sp>
        <p:nvSpPr>
          <p:cNvPr id="18" name="Rectangle 2">
            <a:extLst>
              <a:ext uri="{FF2B5EF4-FFF2-40B4-BE49-F238E27FC236}">
                <a16:creationId xmlns:a16="http://schemas.microsoft.com/office/drawing/2014/main" id="{1F2FF681-FD97-81B0-A4B5-1D82C5867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2942" y="3635539"/>
            <a:ext cx="4468739" cy="65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indent="457200">
              <a:lnSpc>
                <a:spcPct val="150000"/>
              </a:lnSpc>
              <a:spcAft>
                <a:spcPts val="600"/>
              </a:spcAft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9 – Variáveis de Entrada para os Modelos de ML</a:t>
            </a:r>
            <a:endParaRPr lang="pt-BR" sz="900" b="1" i="1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62731325-D0DA-D281-7139-305128DBB27A}"/>
              </a:ext>
            </a:extLst>
          </p:cNvPr>
          <p:cNvSpPr/>
          <p:nvPr/>
        </p:nvSpPr>
        <p:spPr>
          <a:xfrm>
            <a:off x="206631" y="5073133"/>
            <a:ext cx="5734049" cy="118278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 </a:t>
            </a: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Encoder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 variáveis categóricas, substituiu-se cada classe pela sua %BAD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Min-Max </a:t>
            </a: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Scaler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 as variáveis contínuas, aplicou-se este método para deixa-las no intervalo contido entre [0,1]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Imputer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 as variáveis contínuas, preencheu-se os valores ausentes com a mediana da variável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F973330-1D01-CC89-545A-273361A00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910036" y="496729"/>
            <a:ext cx="229998" cy="365125"/>
          </a:xfrm>
        </p:spPr>
        <p:txBody>
          <a:bodyPr/>
          <a:lstStyle/>
          <a:p>
            <a:fld id="{4A2E7D2D-E592-41F1-8B20-DBD4249F3386}" type="slidenum">
              <a:rPr lang="pt-BR" b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15</a:t>
            </a:fld>
            <a:endParaRPr lang="pt-BR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50E04C11-F3DC-ED53-2F28-C80977E3884B}"/>
              </a:ext>
            </a:extLst>
          </p:cNvPr>
          <p:cNvGraphicFramePr>
            <a:graphicFrameLocks noGrp="1"/>
          </p:cNvGraphicFramePr>
          <p:nvPr/>
        </p:nvGraphicFramePr>
        <p:xfrm>
          <a:off x="6195827" y="1151135"/>
          <a:ext cx="5734049" cy="1234760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2698754">
                  <a:extLst>
                    <a:ext uri="{9D8B030D-6E8A-4147-A177-3AD203B41FA5}">
                      <a16:colId xmlns:a16="http://schemas.microsoft.com/office/drawing/2014/main" val="2788744274"/>
                    </a:ext>
                  </a:extLst>
                </a:gridCol>
                <a:gridCol w="3035295">
                  <a:extLst>
                    <a:ext uri="{9D8B030D-6E8A-4147-A177-3AD203B41FA5}">
                      <a16:colId xmlns:a16="http://schemas.microsoft.com/office/drawing/2014/main" val="1205104467"/>
                    </a:ext>
                  </a:extLst>
                </a:gridCol>
              </a:tblGrid>
              <a:tr h="351214"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Quantidade de Anos no Mesmo Emprego</a:t>
                      </a:r>
                      <a:endParaRPr lang="pt-BR" sz="1000" i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% BAD Quantidade de Anos no Mesmo Emprego</a:t>
                      </a:r>
                      <a:endParaRPr lang="pt-BR" sz="1000" i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7102"/>
                  </a:ext>
                </a:extLst>
              </a:tr>
              <a:tr h="164426"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Até 3 Anos 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  11.76%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561869"/>
                  </a:ext>
                </a:extLst>
              </a:tr>
              <a:tr h="164426"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Até 6 Anos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11.6%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479821"/>
                  </a:ext>
                </a:extLst>
              </a:tr>
              <a:tr h="164426"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Até 9 Anos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11.54%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00259"/>
                  </a:ext>
                </a:extLst>
              </a:tr>
              <a:tr h="164426"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 anos ou +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10.39%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45192"/>
                  </a:ext>
                </a:extLst>
              </a:tr>
            </a:tbl>
          </a:graphicData>
        </a:graphic>
      </p:graphicFrame>
      <p:pic>
        <p:nvPicPr>
          <p:cNvPr id="12" name="Imagem 11">
            <a:extLst>
              <a:ext uri="{FF2B5EF4-FFF2-40B4-BE49-F238E27FC236}">
                <a16:creationId xmlns:a16="http://schemas.microsoft.com/office/drawing/2014/main" id="{F5A3BE97-227F-5290-99E8-2A4EC29A7A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867" y="2534657"/>
            <a:ext cx="2533660" cy="1636817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66F06AF3-8F01-D5B2-89BD-0A4EAD753E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7507" y="2534658"/>
            <a:ext cx="2533661" cy="1636817"/>
          </a:xfrm>
          <a:prstGeom prst="rect">
            <a:avLst/>
          </a:prstGeom>
        </p:spPr>
      </p:pic>
      <p:sp>
        <p:nvSpPr>
          <p:cNvPr id="15" name="Rectangle 2">
            <a:extLst>
              <a:ext uri="{FF2B5EF4-FFF2-40B4-BE49-F238E27FC236}">
                <a16:creationId xmlns:a16="http://schemas.microsoft.com/office/drawing/2014/main" id="{4F37815E-70DA-EDE1-82F3-0E280D15E3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865" y="2207645"/>
            <a:ext cx="2533659" cy="65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indent="457200" algn="ctr">
              <a:lnSpc>
                <a:spcPct val="150000"/>
              </a:lnSpc>
              <a:spcAft>
                <a:spcPts val="600"/>
              </a:spcAft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7 –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Holdout</a:t>
            </a:r>
            <a:endParaRPr lang="pt-BR" sz="900" b="1" i="1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lvl="0" indent="45720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C5F05A60-65E6-0E35-9F6B-81B0006BB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7503" y="2207645"/>
            <a:ext cx="2533659" cy="65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indent="457200">
              <a:lnSpc>
                <a:spcPct val="150000"/>
              </a:lnSpc>
              <a:spcAft>
                <a:spcPts val="600"/>
              </a:spcAft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8 – </a:t>
            </a:r>
            <a:r>
              <a:rPr lang="pt-BR" sz="90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Cross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Validation</a:t>
            </a:r>
            <a:endParaRPr lang="pt-BR" sz="900" b="1" i="1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lvl="0" indent="45720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5B3673E1-06B9-184D-DD9B-B637154AC157}"/>
              </a:ext>
            </a:extLst>
          </p:cNvPr>
          <p:cNvSpPr/>
          <p:nvPr/>
        </p:nvSpPr>
        <p:spPr>
          <a:xfrm>
            <a:off x="223454" y="1781937"/>
            <a:ext cx="5734049" cy="39901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fim de garantir resultados confiáveis, utilizou-se as técnicas de </a:t>
            </a:r>
            <a:r>
              <a:rPr lang="pt-BR" sz="1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Holdout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Validação Cruzada como métodos de validação</a:t>
            </a:r>
          </a:p>
        </p:txBody>
      </p:sp>
    </p:spTree>
    <p:extLst>
      <p:ext uri="{BB962C8B-B14F-4D97-AF65-F5344CB8AC3E}">
        <p14:creationId xmlns:p14="http://schemas.microsoft.com/office/powerpoint/2010/main" val="11208625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B1F58B-B58B-647E-6BA7-4560D6D3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E1463F1-4DD4-D715-00D8-0A522E5614C5}"/>
              </a:ext>
            </a:extLst>
          </p:cNvPr>
          <p:cNvSpPr/>
          <p:nvPr/>
        </p:nvSpPr>
        <p:spPr>
          <a:xfrm>
            <a:off x="100684" y="801727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A259909-4EAF-2AE9-4369-CFCBEB0ED5D0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MODELAGEM MATEMÁTICA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6EDDA8C-D0D2-A123-8621-2B997870A28C}"/>
              </a:ext>
            </a:extLst>
          </p:cNvPr>
          <p:cNvSpPr/>
          <p:nvPr/>
        </p:nvSpPr>
        <p:spPr>
          <a:xfrm>
            <a:off x="6145374" y="801727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173CDAA-6D68-4BBF-47B3-0204BAA6FD7B}"/>
              </a:ext>
            </a:extLst>
          </p:cNvPr>
          <p:cNvSpPr/>
          <p:nvPr/>
        </p:nvSpPr>
        <p:spPr>
          <a:xfrm>
            <a:off x="295265" y="673228"/>
            <a:ext cx="2533660" cy="540058"/>
          </a:xfrm>
          <a:prstGeom prst="rect">
            <a:avLst/>
          </a:prstGeom>
          <a:solidFill>
            <a:srgbClr val="28396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Modelagem por ML</a:t>
            </a:r>
          </a:p>
        </p:txBody>
      </p:sp>
      <p:sp>
        <p:nvSpPr>
          <p:cNvPr id="5" name="Fluxograma: Conector 4">
            <a:extLst>
              <a:ext uri="{FF2B5EF4-FFF2-40B4-BE49-F238E27FC236}">
                <a16:creationId xmlns:a16="http://schemas.microsoft.com/office/drawing/2014/main" id="{60C39546-C8D0-3FA7-8F59-B6106AB12FC5}"/>
              </a:ext>
            </a:extLst>
          </p:cNvPr>
          <p:cNvSpPr/>
          <p:nvPr/>
        </p:nvSpPr>
        <p:spPr>
          <a:xfrm>
            <a:off x="316543" y="696776"/>
            <a:ext cx="563723" cy="45812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rgbClr val="28396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lang="pt-BR" b="1" dirty="0">
              <a:solidFill>
                <a:srgbClr val="28396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A3C447B-C496-5659-6DAC-73AE34008B98}"/>
              </a:ext>
            </a:extLst>
          </p:cNvPr>
          <p:cNvSpPr txBox="1"/>
          <p:nvPr/>
        </p:nvSpPr>
        <p:spPr>
          <a:xfrm>
            <a:off x="295265" y="1273975"/>
            <a:ext cx="5638810" cy="1274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28600" algn="just">
              <a:lnSpc>
                <a:spcPct val="150000"/>
              </a:lnSpc>
              <a:spcAft>
                <a:spcPts val="1000"/>
              </a:spcAft>
            </a:pPr>
            <a:r>
              <a:rPr lang="pt-BR" sz="1050" b="1" dirty="0">
                <a:latin typeface="Arial" panose="020B0604020202020204" pitchFamily="34" charset="0"/>
                <a:cs typeface="Arial" panose="020B0604020202020204" pitchFamily="34" charset="0"/>
              </a:rPr>
              <a:t>O destaque do Machine Learning deve-se ao fato de que ele é capaz de reconhecer padrões complexos através de dados de entrada e então tomar novas decisões baseadas no aprendizado anterior. Pelo grande poder preditivo e capacidade de generalização, este tipo de modelagem proporciona a automação de processos de forma segura.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367E57C-0420-E2E6-36AC-FAE70B47786B}"/>
              </a:ext>
            </a:extLst>
          </p:cNvPr>
          <p:cNvSpPr/>
          <p:nvPr/>
        </p:nvSpPr>
        <p:spPr>
          <a:xfrm>
            <a:off x="6285098" y="850975"/>
            <a:ext cx="5734049" cy="72462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Variance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Threshold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Eliminou-se variáveis de variância 0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Mutual </a:t>
            </a: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Information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Eliminou-se variáveis com ganho de inf. de 0%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Feature </a:t>
            </a: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Importance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Eliminou-se variáveis abaixo da importância de 1%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70445F69-8704-EEB9-C659-C5443BEFD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5097" y="2017725"/>
            <a:ext cx="5734049" cy="4129714"/>
          </a:xfrm>
          <a:prstGeom prst="rect">
            <a:avLst/>
          </a:prstGeom>
        </p:spPr>
      </p:pic>
      <p:sp>
        <p:nvSpPr>
          <p:cNvPr id="18" name="Rectangle 2">
            <a:extLst>
              <a:ext uri="{FF2B5EF4-FFF2-40B4-BE49-F238E27FC236}">
                <a16:creationId xmlns:a16="http://schemas.microsoft.com/office/drawing/2014/main" id="{1F2FF681-FD97-81B0-A4B5-1D82C5867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1154" y="1624844"/>
            <a:ext cx="4468739" cy="65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indent="457200">
              <a:lnSpc>
                <a:spcPct val="150000"/>
              </a:lnSpc>
              <a:spcAft>
                <a:spcPts val="600"/>
              </a:spcAft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</a:t>
            </a:r>
            <a:r>
              <a:rPr lang="pt-BR" altLang="pt-BR" sz="900" b="1" i="1" dirty="0">
                <a:latin typeface="Arial" panose="020B0604020202020204" pitchFamily="34" charset="0"/>
                <a:ea typeface="Times New Roman" panose="02020603050405020304" pitchFamily="18" charset="0"/>
              </a:rPr>
              <a:t>7</a:t>
            </a: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– Variáveis de Entrada para os Modelos de ML</a:t>
            </a:r>
            <a:endParaRPr lang="pt-BR" sz="900" b="1" i="1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62731325-D0DA-D281-7139-305128DBB27A}"/>
              </a:ext>
            </a:extLst>
          </p:cNvPr>
          <p:cNvSpPr/>
          <p:nvPr/>
        </p:nvSpPr>
        <p:spPr>
          <a:xfrm>
            <a:off x="200026" y="2608925"/>
            <a:ext cx="5734049" cy="170084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 </a:t>
            </a: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Encoder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 variáveis categóricas, substituiu-se cada classe pela sua %BAD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Min-Max </a:t>
            </a: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Scaler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 as variáveis contínuas, aplicou-se este método para deixa-las no intervalo contido entre [0,1]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Imputer</a:t>
            </a:r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 as variáveis contínuas, preencheu-se os valores ausentes com a mediana da variável</a:t>
            </a:r>
          </a:p>
        </p:txBody>
      </p:sp>
      <p:graphicFrame>
        <p:nvGraphicFramePr>
          <p:cNvPr id="25" name="Tabela 24">
            <a:extLst>
              <a:ext uri="{FF2B5EF4-FFF2-40B4-BE49-F238E27FC236}">
                <a16:creationId xmlns:a16="http://schemas.microsoft.com/office/drawing/2014/main" id="{4BA0B587-5493-BF10-5FE7-00D095A9E46A}"/>
              </a:ext>
            </a:extLst>
          </p:cNvPr>
          <p:cNvGraphicFramePr>
            <a:graphicFrameLocks noGrp="1"/>
          </p:cNvGraphicFramePr>
          <p:nvPr/>
        </p:nvGraphicFramePr>
        <p:xfrm>
          <a:off x="206631" y="4811511"/>
          <a:ext cx="5734049" cy="1335928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2698754">
                  <a:extLst>
                    <a:ext uri="{9D8B030D-6E8A-4147-A177-3AD203B41FA5}">
                      <a16:colId xmlns:a16="http://schemas.microsoft.com/office/drawing/2014/main" val="2788744274"/>
                    </a:ext>
                  </a:extLst>
                </a:gridCol>
                <a:gridCol w="3035295">
                  <a:extLst>
                    <a:ext uri="{9D8B030D-6E8A-4147-A177-3AD203B41FA5}">
                      <a16:colId xmlns:a16="http://schemas.microsoft.com/office/drawing/2014/main" val="1205104467"/>
                    </a:ext>
                  </a:extLst>
                </a:gridCol>
              </a:tblGrid>
              <a:tr h="364933"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Quantidade de Anos no Mesmo Emprego</a:t>
                      </a:r>
                      <a:endParaRPr lang="pt-BR" sz="1000" i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% BAD Quantidade de Anos no Mesmo Emprego</a:t>
                      </a:r>
                      <a:endParaRPr lang="pt-BR" sz="1000" i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7102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Até 3 Anos 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  11.76%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561869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Até 6 Anos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11.6%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479821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Até 9 Anos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11.54%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00259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 anos ou +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7200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10.39%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45192"/>
                  </a:ext>
                </a:extLst>
              </a:tr>
            </a:tbl>
          </a:graphicData>
        </a:graphic>
      </p:graphicFrame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F973330-1D01-CC89-545A-273361A00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7860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B1F58B-B58B-647E-6BA7-4560D6D3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 20">
            <a:extLst>
              <a:ext uri="{FF2B5EF4-FFF2-40B4-BE49-F238E27FC236}">
                <a16:creationId xmlns:a16="http://schemas.microsoft.com/office/drawing/2014/main" id="{7CB7FE8E-5BE8-35F2-DFB5-4EF98B06650E}"/>
              </a:ext>
            </a:extLst>
          </p:cNvPr>
          <p:cNvSpPr/>
          <p:nvPr/>
        </p:nvSpPr>
        <p:spPr>
          <a:xfrm>
            <a:off x="6096000" y="801727"/>
            <a:ext cx="6046629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AE1463F1-4DD4-D715-00D8-0A522E5614C5}"/>
              </a:ext>
            </a:extLst>
          </p:cNvPr>
          <p:cNvSpPr/>
          <p:nvPr/>
        </p:nvSpPr>
        <p:spPr>
          <a:xfrm>
            <a:off x="100683" y="801727"/>
            <a:ext cx="5908231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A259909-4EAF-2AE9-4369-CFCBEB0ED5D0}"/>
              </a:ext>
            </a:extLst>
          </p:cNvPr>
          <p:cNvSpPr/>
          <p:nvPr/>
        </p:nvSpPr>
        <p:spPr>
          <a:xfrm>
            <a:off x="-49372" y="-28942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MODELAGEM MATEMÁTICA</a:t>
            </a:r>
          </a:p>
        </p:txBody>
      </p:sp>
      <p:graphicFrame>
        <p:nvGraphicFramePr>
          <p:cNvPr id="34" name="Tabela 33">
            <a:extLst>
              <a:ext uri="{FF2B5EF4-FFF2-40B4-BE49-F238E27FC236}">
                <a16:creationId xmlns:a16="http://schemas.microsoft.com/office/drawing/2014/main" id="{820B8FC8-6FC2-9651-C78F-E17196A3CE4D}"/>
              </a:ext>
            </a:extLst>
          </p:cNvPr>
          <p:cNvGraphicFramePr>
            <a:graphicFrameLocks noGrp="1"/>
          </p:cNvGraphicFramePr>
          <p:nvPr/>
        </p:nvGraphicFramePr>
        <p:xfrm>
          <a:off x="6541991" y="850811"/>
          <a:ext cx="5272210" cy="3571116"/>
        </p:xfrm>
        <a:graphic>
          <a:graphicData uri="http://schemas.openxmlformats.org/drawingml/2006/table">
            <a:tbl>
              <a:tblPr firstRow="1" firstCol="1" bandRow="1"/>
              <a:tblGrid>
                <a:gridCol w="652782">
                  <a:extLst>
                    <a:ext uri="{9D8B030D-6E8A-4147-A177-3AD203B41FA5}">
                      <a16:colId xmlns:a16="http://schemas.microsoft.com/office/drawing/2014/main" val="4151726305"/>
                    </a:ext>
                  </a:extLst>
                </a:gridCol>
                <a:gridCol w="660162">
                  <a:extLst>
                    <a:ext uri="{9D8B030D-6E8A-4147-A177-3AD203B41FA5}">
                      <a16:colId xmlns:a16="http://schemas.microsoft.com/office/drawing/2014/main" val="1786775086"/>
                    </a:ext>
                  </a:extLst>
                </a:gridCol>
                <a:gridCol w="705572">
                  <a:extLst>
                    <a:ext uri="{9D8B030D-6E8A-4147-A177-3AD203B41FA5}">
                      <a16:colId xmlns:a16="http://schemas.microsoft.com/office/drawing/2014/main" val="1967189809"/>
                    </a:ext>
                  </a:extLst>
                </a:gridCol>
                <a:gridCol w="922977">
                  <a:extLst>
                    <a:ext uri="{9D8B030D-6E8A-4147-A177-3AD203B41FA5}">
                      <a16:colId xmlns:a16="http://schemas.microsoft.com/office/drawing/2014/main" val="235809142"/>
                    </a:ext>
                  </a:extLst>
                </a:gridCol>
                <a:gridCol w="469436">
                  <a:extLst>
                    <a:ext uri="{9D8B030D-6E8A-4147-A177-3AD203B41FA5}">
                      <a16:colId xmlns:a16="http://schemas.microsoft.com/office/drawing/2014/main" val="4024050565"/>
                    </a:ext>
                  </a:extLst>
                </a:gridCol>
                <a:gridCol w="434810">
                  <a:extLst>
                    <a:ext uri="{9D8B030D-6E8A-4147-A177-3AD203B41FA5}">
                      <a16:colId xmlns:a16="http://schemas.microsoft.com/office/drawing/2014/main" val="3680448491"/>
                    </a:ext>
                  </a:extLst>
                </a:gridCol>
                <a:gridCol w="539255">
                  <a:extLst>
                    <a:ext uri="{9D8B030D-6E8A-4147-A177-3AD203B41FA5}">
                      <a16:colId xmlns:a16="http://schemas.microsoft.com/office/drawing/2014/main" val="622909897"/>
                    </a:ext>
                  </a:extLst>
                </a:gridCol>
                <a:gridCol w="887216">
                  <a:extLst>
                    <a:ext uri="{9D8B030D-6E8A-4147-A177-3AD203B41FA5}">
                      <a16:colId xmlns:a16="http://schemas.microsoft.com/office/drawing/2014/main" val="1693099071"/>
                    </a:ext>
                  </a:extLst>
                </a:gridCol>
              </a:tblGrid>
              <a:tr h="14249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Acuracia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AUC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KS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Etapa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Classificador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311215"/>
                  </a:ext>
                </a:extLst>
              </a:tr>
              <a:tr h="59438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0.20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0.20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0.20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0.43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0.43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0.43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0.27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0.27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0.27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0.67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0.68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0.67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Treino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Teste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 Cruz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Reg. Logística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1054"/>
                  </a:ext>
                </a:extLst>
              </a:tr>
              <a:tr h="59438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0.18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0.18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0.18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0.20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0.66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0.66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0.66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Treino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Teste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 Cruz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Naive</a:t>
                      </a: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pt-BR" sz="800" b="1" i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Bayes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8586251"/>
                  </a:ext>
                </a:extLst>
              </a:tr>
              <a:tr h="59438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0.90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0.86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0.86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0.69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0.15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0.24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0.36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0.07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0.91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0.52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0.52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0.79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Treino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Teste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 Cruz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KNN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7066505"/>
                  </a:ext>
                </a:extLst>
              </a:tr>
              <a:tr h="59438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0.49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0.49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0.49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Treino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Teste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 Cruz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Random Forest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890995"/>
                  </a:ext>
                </a:extLst>
              </a:tr>
              <a:tr h="59438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0.74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0.22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0.22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0.22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0.71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Treino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Teste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 Cruz</a:t>
                      </a:r>
                      <a:endParaRPr lang="pt-BR" sz="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XGBoost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640323"/>
                  </a:ext>
                </a:extLst>
              </a:tr>
            </a:tbl>
          </a:graphicData>
        </a:graphic>
      </p:graphicFrame>
      <p:pic>
        <p:nvPicPr>
          <p:cNvPr id="41" name="Imagem 40">
            <a:extLst>
              <a:ext uri="{FF2B5EF4-FFF2-40B4-BE49-F238E27FC236}">
                <a16:creationId xmlns:a16="http://schemas.microsoft.com/office/drawing/2014/main" id="{2E241367-4EF5-3AC9-D5F6-3CC0D4CEA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96" y="5465282"/>
            <a:ext cx="4244401" cy="1219200"/>
          </a:xfrm>
          <a:prstGeom prst="rect">
            <a:avLst/>
          </a:prstGeom>
        </p:spPr>
      </p:pic>
      <p:sp>
        <p:nvSpPr>
          <p:cNvPr id="42" name="Rectangle 2">
            <a:extLst>
              <a:ext uri="{FF2B5EF4-FFF2-40B4-BE49-F238E27FC236}">
                <a16:creationId xmlns:a16="http://schemas.microsoft.com/office/drawing/2014/main" id="{41D6DA33-CF4B-D9AF-B6BB-990CFEE1E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1434" y="5200905"/>
            <a:ext cx="2203213" cy="65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indent="457200">
              <a:lnSpc>
                <a:spcPct val="150000"/>
              </a:lnSpc>
              <a:spcAft>
                <a:spcPts val="600"/>
              </a:spcAft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10 –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Bayes</a:t>
            </a:r>
            <a:r>
              <a:rPr lang="pt-BR" sz="90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Search </a:t>
            </a: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89708C0A-F811-BC11-D029-E61E2DEF1308}"/>
              </a:ext>
            </a:extLst>
          </p:cNvPr>
          <p:cNvSpPr/>
          <p:nvPr/>
        </p:nvSpPr>
        <p:spPr>
          <a:xfrm>
            <a:off x="6270178" y="4549909"/>
            <a:ext cx="5734049" cy="685136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1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Como o </a:t>
            </a:r>
            <a:r>
              <a:rPr lang="pt-BR" sz="11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XGBoost</a:t>
            </a:r>
            <a:r>
              <a:rPr lang="pt-BR" sz="11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foi o vencedor, decidiu-se que ele seria modelo sujeito a otimização de via </a:t>
            </a:r>
            <a:r>
              <a:rPr lang="pt-BR" sz="1100" b="1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Bayes</a:t>
            </a:r>
            <a:r>
              <a:rPr lang="pt-BR" sz="1100" b="1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Search.</a:t>
            </a:r>
            <a:r>
              <a:rPr lang="pt-BR" sz="11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100" b="1" dirty="0">
                <a:solidFill>
                  <a:schemeClr val="bg1"/>
                </a:solidFill>
                <a:latin typeface="Times New Roman" panose="02020603050405020304" pitchFamily="18" charset="0"/>
                <a:cs typeface="Arial" panose="020B0604020202020204" pitchFamily="34" charset="0"/>
              </a:rPr>
              <a:t>A otimização possui o intuito de melhorar ainda mais os resultados obtidos através da melhor configuração possível de hiperparâmetros</a:t>
            </a:r>
            <a:endParaRPr lang="pt-BR" sz="11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2A807B5E-4A03-9EEB-7BD3-FD9CE7F6E8B4}"/>
              </a:ext>
            </a:extLst>
          </p:cNvPr>
          <p:cNvSpPr/>
          <p:nvPr/>
        </p:nvSpPr>
        <p:spPr>
          <a:xfrm>
            <a:off x="6541991" y="3736791"/>
            <a:ext cx="5272210" cy="685135"/>
          </a:xfrm>
          <a:prstGeom prst="rect">
            <a:avLst/>
          </a:prstGeom>
          <a:noFill/>
          <a:ln w="19050">
            <a:solidFill>
              <a:srgbClr val="1B7B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5" name="Imagem 44">
            <a:extLst>
              <a:ext uri="{FF2B5EF4-FFF2-40B4-BE49-F238E27FC236}">
                <a16:creationId xmlns:a16="http://schemas.microsoft.com/office/drawing/2014/main" id="{43E5A64B-09F1-FCBF-C278-B9439FA12C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186" y="1603532"/>
            <a:ext cx="2533660" cy="1627808"/>
          </a:xfrm>
          <a:prstGeom prst="rect">
            <a:avLst/>
          </a:prstGeom>
        </p:spPr>
      </p:pic>
      <p:pic>
        <p:nvPicPr>
          <p:cNvPr id="46" name="Imagem 45">
            <a:extLst>
              <a:ext uri="{FF2B5EF4-FFF2-40B4-BE49-F238E27FC236}">
                <a16:creationId xmlns:a16="http://schemas.microsoft.com/office/drawing/2014/main" id="{6E1BB595-34B2-2BEC-374C-5E7B7EAFF4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826" y="1603532"/>
            <a:ext cx="2533661" cy="1636817"/>
          </a:xfrm>
          <a:prstGeom prst="rect">
            <a:avLst/>
          </a:prstGeom>
        </p:spPr>
      </p:pic>
      <p:sp>
        <p:nvSpPr>
          <p:cNvPr id="47" name="Rectangle 2">
            <a:extLst>
              <a:ext uri="{FF2B5EF4-FFF2-40B4-BE49-F238E27FC236}">
                <a16:creationId xmlns:a16="http://schemas.microsoft.com/office/drawing/2014/main" id="{53F2A709-AA06-2927-3442-3E5F432E0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184" y="1276519"/>
            <a:ext cx="2533659" cy="65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indent="457200" algn="ctr">
              <a:lnSpc>
                <a:spcPct val="150000"/>
              </a:lnSpc>
              <a:spcAft>
                <a:spcPts val="600"/>
              </a:spcAft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</a:t>
            </a:r>
            <a:r>
              <a:rPr lang="pt-BR" altLang="pt-BR" sz="900" b="1" i="1" dirty="0">
                <a:latin typeface="Arial" panose="020B0604020202020204" pitchFamily="34" charset="0"/>
                <a:ea typeface="Times New Roman" panose="02020603050405020304" pitchFamily="18" charset="0"/>
              </a:rPr>
              <a:t>8</a:t>
            </a: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–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Holdout</a:t>
            </a:r>
            <a:endParaRPr lang="pt-BR" sz="900" b="1" i="1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lvl="0" indent="45720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2">
            <a:extLst>
              <a:ext uri="{FF2B5EF4-FFF2-40B4-BE49-F238E27FC236}">
                <a16:creationId xmlns:a16="http://schemas.microsoft.com/office/drawing/2014/main" id="{2E2E8783-8E8C-0342-0BCA-F7B6390F46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1822" y="1276519"/>
            <a:ext cx="2533659" cy="65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indent="457200">
              <a:lnSpc>
                <a:spcPct val="150000"/>
              </a:lnSpc>
              <a:spcAft>
                <a:spcPts val="600"/>
              </a:spcAft>
            </a:pPr>
            <a:r>
              <a:rPr kumimoji="0" lang="pt-BR" altLang="pt-BR" sz="9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Figura 9 – </a:t>
            </a:r>
            <a:r>
              <a:rPr lang="pt-BR" sz="900" b="1" i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Cross </a:t>
            </a:r>
            <a:r>
              <a:rPr lang="pt-BR" sz="900" b="1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Validation</a:t>
            </a:r>
            <a:endParaRPr lang="pt-BR" sz="900" b="1" i="1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lvl="0" indent="45720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5" name="Conector reto 54">
            <a:extLst>
              <a:ext uri="{FF2B5EF4-FFF2-40B4-BE49-F238E27FC236}">
                <a16:creationId xmlns:a16="http://schemas.microsoft.com/office/drawing/2014/main" id="{DFE03A82-A26D-0481-4126-AA41FC65A8CD}"/>
              </a:ext>
            </a:extLst>
          </p:cNvPr>
          <p:cNvCxnSpPr>
            <a:cxnSpLocks/>
          </p:cNvCxnSpPr>
          <p:nvPr/>
        </p:nvCxnSpPr>
        <p:spPr>
          <a:xfrm>
            <a:off x="4611021" y="5651280"/>
            <a:ext cx="0" cy="279893"/>
          </a:xfrm>
          <a:prstGeom prst="line">
            <a:avLst/>
          </a:prstGeom>
          <a:ln w="1905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to 55">
            <a:extLst>
              <a:ext uri="{FF2B5EF4-FFF2-40B4-BE49-F238E27FC236}">
                <a16:creationId xmlns:a16="http://schemas.microsoft.com/office/drawing/2014/main" id="{30C575BE-9FA1-BA5A-EC84-011B7FD3247E}"/>
              </a:ext>
            </a:extLst>
          </p:cNvPr>
          <p:cNvCxnSpPr>
            <a:cxnSpLocks/>
          </p:cNvCxnSpPr>
          <p:nvPr/>
        </p:nvCxnSpPr>
        <p:spPr>
          <a:xfrm>
            <a:off x="3800277" y="6129161"/>
            <a:ext cx="0" cy="279893"/>
          </a:xfrm>
          <a:prstGeom prst="line">
            <a:avLst/>
          </a:prstGeom>
          <a:ln w="1905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to 56">
            <a:extLst>
              <a:ext uri="{FF2B5EF4-FFF2-40B4-BE49-F238E27FC236}">
                <a16:creationId xmlns:a16="http://schemas.microsoft.com/office/drawing/2014/main" id="{21E919A9-8B49-3D09-DDAC-2CDF214DC56C}"/>
              </a:ext>
            </a:extLst>
          </p:cNvPr>
          <p:cNvCxnSpPr>
            <a:cxnSpLocks/>
          </p:cNvCxnSpPr>
          <p:nvPr/>
        </p:nvCxnSpPr>
        <p:spPr>
          <a:xfrm>
            <a:off x="2179611" y="6140032"/>
            <a:ext cx="0" cy="279893"/>
          </a:xfrm>
          <a:prstGeom prst="line">
            <a:avLst/>
          </a:prstGeom>
          <a:ln w="1905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to 57">
            <a:extLst>
              <a:ext uri="{FF2B5EF4-FFF2-40B4-BE49-F238E27FC236}">
                <a16:creationId xmlns:a16="http://schemas.microsoft.com/office/drawing/2014/main" id="{B0DDBAF6-8ED3-10E1-DD13-3210F08E2B1A}"/>
              </a:ext>
            </a:extLst>
          </p:cNvPr>
          <p:cNvCxnSpPr>
            <a:cxnSpLocks/>
          </p:cNvCxnSpPr>
          <p:nvPr/>
        </p:nvCxnSpPr>
        <p:spPr>
          <a:xfrm>
            <a:off x="1459801" y="5636789"/>
            <a:ext cx="0" cy="279893"/>
          </a:xfrm>
          <a:prstGeom prst="line">
            <a:avLst/>
          </a:prstGeom>
          <a:ln w="1905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to 58">
            <a:extLst>
              <a:ext uri="{FF2B5EF4-FFF2-40B4-BE49-F238E27FC236}">
                <a16:creationId xmlns:a16="http://schemas.microsoft.com/office/drawing/2014/main" id="{7575619D-C5E0-5E04-9FAA-B8560B39087E}"/>
              </a:ext>
            </a:extLst>
          </p:cNvPr>
          <p:cNvCxnSpPr>
            <a:cxnSpLocks/>
          </p:cNvCxnSpPr>
          <p:nvPr/>
        </p:nvCxnSpPr>
        <p:spPr>
          <a:xfrm>
            <a:off x="2890646" y="5623159"/>
            <a:ext cx="0" cy="279893"/>
          </a:xfrm>
          <a:prstGeom prst="line">
            <a:avLst/>
          </a:prstGeom>
          <a:ln w="19050">
            <a:solidFill>
              <a:srgbClr val="2839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Google Shape;2450;p52">
            <a:extLst>
              <a:ext uri="{FF2B5EF4-FFF2-40B4-BE49-F238E27FC236}">
                <a16:creationId xmlns:a16="http://schemas.microsoft.com/office/drawing/2014/main" id="{C5F2AEE9-3F2E-CD9D-F7FB-B64960DFEDE7}"/>
              </a:ext>
            </a:extLst>
          </p:cNvPr>
          <p:cNvSpPr/>
          <p:nvPr/>
        </p:nvSpPr>
        <p:spPr>
          <a:xfrm>
            <a:off x="1023533" y="5934747"/>
            <a:ext cx="4204160" cy="203420"/>
          </a:xfrm>
          <a:prstGeom prst="roundRect">
            <a:avLst>
              <a:gd name="adj" fmla="val 24841"/>
            </a:avLst>
          </a:prstGeom>
          <a:solidFill>
            <a:schemeClr val="lt2"/>
          </a:solidFill>
          <a:ln w="762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2485;p52">
            <a:extLst>
              <a:ext uri="{FF2B5EF4-FFF2-40B4-BE49-F238E27FC236}">
                <a16:creationId xmlns:a16="http://schemas.microsoft.com/office/drawing/2014/main" id="{2CA06857-7162-EB1A-EEFB-8758DBCA5385}"/>
              </a:ext>
            </a:extLst>
          </p:cNvPr>
          <p:cNvSpPr/>
          <p:nvPr/>
        </p:nvSpPr>
        <p:spPr>
          <a:xfrm>
            <a:off x="1355401" y="5916682"/>
            <a:ext cx="208800" cy="208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/>
              <a:t>1</a:t>
            </a:r>
            <a:endParaRPr sz="900" b="1" dirty="0"/>
          </a:p>
        </p:txBody>
      </p:sp>
      <p:sp>
        <p:nvSpPr>
          <p:cNvPr id="62" name="Google Shape;2486;p52">
            <a:extLst>
              <a:ext uri="{FF2B5EF4-FFF2-40B4-BE49-F238E27FC236}">
                <a16:creationId xmlns:a16="http://schemas.microsoft.com/office/drawing/2014/main" id="{99AA74B0-642F-96A8-A48E-12B1FDE98684}"/>
              </a:ext>
            </a:extLst>
          </p:cNvPr>
          <p:cNvSpPr/>
          <p:nvPr/>
        </p:nvSpPr>
        <p:spPr>
          <a:xfrm>
            <a:off x="2075211" y="5929516"/>
            <a:ext cx="208800" cy="208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/>
              <a:t>2</a:t>
            </a:r>
            <a:endParaRPr sz="900" b="1" dirty="0"/>
          </a:p>
        </p:txBody>
      </p:sp>
      <p:sp>
        <p:nvSpPr>
          <p:cNvPr id="63" name="Google Shape;2487;p52">
            <a:extLst>
              <a:ext uri="{FF2B5EF4-FFF2-40B4-BE49-F238E27FC236}">
                <a16:creationId xmlns:a16="http://schemas.microsoft.com/office/drawing/2014/main" id="{1134F232-60D6-F2C9-46D9-8C190A3A30AA}"/>
              </a:ext>
            </a:extLst>
          </p:cNvPr>
          <p:cNvSpPr/>
          <p:nvPr/>
        </p:nvSpPr>
        <p:spPr>
          <a:xfrm>
            <a:off x="2786246" y="5903053"/>
            <a:ext cx="208800" cy="208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/>
              <a:t>3</a:t>
            </a:r>
            <a:endParaRPr sz="900" b="1" dirty="0"/>
          </a:p>
        </p:txBody>
      </p:sp>
      <p:sp>
        <p:nvSpPr>
          <p:cNvPr id="1024" name="Google Shape;2488;p52">
            <a:extLst>
              <a:ext uri="{FF2B5EF4-FFF2-40B4-BE49-F238E27FC236}">
                <a16:creationId xmlns:a16="http://schemas.microsoft.com/office/drawing/2014/main" id="{241999FF-103A-0BD5-AA16-F2993F15BF88}"/>
              </a:ext>
            </a:extLst>
          </p:cNvPr>
          <p:cNvSpPr/>
          <p:nvPr/>
        </p:nvSpPr>
        <p:spPr>
          <a:xfrm>
            <a:off x="3695877" y="5903053"/>
            <a:ext cx="208800" cy="208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/>
              <a:t>4</a:t>
            </a:r>
            <a:endParaRPr sz="900" b="1" dirty="0"/>
          </a:p>
        </p:txBody>
      </p:sp>
      <p:sp>
        <p:nvSpPr>
          <p:cNvPr id="1025" name="Google Shape;6658;p77">
            <a:extLst>
              <a:ext uri="{FF2B5EF4-FFF2-40B4-BE49-F238E27FC236}">
                <a16:creationId xmlns:a16="http://schemas.microsoft.com/office/drawing/2014/main" id="{25964309-B022-62E9-D507-5EFF41EFA28C}"/>
              </a:ext>
            </a:extLst>
          </p:cNvPr>
          <p:cNvSpPr/>
          <p:nvPr/>
        </p:nvSpPr>
        <p:spPr>
          <a:xfrm>
            <a:off x="843129" y="5349690"/>
            <a:ext cx="1233344" cy="29092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8396E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Regressão Logística</a:t>
            </a:r>
            <a:endParaRPr sz="9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7" name="Google Shape;6658;p77">
            <a:extLst>
              <a:ext uri="{FF2B5EF4-FFF2-40B4-BE49-F238E27FC236}">
                <a16:creationId xmlns:a16="http://schemas.microsoft.com/office/drawing/2014/main" id="{381879DB-8CD7-E625-B98A-BF2695FE65F4}"/>
              </a:ext>
            </a:extLst>
          </p:cNvPr>
          <p:cNvSpPr/>
          <p:nvPr/>
        </p:nvSpPr>
        <p:spPr>
          <a:xfrm>
            <a:off x="1584328" y="6435517"/>
            <a:ext cx="1233344" cy="29092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8396E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Naive</a:t>
            </a:r>
            <a:r>
              <a:rPr lang="pt-BR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9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Bayes</a:t>
            </a:r>
            <a:endParaRPr sz="9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9" name="Google Shape;6658;p77">
            <a:extLst>
              <a:ext uri="{FF2B5EF4-FFF2-40B4-BE49-F238E27FC236}">
                <a16:creationId xmlns:a16="http://schemas.microsoft.com/office/drawing/2014/main" id="{40A30BBF-F9EA-3387-4CB4-823D9A009820}"/>
              </a:ext>
            </a:extLst>
          </p:cNvPr>
          <p:cNvSpPr/>
          <p:nvPr/>
        </p:nvSpPr>
        <p:spPr>
          <a:xfrm>
            <a:off x="2273974" y="5332236"/>
            <a:ext cx="1233344" cy="29092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8396E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</a:t>
            </a:r>
            <a:endParaRPr sz="9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1" name="Google Shape;6658;p77">
            <a:extLst>
              <a:ext uri="{FF2B5EF4-FFF2-40B4-BE49-F238E27FC236}">
                <a16:creationId xmlns:a16="http://schemas.microsoft.com/office/drawing/2014/main" id="{6EED920A-EFAD-7661-D74D-D7087317A31D}"/>
              </a:ext>
            </a:extLst>
          </p:cNvPr>
          <p:cNvSpPr/>
          <p:nvPr/>
        </p:nvSpPr>
        <p:spPr>
          <a:xfrm>
            <a:off x="3183605" y="6421739"/>
            <a:ext cx="1233344" cy="29092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8396E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  <a:endParaRPr sz="9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2" name="Google Shape;2488;p52">
            <a:extLst>
              <a:ext uri="{FF2B5EF4-FFF2-40B4-BE49-F238E27FC236}">
                <a16:creationId xmlns:a16="http://schemas.microsoft.com/office/drawing/2014/main" id="{3583698C-0496-3F1B-FD69-7DE4956387ED}"/>
              </a:ext>
            </a:extLst>
          </p:cNvPr>
          <p:cNvSpPr/>
          <p:nvPr/>
        </p:nvSpPr>
        <p:spPr>
          <a:xfrm>
            <a:off x="4512010" y="5903436"/>
            <a:ext cx="208800" cy="208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rgbClr val="28396E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/>
              <a:t>5</a:t>
            </a:r>
            <a:endParaRPr sz="900" b="1" dirty="0"/>
          </a:p>
        </p:txBody>
      </p:sp>
      <p:sp>
        <p:nvSpPr>
          <p:cNvPr id="1033" name="Google Shape;6658;p77">
            <a:extLst>
              <a:ext uri="{FF2B5EF4-FFF2-40B4-BE49-F238E27FC236}">
                <a16:creationId xmlns:a16="http://schemas.microsoft.com/office/drawing/2014/main" id="{5C1CE710-1278-5A99-6F50-4BE0CB113FB6}"/>
              </a:ext>
            </a:extLst>
          </p:cNvPr>
          <p:cNvSpPr/>
          <p:nvPr/>
        </p:nvSpPr>
        <p:spPr>
          <a:xfrm>
            <a:off x="3994349" y="5360357"/>
            <a:ext cx="1233344" cy="29092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8396E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Gradient</a:t>
            </a:r>
            <a:r>
              <a:rPr lang="pt-BR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9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Boosting</a:t>
            </a:r>
            <a:endParaRPr sz="9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4" name="Retângulo 1033">
            <a:extLst>
              <a:ext uri="{FF2B5EF4-FFF2-40B4-BE49-F238E27FC236}">
                <a16:creationId xmlns:a16="http://schemas.microsoft.com/office/drawing/2014/main" id="{101AC74E-8B50-4E49-3CEF-9642E5D851FE}"/>
              </a:ext>
            </a:extLst>
          </p:cNvPr>
          <p:cNvSpPr/>
          <p:nvPr/>
        </p:nvSpPr>
        <p:spPr>
          <a:xfrm>
            <a:off x="187773" y="850811"/>
            <a:ext cx="5734049" cy="39901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fim de garantir resultados confiáveis, utilizou-se as técnicas de </a:t>
            </a:r>
            <a:r>
              <a:rPr lang="pt-BR" sz="1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Holdout</a:t>
            </a:r>
            <a:r>
              <a:rPr lang="pt-BR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Validação Cruzada como métodos de validação</a:t>
            </a:r>
          </a:p>
        </p:txBody>
      </p:sp>
      <p:sp>
        <p:nvSpPr>
          <p:cNvPr id="1035" name="Retângulo 1034">
            <a:extLst>
              <a:ext uri="{FF2B5EF4-FFF2-40B4-BE49-F238E27FC236}">
                <a16:creationId xmlns:a16="http://schemas.microsoft.com/office/drawing/2014/main" id="{7A4328A0-C18C-DF8D-27C9-EAECF23410B5}"/>
              </a:ext>
            </a:extLst>
          </p:cNvPr>
          <p:cNvSpPr/>
          <p:nvPr/>
        </p:nvSpPr>
        <p:spPr>
          <a:xfrm>
            <a:off x="187773" y="3341714"/>
            <a:ext cx="5734049" cy="1867265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1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Regressão Logística</a:t>
            </a:r>
            <a:r>
              <a:rPr lang="pt-BR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Modelo Linear Generalizado de fácil compreensão e bons resultados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1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1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Naive</a:t>
            </a:r>
            <a:r>
              <a:rPr lang="pt-BR" sz="11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1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Bayes</a:t>
            </a:r>
            <a:r>
              <a:rPr lang="pt-BR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Modelo Bayesiano de fácil compreensão mas com falhas de suposições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1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1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</a:t>
            </a:r>
            <a:r>
              <a:rPr lang="pt-BR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Modelo baseado em distâncias com relativa tendência a </a:t>
            </a:r>
            <a:r>
              <a:rPr lang="pt-BR" sz="11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overfitting</a:t>
            </a:r>
            <a:endParaRPr lang="pt-BR" sz="11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1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1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  <a:r>
              <a:rPr lang="pt-BR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Modelo Ensemble de Árvore robusto a </a:t>
            </a:r>
            <a:r>
              <a:rPr lang="pt-BR" sz="11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overfitting</a:t>
            </a:r>
            <a:r>
              <a:rPr lang="pt-BR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com bom poder preditivo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pt-BR" sz="11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pt-BR" sz="11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Gradient</a:t>
            </a:r>
            <a:r>
              <a:rPr lang="pt-BR" sz="11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1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Boosting</a:t>
            </a:r>
            <a:r>
              <a:rPr lang="pt-BR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Modelo Ensemble de Árvore com excelente poder preditivo e bom controle de </a:t>
            </a:r>
            <a:r>
              <a:rPr lang="pt-BR" sz="11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overfitting</a:t>
            </a:r>
            <a:endParaRPr lang="pt-BR" sz="11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7DBD958-5A17-AA8F-6045-907696846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877535" y="489540"/>
            <a:ext cx="249840" cy="365125"/>
          </a:xfrm>
        </p:spPr>
        <p:txBody>
          <a:bodyPr/>
          <a:lstStyle/>
          <a:p>
            <a:fld id="{4A2E7D2D-E592-41F1-8B20-DBD4249F3386}" type="slidenum">
              <a:rPr lang="pt-BR" b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17</a:t>
            </a:fld>
            <a:endParaRPr lang="pt-BR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3049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B1F58B-B58B-647E-6BA7-4560D6D3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ângulo 15">
            <a:extLst>
              <a:ext uri="{FF2B5EF4-FFF2-40B4-BE49-F238E27FC236}">
                <a16:creationId xmlns:a16="http://schemas.microsoft.com/office/drawing/2014/main" id="{9BB9F1F2-14EC-121B-52B0-9CCBD2AA88E7}"/>
              </a:ext>
            </a:extLst>
          </p:cNvPr>
          <p:cNvSpPr/>
          <p:nvPr/>
        </p:nvSpPr>
        <p:spPr>
          <a:xfrm>
            <a:off x="6145372" y="801727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AE1463F1-4DD4-D715-00D8-0A522E5614C5}"/>
              </a:ext>
            </a:extLst>
          </p:cNvPr>
          <p:cNvSpPr/>
          <p:nvPr/>
        </p:nvSpPr>
        <p:spPr>
          <a:xfrm>
            <a:off x="100684" y="801727"/>
            <a:ext cx="5945944" cy="59514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A259909-4EAF-2AE9-4369-CFCBEB0ED5D0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</a:p>
        </p:txBody>
      </p:sp>
      <p:graphicFrame>
        <p:nvGraphicFramePr>
          <p:cNvPr id="24" name="Tabela 23">
            <a:extLst>
              <a:ext uri="{FF2B5EF4-FFF2-40B4-BE49-F238E27FC236}">
                <a16:creationId xmlns:a16="http://schemas.microsoft.com/office/drawing/2014/main" id="{E8E1A169-84F3-DC82-26B2-CB2487BDBEAC}"/>
              </a:ext>
            </a:extLst>
          </p:cNvPr>
          <p:cNvGraphicFramePr>
            <a:graphicFrameLocks noGrp="1"/>
          </p:cNvGraphicFramePr>
          <p:nvPr/>
        </p:nvGraphicFramePr>
        <p:xfrm>
          <a:off x="218740" y="1216915"/>
          <a:ext cx="5676963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56443">
                  <a:extLst>
                    <a:ext uri="{9D8B030D-6E8A-4147-A177-3AD203B41FA5}">
                      <a16:colId xmlns:a16="http://schemas.microsoft.com/office/drawing/2014/main" val="797903448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682698676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3597777818"/>
                    </a:ext>
                  </a:extLst>
                </a:gridCol>
                <a:gridCol w="1286544">
                  <a:extLst>
                    <a:ext uri="{9D8B030D-6E8A-4147-A177-3AD203B41FA5}">
                      <a16:colId xmlns:a16="http://schemas.microsoft.com/office/drawing/2014/main" val="1968039767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Reforma da Casa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38%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24.86%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726403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27.82%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13.27%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736191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33.38%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8.2%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1564673"/>
                  </a:ext>
                </a:extLst>
              </a:tr>
            </a:tbl>
          </a:graphicData>
        </a:graphic>
      </p:graphicFrame>
      <p:graphicFrame>
        <p:nvGraphicFramePr>
          <p:cNvPr id="32" name="Tabela 31">
            <a:extLst>
              <a:ext uri="{FF2B5EF4-FFF2-40B4-BE49-F238E27FC236}">
                <a16:creationId xmlns:a16="http://schemas.microsoft.com/office/drawing/2014/main" id="{F8F89044-3D30-7104-E81D-C39183C60F10}"/>
              </a:ext>
            </a:extLst>
          </p:cNvPr>
          <p:cNvGraphicFramePr>
            <a:graphicFrameLocks noGrp="1"/>
          </p:cNvGraphicFramePr>
          <p:nvPr/>
        </p:nvGraphicFramePr>
        <p:xfrm>
          <a:off x="218740" y="1970904"/>
          <a:ext cx="5676963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56443">
                  <a:extLst>
                    <a:ext uri="{9D8B030D-6E8A-4147-A177-3AD203B41FA5}">
                      <a16:colId xmlns:a16="http://schemas.microsoft.com/office/drawing/2014/main" val="4066644723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3569739887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2537551198"/>
                    </a:ext>
                  </a:extLst>
                </a:gridCol>
                <a:gridCol w="1286544">
                  <a:extLst>
                    <a:ext uri="{9D8B030D-6E8A-4147-A177-3AD203B41FA5}">
                      <a16:colId xmlns:a16="http://schemas.microsoft.com/office/drawing/2014/main" val="3177722514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Cartão de Crédito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22.16%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707988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31.75%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13.13%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566811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33.15%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9.31%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9746256"/>
                  </a:ext>
                </a:extLst>
              </a:tr>
            </a:tbl>
          </a:graphicData>
        </a:graphic>
      </p:graphicFrame>
      <p:graphicFrame>
        <p:nvGraphicFramePr>
          <p:cNvPr id="34" name="Tabela 33">
            <a:extLst>
              <a:ext uri="{FF2B5EF4-FFF2-40B4-BE49-F238E27FC236}">
                <a16:creationId xmlns:a16="http://schemas.microsoft.com/office/drawing/2014/main" id="{89926A51-81D6-565C-F6D0-392624D176EF}"/>
              </a:ext>
            </a:extLst>
          </p:cNvPr>
          <p:cNvGraphicFramePr>
            <a:graphicFrameLocks noGrp="1"/>
          </p:cNvGraphicFramePr>
          <p:nvPr/>
        </p:nvGraphicFramePr>
        <p:xfrm>
          <a:off x="218740" y="2712567"/>
          <a:ext cx="5676963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56443">
                  <a:extLst>
                    <a:ext uri="{9D8B030D-6E8A-4147-A177-3AD203B41FA5}">
                      <a16:colId xmlns:a16="http://schemas.microsoft.com/office/drawing/2014/main" val="3237655842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454241364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3740882871"/>
                    </a:ext>
                  </a:extLst>
                </a:gridCol>
                <a:gridCol w="1286544">
                  <a:extLst>
                    <a:ext uri="{9D8B030D-6E8A-4147-A177-3AD203B41FA5}">
                      <a16:colId xmlns:a16="http://schemas.microsoft.com/office/drawing/2014/main" val="3676931218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1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Consolidação de Dívidas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37.27%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23.88%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195959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27.38%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13.54%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10143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35.35%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7.89%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779328"/>
                  </a:ext>
                </a:extLst>
              </a:tr>
            </a:tbl>
          </a:graphicData>
        </a:graphic>
      </p:graphicFrame>
      <p:graphicFrame>
        <p:nvGraphicFramePr>
          <p:cNvPr id="36" name="Tabela 35">
            <a:extLst>
              <a:ext uri="{FF2B5EF4-FFF2-40B4-BE49-F238E27FC236}">
                <a16:creationId xmlns:a16="http://schemas.microsoft.com/office/drawing/2014/main" id="{DF0CAFE8-7F81-1A0A-9704-8EBA0433BB5B}"/>
              </a:ext>
            </a:extLst>
          </p:cNvPr>
          <p:cNvGraphicFramePr>
            <a:graphicFrameLocks noGrp="1"/>
          </p:cNvGraphicFramePr>
          <p:nvPr/>
        </p:nvGraphicFramePr>
        <p:xfrm>
          <a:off x="218740" y="3579324"/>
          <a:ext cx="5676963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56443">
                  <a:extLst>
                    <a:ext uri="{9D8B030D-6E8A-4147-A177-3AD203B41FA5}">
                      <a16:colId xmlns:a16="http://schemas.microsoft.com/office/drawing/2014/main" val="2301311742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694320285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1101911823"/>
                    </a:ext>
                  </a:extLst>
                </a:gridCol>
                <a:gridCol w="1286544">
                  <a:extLst>
                    <a:ext uri="{9D8B030D-6E8A-4147-A177-3AD203B41FA5}">
                      <a16:colId xmlns:a16="http://schemas.microsoft.com/office/drawing/2014/main" val="536106331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1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Férias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45.76%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12.74%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78827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18.95%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21.63%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680542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35.28%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4.2%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3063655"/>
                  </a:ext>
                </a:extLst>
              </a:tr>
            </a:tbl>
          </a:graphicData>
        </a:graphic>
      </p:graphicFrame>
      <p:graphicFrame>
        <p:nvGraphicFramePr>
          <p:cNvPr id="38" name="Tabela 37">
            <a:extLst>
              <a:ext uri="{FF2B5EF4-FFF2-40B4-BE49-F238E27FC236}">
                <a16:creationId xmlns:a16="http://schemas.microsoft.com/office/drawing/2014/main" id="{7B16C8F6-5B45-45D4-AA97-5CC611C186EF}"/>
              </a:ext>
            </a:extLst>
          </p:cNvPr>
          <p:cNvGraphicFramePr>
            <a:graphicFrameLocks noGrp="1"/>
          </p:cNvGraphicFramePr>
          <p:nvPr/>
        </p:nvGraphicFramePr>
        <p:xfrm>
          <a:off x="218740" y="4401912"/>
          <a:ext cx="5676963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56443">
                  <a:extLst>
                    <a:ext uri="{9D8B030D-6E8A-4147-A177-3AD203B41FA5}">
                      <a16:colId xmlns:a16="http://schemas.microsoft.com/office/drawing/2014/main" val="1345156902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1830694167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4056646187"/>
                    </a:ext>
                  </a:extLst>
                </a:gridCol>
                <a:gridCol w="1286544">
                  <a:extLst>
                    <a:ext uri="{9D8B030D-6E8A-4147-A177-3AD203B41FA5}">
                      <a16:colId xmlns:a16="http://schemas.microsoft.com/office/drawing/2014/main" val="2298630842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1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Casa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27.56%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30.66%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42656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26.41%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11.15%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942819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46.01%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6.62%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7670096"/>
                  </a:ext>
                </a:extLst>
              </a:tr>
            </a:tbl>
          </a:graphicData>
        </a:graphic>
      </p:graphicFrame>
      <p:graphicFrame>
        <p:nvGraphicFramePr>
          <p:cNvPr id="14" name="Tabela 13">
            <a:extLst>
              <a:ext uri="{FF2B5EF4-FFF2-40B4-BE49-F238E27FC236}">
                <a16:creationId xmlns:a16="http://schemas.microsoft.com/office/drawing/2014/main" id="{ED6A3A50-3D1B-7A2F-93F0-8B28B6BDF4D1}"/>
              </a:ext>
            </a:extLst>
          </p:cNvPr>
          <p:cNvGraphicFramePr>
            <a:graphicFrameLocks noGrp="1"/>
          </p:cNvGraphicFramePr>
          <p:nvPr/>
        </p:nvGraphicFramePr>
        <p:xfrm>
          <a:off x="218740" y="5102045"/>
          <a:ext cx="5676963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56443">
                  <a:extLst>
                    <a:ext uri="{9D8B030D-6E8A-4147-A177-3AD203B41FA5}">
                      <a16:colId xmlns:a16="http://schemas.microsoft.com/office/drawing/2014/main" val="752540401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898785642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3441627432"/>
                    </a:ext>
                  </a:extLst>
                </a:gridCol>
                <a:gridCol w="1286544">
                  <a:extLst>
                    <a:ext uri="{9D8B030D-6E8A-4147-A177-3AD203B41FA5}">
                      <a16:colId xmlns:a16="http://schemas.microsoft.com/office/drawing/2014/main" val="1933187663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1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Médicos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44.87%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18.45%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177974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20.36%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16.51%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824127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34.75%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2.22%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0652165"/>
                  </a:ext>
                </a:extLst>
              </a:tr>
            </a:tbl>
          </a:graphicData>
        </a:graphic>
      </p:graphicFrame>
      <p:graphicFrame>
        <p:nvGraphicFramePr>
          <p:cNvPr id="17" name="Tabela 16">
            <a:extLst>
              <a:ext uri="{FF2B5EF4-FFF2-40B4-BE49-F238E27FC236}">
                <a16:creationId xmlns:a16="http://schemas.microsoft.com/office/drawing/2014/main" id="{9D077264-3030-EBFC-45BF-EC6E9D7F83D5}"/>
              </a:ext>
            </a:extLst>
          </p:cNvPr>
          <p:cNvGraphicFramePr>
            <a:graphicFrameLocks noGrp="1"/>
          </p:cNvGraphicFramePr>
          <p:nvPr/>
        </p:nvGraphicFramePr>
        <p:xfrm>
          <a:off x="6296297" y="971836"/>
          <a:ext cx="5676963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56443">
                  <a:extLst>
                    <a:ext uri="{9D8B030D-6E8A-4147-A177-3AD203B41FA5}">
                      <a16:colId xmlns:a16="http://schemas.microsoft.com/office/drawing/2014/main" val="288327153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1995751622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804114629"/>
                    </a:ext>
                  </a:extLst>
                </a:gridCol>
                <a:gridCol w="1286544">
                  <a:extLst>
                    <a:ext uri="{9D8B030D-6E8A-4147-A177-3AD203B41FA5}">
                      <a16:colId xmlns:a16="http://schemas.microsoft.com/office/drawing/2014/main" val="1754052120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Pequeno Negócio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26.62%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21.16%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61517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24.04%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4.69%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08856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49.34%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-2.83%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7451247"/>
                  </a:ext>
                </a:extLst>
              </a:tr>
            </a:tbl>
          </a:graphicData>
        </a:graphic>
      </p:graphicFrame>
      <p:graphicFrame>
        <p:nvGraphicFramePr>
          <p:cNvPr id="19" name="Tabela 18">
            <a:extLst>
              <a:ext uri="{FF2B5EF4-FFF2-40B4-BE49-F238E27FC236}">
                <a16:creationId xmlns:a16="http://schemas.microsoft.com/office/drawing/2014/main" id="{11304A2A-341F-FF3C-2543-FF198E657AA5}"/>
              </a:ext>
            </a:extLst>
          </p:cNvPr>
          <p:cNvGraphicFramePr>
            <a:graphicFrameLocks noGrp="1"/>
          </p:cNvGraphicFramePr>
          <p:nvPr/>
        </p:nvGraphicFramePr>
        <p:xfrm>
          <a:off x="218740" y="5811194"/>
          <a:ext cx="5693398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60659">
                  <a:extLst>
                    <a:ext uri="{9D8B030D-6E8A-4147-A177-3AD203B41FA5}">
                      <a16:colId xmlns:a16="http://schemas.microsoft.com/office/drawing/2014/main" val="1099532154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4274424967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2404245428"/>
                    </a:ext>
                  </a:extLst>
                </a:gridCol>
                <a:gridCol w="1290269">
                  <a:extLst>
                    <a:ext uri="{9D8B030D-6E8A-4147-A177-3AD203B41FA5}">
                      <a16:colId xmlns:a16="http://schemas.microsoft.com/office/drawing/2014/main" val="347382905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Carro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23.69%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30.98%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74983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47.95%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8.09%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935592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28.36%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8.77%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114495"/>
                  </a:ext>
                </a:extLst>
              </a:tr>
            </a:tbl>
          </a:graphicData>
        </a:graphic>
      </p:graphicFrame>
      <p:graphicFrame>
        <p:nvGraphicFramePr>
          <p:cNvPr id="21" name="Tabela 20">
            <a:extLst>
              <a:ext uri="{FF2B5EF4-FFF2-40B4-BE49-F238E27FC236}">
                <a16:creationId xmlns:a16="http://schemas.microsoft.com/office/drawing/2014/main" id="{D47CBEC4-8A5D-5F02-C377-A86A3E503788}"/>
              </a:ext>
            </a:extLst>
          </p:cNvPr>
          <p:cNvGraphicFramePr>
            <a:graphicFrameLocks noGrp="1"/>
          </p:cNvGraphicFramePr>
          <p:nvPr/>
        </p:nvGraphicFramePr>
        <p:xfrm>
          <a:off x="6279862" y="1609263"/>
          <a:ext cx="5676963" cy="505525"/>
        </p:xfrm>
        <a:graphic>
          <a:graphicData uri="http://schemas.openxmlformats.org/drawingml/2006/table">
            <a:tbl>
              <a:tblPr firstRow="1" firstCol="1" bandRow="1"/>
              <a:tblGrid>
                <a:gridCol w="1456443">
                  <a:extLst>
                    <a:ext uri="{9D8B030D-6E8A-4147-A177-3AD203B41FA5}">
                      <a16:colId xmlns:a16="http://schemas.microsoft.com/office/drawing/2014/main" val="769036424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1574837237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224084577"/>
                    </a:ext>
                  </a:extLst>
                </a:gridCol>
                <a:gridCol w="1286544">
                  <a:extLst>
                    <a:ext uri="{9D8B030D-6E8A-4147-A177-3AD203B41FA5}">
                      <a16:colId xmlns:a16="http://schemas.microsoft.com/office/drawing/2014/main" val="1133279052"/>
                    </a:ext>
                  </a:extLst>
                </a:gridCol>
              </a:tblGrid>
              <a:tr h="178753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Outro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39.14%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23.81%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83114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23.68%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13.76%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382623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37.18%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3.16%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556539"/>
                  </a:ext>
                </a:extLst>
              </a:tr>
            </a:tbl>
          </a:graphicData>
        </a:graphic>
      </p:graphicFrame>
      <p:graphicFrame>
        <p:nvGraphicFramePr>
          <p:cNvPr id="23" name="Tabela 22">
            <a:extLst>
              <a:ext uri="{FF2B5EF4-FFF2-40B4-BE49-F238E27FC236}">
                <a16:creationId xmlns:a16="http://schemas.microsoft.com/office/drawing/2014/main" id="{5615846F-CA22-665E-EFA7-973960982A96}"/>
              </a:ext>
            </a:extLst>
          </p:cNvPr>
          <p:cNvGraphicFramePr>
            <a:graphicFrameLocks noGrp="1"/>
          </p:cNvGraphicFramePr>
          <p:nvPr/>
        </p:nvGraphicFramePr>
        <p:xfrm>
          <a:off x="6279862" y="2315305"/>
          <a:ext cx="5693398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60659">
                  <a:extLst>
                    <a:ext uri="{9D8B030D-6E8A-4147-A177-3AD203B41FA5}">
                      <a16:colId xmlns:a16="http://schemas.microsoft.com/office/drawing/2014/main" val="1858979529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88182923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1027909457"/>
                    </a:ext>
                  </a:extLst>
                </a:gridCol>
                <a:gridCol w="1290269">
                  <a:extLst>
                    <a:ext uri="{9D8B030D-6E8A-4147-A177-3AD203B41FA5}">
                      <a16:colId xmlns:a16="http://schemas.microsoft.com/office/drawing/2014/main" val="3827859693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Compra Importante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29.33%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21.28%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009214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30.94%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10.63%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0045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39.73%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5.85%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9151703"/>
                  </a:ext>
                </a:extLst>
              </a:tr>
            </a:tbl>
          </a:graphicData>
        </a:graphic>
      </p:graphicFrame>
      <p:graphicFrame>
        <p:nvGraphicFramePr>
          <p:cNvPr id="26" name="Tabela 25">
            <a:extLst>
              <a:ext uri="{FF2B5EF4-FFF2-40B4-BE49-F238E27FC236}">
                <a16:creationId xmlns:a16="http://schemas.microsoft.com/office/drawing/2014/main" id="{F7A99440-C0F9-F3B7-91A7-6F95131E5583}"/>
              </a:ext>
            </a:extLst>
          </p:cNvPr>
          <p:cNvGraphicFramePr>
            <a:graphicFrameLocks noGrp="1"/>
          </p:cNvGraphicFramePr>
          <p:nvPr/>
        </p:nvGraphicFramePr>
        <p:xfrm>
          <a:off x="6279862" y="3033217"/>
          <a:ext cx="5676963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56443">
                  <a:extLst>
                    <a:ext uri="{9D8B030D-6E8A-4147-A177-3AD203B41FA5}">
                      <a16:colId xmlns:a16="http://schemas.microsoft.com/office/drawing/2014/main" val="234302396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3514252137"/>
                    </a:ext>
                  </a:extLst>
                </a:gridCol>
                <a:gridCol w="1466988">
                  <a:extLst>
                    <a:ext uri="{9D8B030D-6E8A-4147-A177-3AD203B41FA5}">
                      <a16:colId xmlns:a16="http://schemas.microsoft.com/office/drawing/2014/main" val="293953443"/>
                    </a:ext>
                  </a:extLst>
                </a:gridCol>
                <a:gridCol w="1286544">
                  <a:extLst>
                    <a:ext uri="{9D8B030D-6E8A-4147-A177-3AD203B41FA5}">
                      <a16:colId xmlns:a16="http://schemas.microsoft.com/office/drawing/2014/main" val="464513340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Casamento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6.58%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20.61%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33319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22.59%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19.67%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349728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70.83%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5.39%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9513040"/>
                  </a:ext>
                </a:extLst>
              </a:tr>
            </a:tbl>
          </a:graphicData>
        </a:graphic>
      </p:graphicFrame>
      <p:graphicFrame>
        <p:nvGraphicFramePr>
          <p:cNvPr id="28" name="Tabela 27">
            <a:extLst>
              <a:ext uri="{FF2B5EF4-FFF2-40B4-BE49-F238E27FC236}">
                <a16:creationId xmlns:a16="http://schemas.microsoft.com/office/drawing/2014/main" id="{70F81307-9FBD-026B-6CC6-4AD61B11B2DF}"/>
              </a:ext>
            </a:extLst>
          </p:cNvPr>
          <p:cNvGraphicFramePr>
            <a:graphicFrameLocks noGrp="1"/>
          </p:cNvGraphicFramePr>
          <p:nvPr/>
        </p:nvGraphicFramePr>
        <p:xfrm>
          <a:off x="6279862" y="3750453"/>
          <a:ext cx="5693398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60659">
                  <a:extLst>
                    <a:ext uri="{9D8B030D-6E8A-4147-A177-3AD203B41FA5}">
                      <a16:colId xmlns:a16="http://schemas.microsoft.com/office/drawing/2014/main" val="341586768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2713367960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1465969237"/>
                    </a:ext>
                  </a:extLst>
                </a:gridCol>
                <a:gridCol w="1290269">
                  <a:extLst>
                    <a:ext uri="{9D8B030D-6E8A-4147-A177-3AD203B41FA5}">
                      <a16:colId xmlns:a16="http://schemas.microsoft.com/office/drawing/2014/main" val="3877915428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Mudança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36.71%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20.83%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589734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23.59%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14.01%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349048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39.7%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2.82%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1158998"/>
                  </a:ext>
                </a:extLst>
              </a:tr>
            </a:tbl>
          </a:graphicData>
        </a:graphic>
      </p:graphicFrame>
      <p:graphicFrame>
        <p:nvGraphicFramePr>
          <p:cNvPr id="30" name="Tabela 29">
            <a:extLst>
              <a:ext uri="{FF2B5EF4-FFF2-40B4-BE49-F238E27FC236}">
                <a16:creationId xmlns:a16="http://schemas.microsoft.com/office/drawing/2014/main" id="{D2AA604B-9F1A-A4E9-A256-A2F960AB81BF}"/>
              </a:ext>
            </a:extLst>
          </p:cNvPr>
          <p:cNvGraphicFramePr>
            <a:graphicFrameLocks noGrp="1"/>
          </p:cNvGraphicFramePr>
          <p:nvPr/>
        </p:nvGraphicFramePr>
        <p:xfrm>
          <a:off x="6279862" y="4515036"/>
          <a:ext cx="5693398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60659">
                  <a:extLst>
                    <a:ext uri="{9D8B030D-6E8A-4147-A177-3AD203B41FA5}">
                      <a16:colId xmlns:a16="http://schemas.microsoft.com/office/drawing/2014/main" val="487228591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601782186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3734891598"/>
                    </a:ext>
                  </a:extLst>
                </a:gridCol>
                <a:gridCol w="1290269">
                  <a:extLst>
                    <a:ext uri="{9D8B030D-6E8A-4147-A177-3AD203B41FA5}">
                      <a16:colId xmlns:a16="http://schemas.microsoft.com/office/drawing/2014/main" val="1985909957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Educação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1.2%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29.93%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26313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6.74%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-63.09%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400261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92.13%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-15.57%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307790"/>
                  </a:ext>
                </a:extLst>
              </a:tr>
            </a:tbl>
          </a:graphicData>
        </a:graphic>
      </p:graphicFrame>
      <p:graphicFrame>
        <p:nvGraphicFramePr>
          <p:cNvPr id="33" name="Tabela 32">
            <a:extLst>
              <a:ext uri="{FF2B5EF4-FFF2-40B4-BE49-F238E27FC236}">
                <a16:creationId xmlns:a16="http://schemas.microsoft.com/office/drawing/2014/main" id="{744BD9DE-02E9-6617-B263-5E03F557923B}"/>
              </a:ext>
            </a:extLst>
          </p:cNvPr>
          <p:cNvGraphicFramePr>
            <a:graphicFrameLocks noGrp="1"/>
          </p:cNvGraphicFramePr>
          <p:nvPr/>
        </p:nvGraphicFramePr>
        <p:xfrm>
          <a:off x="6279862" y="5203423"/>
          <a:ext cx="5693398" cy="490158"/>
        </p:xfrm>
        <a:graphic>
          <a:graphicData uri="http://schemas.openxmlformats.org/drawingml/2006/table">
            <a:tbl>
              <a:tblPr firstRow="1" firstCol="1" bandRow="1"/>
              <a:tblGrid>
                <a:gridCol w="1460659">
                  <a:extLst>
                    <a:ext uri="{9D8B030D-6E8A-4147-A177-3AD203B41FA5}">
                      <a16:colId xmlns:a16="http://schemas.microsoft.com/office/drawing/2014/main" val="2247025927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4230662626"/>
                    </a:ext>
                  </a:extLst>
                </a:gridCol>
                <a:gridCol w="1471235">
                  <a:extLst>
                    <a:ext uri="{9D8B030D-6E8A-4147-A177-3AD203B41FA5}">
                      <a16:colId xmlns:a16="http://schemas.microsoft.com/office/drawing/2014/main" val="579149200"/>
                    </a:ext>
                  </a:extLst>
                </a:gridCol>
                <a:gridCol w="1290269">
                  <a:extLst>
                    <a:ext uri="{9D8B030D-6E8A-4147-A177-3AD203B41FA5}">
                      <a16:colId xmlns:a16="http://schemas.microsoft.com/office/drawing/2014/main" val="2040416797"/>
                    </a:ext>
                  </a:extLst>
                </a:gridCol>
              </a:tblGrid>
              <a:tr h="0">
                <a:tc row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Energia Renovável</a:t>
                      </a:r>
                      <a:endParaRPr lang="pt-BR" sz="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Upgrade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44.29%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23.05%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814744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Manutenção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12.86%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-8.55%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496361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Downgrade</a:t>
                      </a:r>
                      <a:endParaRPr lang="pt-BR" sz="800" b="1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44.29%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-3.65%</a:t>
                      </a:r>
                      <a:endParaRPr lang="pt-BR" sz="800" b="1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0872684"/>
                  </a:ext>
                </a:extLst>
              </a:tr>
            </a:tbl>
          </a:graphicData>
        </a:graphic>
      </p:graphicFrame>
      <p:graphicFrame>
        <p:nvGraphicFramePr>
          <p:cNvPr id="40" name="Tabela 39">
            <a:extLst>
              <a:ext uri="{FF2B5EF4-FFF2-40B4-BE49-F238E27FC236}">
                <a16:creationId xmlns:a16="http://schemas.microsoft.com/office/drawing/2014/main" id="{79BBC2F5-1E9E-584F-D7B4-9BC43AD88FFE}"/>
              </a:ext>
            </a:extLst>
          </p:cNvPr>
          <p:cNvGraphicFramePr>
            <a:graphicFrameLocks noGrp="1"/>
          </p:cNvGraphicFramePr>
          <p:nvPr/>
        </p:nvGraphicFramePr>
        <p:xfrm>
          <a:off x="1716753" y="898732"/>
          <a:ext cx="4178950" cy="204153"/>
        </p:xfrm>
        <a:graphic>
          <a:graphicData uri="http://schemas.openxmlformats.org/drawingml/2006/table">
            <a:tbl>
              <a:tblPr firstRow="1" firstCol="1" bandRow="1"/>
              <a:tblGrid>
                <a:gridCol w="1445710">
                  <a:extLst>
                    <a:ext uri="{9D8B030D-6E8A-4147-A177-3AD203B41FA5}">
                      <a16:colId xmlns:a16="http://schemas.microsoft.com/office/drawing/2014/main" val="830739868"/>
                    </a:ext>
                  </a:extLst>
                </a:gridCol>
                <a:gridCol w="1456177">
                  <a:extLst>
                    <a:ext uri="{9D8B030D-6E8A-4147-A177-3AD203B41FA5}">
                      <a16:colId xmlns:a16="http://schemas.microsoft.com/office/drawing/2014/main" val="3822666862"/>
                    </a:ext>
                  </a:extLst>
                </a:gridCol>
                <a:gridCol w="1277063">
                  <a:extLst>
                    <a:ext uri="{9D8B030D-6E8A-4147-A177-3AD203B41FA5}">
                      <a16:colId xmlns:a16="http://schemas.microsoft.com/office/drawing/2014/main" val="4516739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Swap In - Swap Out</a:t>
                      </a: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Quantidade de Pessoas</a:t>
                      </a: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1000" b="1" i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ROCP Segmentado</a:t>
                      </a:r>
                      <a:endParaRPr lang="pt-BR" sz="10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1838626"/>
                  </a:ext>
                </a:extLst>
              </a:tr>
            </a:tbl>
          </a:graphicData>
        </a:graphic>
      </p:graphicFrame>
      <p:sp>
        <p:nvSpPr>
          <p:cNvPr id="42" name="Fluxograma: Conector 41">
            <a:extLst>
              <a:ext uri="{FF2B5EF4-FFF2-40B4-BE49-F238E27FC236}">
                <a16:creationId xmlns:a16="http://schemas.microsoft.com/office/drawing/2014/main" id="{64AA0E5B-4883-FD78-3DBB-98398CED9DE1}"/>
              </a:ext>
            </a:extLst>
          </p:cNvPr>
          <p:cNvSpPr/>
          <p:nvPr/>
        </p:nvSpPr>
        <p:spPr>
          <a:xfrm>
            <a:off x="5542513" y="1223811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43" name="Fluxograma: Conector 42">
            <a:extLst>
              <a:ext uri="{FF2B5EF4-FFF2-40B4-BE49-F238E27FC236}">
                <a16:creationId xmlns:a16="http://schemas.microsoft.com/office/drawing/2014/main" id="{4465CA60-AB1F-048B-3BFD-535813B267CA}"/>
              </a:ext>
            </a:extLst>
          </p:cNvPr>
          <p:cNvSpPr/>
          <p:nvPr/>
        </p:nvSpPr>
        <p:spPr>
          <a:xfrm>
            <a:off x="5547361" y="1972745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44" name="Fluxograma: Conector 43">
            <a:extLst>
              <a:ext uri="{FF2B5EF4-FFF2-40B4-BE49-F238E27FC236}">
                <a16:creationId xmlns:a16="http://schemas.microsoft.com/office/drawing/2014/main" id="{71F41363-ECF1-9E9D-EB36-51A97355186D}"/>
              </a:ext>
            </a:extLst>
          </p:cNvPr>
          <p:cNvSpPr/>
          <p:nvPr/>
        </p:nvSpPr>
        <p:spPr>
          <a:xfrm>
            <a:off x="5547361" y="2753251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45" name="Fluxograma: Conector 44">
            <a:extLst>
              <a:ext uri="{FF2B5EF4-FFF2-40B4-BE49-F238E27FC236}">
                <a16:creationId xmlns:a16="http://schemas.microsoft.com/office/drawing/2014/main" id="{A5D7CF04-0CFD-C38D-8AC2-7B9164314FA1}"/>
              </a:ext>
            </a:extLst>
          </p:cNvPr>
          <p:cNvSpPr/>
          <p:nvPr/>
        </p:nvSpPr>
        <p:spPr>
          <a:xfrm>
            <a:off x="5542510" y="4422897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46" name="Fluxograma: Conector 45">
            <a:extLst>
              <a:ext uri="{FF2B5EF4-FFF2-40B4-BE49-F238E27FC236}">
                <a16:creationId xmlns:a16="http://schemas.microsoft.com/office/drawing/2014/main" id="{C6E68921-556A-E373-BB45-84FF223BFB25}"/>
              </a:ext>
            </a:extLst>
          </p:cNvPr>
          <p:cNvSpPr/>
          <p:nvPr/>
        </p:nvSpPr>
        <p:spPr>
          <a:xfrm>
            <a:off x="5547361" y="3762415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47" name="Fluxograma: Conector 46">
            <a:extLst>
              <a:ext uri="{FF2B5EF4-FFF2-40B4-BE49-F238E27FC236}">
                <a16:creationId xmlns:a16="http://schemas.microsoft.com/office/drawing/2014/main" id="{E8C4AC46-E784-F8E6-C510-F7DBBBF94AA6}"/>
              </a:ext>
            </a:extLst>
          </p:cNvPr>
          <p:cNvSpPr/>
          <p:nvPr/>
        </p:nvSpPr>
        <p:spPr>
          <a:xfrm>
            <a:off x="5547361" y="5112006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48" name="Fluxograma: Conector 47">
            <a:extLst>
              <a:ext uri="{FF2B5EF4-FFF2-40B4-BE49-F238E27FC236}">
                <a16:creationId xmlns:a16="http://schemas.microsoft.com/office/drawing/2014/main" id="{5B7FFB45-EFDB-571F-DF7B-620D146B59B4}"/>
              </a:ext>
            </a:extLst>
          </p:cNvPr>
          <p:cNvSpPr/>
          <p:nvPr/>
        </p:nvSpPr>
        <p:spPr>
          <a:xfrm>
            <a:off x="11707692" y="990006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49" name="Fluxograma: Conector 48">
            <a:extLst>
              <a:ext uri="{FF2B5EF4-FFF2-40B4-BE49-F238E27FC236}">
                <a16:creationId xmlns:a16="http://schemas.microsoft.com/office/drawing/2014/main" id="{FC485AFF-D4DC-0090-FDFE-660041A319C6}"/>
              </a:ext>
            </a:extLst>
          </p:cNvPr>
          <p:cNvSpPr/>
          <p:nvPr/>
        </p:nvSpPr>
        <p:spPr>
          <a:xfrm>
            <a:off x="5630135" y="5838252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50" name="Fluxograma: Conector 49">
            <a:extLst>
              <a:ext uri="{FF2B5EF4-FFF2-40B4-BE49-F238E27FC236}">
                <a16:creationId xmlns:a16="http://schemas.microsoft.com/office/drawing/2014/main" id="{65B8D227-A732-546A-C5A2-4F688CC7738F}"/>
              </a:ext>
            </a:extLst>
          </p:cNvPr>
          <p:cNvSpPr/>
          <p:nvPr/>
        </p:nvSpPr>
        <p:spPr>
          <a:xfrm>
            <a:off x="11691255" y="1609333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51" name="Fluxograma: Conector 50">
            <a:extLst>
              <a:ext uri="{FF2B5EF4-FFF2-40B4-BE49-F238E27FC236}">
                <a16:creationId xmlns:a16="http://schemas.microsoft.com/office/drawing/2014/main" id="{65F10C8E-BD62-2C08-0335-5BED7591B79B}"/>
              </a:ext>
            </a:extLst>
          </p:cNvPr>
          <p:cNvSpPr/>
          <p:nvPr/>
        </p:nvSpPr>
        <p:spPr>
          <a:xfrm>
            <a:off x="11691741" y="2334297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52" name="Fluxograma: Conector 51">
            <a:extLst>
              <a:ext uri="{FF2B5EF4-FFF2-40B4-BE49-F238E27FC236}">
                <a16:creationId xmlns:a16="http://schemas.microsoft.com/office/drawing/2014/main" id="{686AE1CC-C034-726E-F231-D3B68AE58DE6}"/>
              </a:ext>
            </a:extLst>
          </p:cNvPr>
          <p:cNvSpPr/>
          <p:nvPr/>
        </p:nvSpPr>
        <p:spPr>
          <a:xfrm>
            <a:off x="11700452" y="3058846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53" name="Fluxograma: Conector 52">
            <a:extLst>
              <a:ext uri="{FF2B5EF4-FFF2-40B4-BE49-F238E27FC236}">
                <a16:creationId xmlns:a16="http://schemas.microsoft.com/office/drawing/2014/main" id="{52B1C5CA-B19B-F5C5-A444-11D55B4D1860}"/>
              </a:ext>
            </a:extLst>
          </p:cNvPr>
          <p:cNvSpPr/>
          <p:nvPr/>
        </p:nvSpPr>
        <p:spPr>
          <a:xfrm>
            <a:off x="11680549" y="3750453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54" name="Fluxograma: Conector 53">
            <a:extLst>
              <a:ext uri="{FF2B5EF4-FFF2-40B4-BE49-F238E27FC236}">
                <a16:creationId xmlns:a16="http://schemas.microsoft.com/office/drawing/2014/main" id="{BD685DB7-2D53-22CB-0EB8-B6EBF873B764}"/>
              </a:ext>
            </a:extLst>
          </p:cNvPr>
          <p:cNvSpPr/>
          <p:nvPr/>
        </p:nvSpPr>
        <p:spPr>
          <a:xfrm>
            <a:off x="11691257" y="4516707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55" name="Fluxograma: Conector 54">
            <a:extLst>
              <a:ext uri="{FF2B5EF4-FFF2-40B4-BE49-F238E27FC236}">
                <a16:creationId xmlns:a16="http://schemas.microsoft.com/office/drawing/2014/main" id="{F6DD63DC-1AA9-A3E9-FAFD-5A401FD525D2}"/>
              </a:ext>
            </a:extLst>
          </p:cNvPr>
          <p:cNvSpPr/>
          <p:nvPr/>
        </p:nvSpPr>
        <p:spPr>
          <a:xfrm>
            <a:off x="11686403" y="5189195"/>
            <a:ext cx="69669" cy="75583"/>
          </a:xfrm>
          <a:prstGeom prst="flowChartConnector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56" name="Fluxograma: Conector 55">
            <a:extLst>
              <a:ext uri="{FF2B5EF4-FFF2-40B4-BE49-F238E27FC236}">
                <a16:creationId xmlns:a16="http://schemas.microsoft.com/office/drawing/2014/main" id="{E5252A3D-33E5-54C7-6A8A-8FE9D56588C3}"/>
              </a:ext>
            </a:extLst>
          </p:cNvPr>
          <p:cNvSpPr/>
          <p:nvPr/>
        </p:nvSpPr>
        <p:spPr>
          <a:xfrm>
            <a:off x="5542512" y="1637867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58" name="Fluxograma: Conector 57">
            <a:extLst>
              <a:ext uri="{FF2B5EF4-FFF2-40B4-BE49-F238E27FC236}">
                <a16:creationId xmlns:a16="http://schemas.microsoft.com/office/drawing/2014/main" id="{E5A81934-8617-4D8D-6021-81A627BAFD08}"/>
              </a:ext>
            </a:extLst>
          </p:cNvPr>
          <p:cNvSpPr/>
          <p:nvPr/>
        </p:nvSpPr>
        <p:spPr>
          <a:xfrm>
            <a:off x="5542511" y="3107884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59" name="Fluxograma: Conector 58">
            <a:extLst>
              <a:ext uri="{FF2B5EF4-FFF2-40B4-BE49-F238E27FC236}">
                <a16:creationId xmlns:a16="http://schemas.microsoft.com/office/drawing/2014/main" id="{FADA8C93-F6DB-BC78-809C-4E2EF4C0E0EA}"/>
              </a:ext>
            </a:extLst>
          </p:cNvPr>
          <p:cNvSpPr/>
          <p:nvPr/>
        </p:nvSpPr>
        <p:spPr>
          <a:xfrm>
            <a:off x="5547360" y="3978216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60" name="Fluxograma: Conector 59">
            <a:extLst>
              <a:ext uri="{FF2B5EF4-FFF2-40B4-BE49-F238E27FC236}">
                <a16:creationId xmlns:a16="http://schemas.microsoft.com/office/drawing/2014/main" id="{8B7A6DBE-B916-9A95-A219-D10A2E30FFF2}"/>
              </a:ext>
            </a:extLst>
          </p:cNvPr>
          <p:cNvSpPr/>
          <p:nvPr/>
        </p:nvSpPr>
        <p:spPr>
          <a:xfrm>
            <a:off x="5547360" y="4798034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61" name="Fluxograma: Conector 60">
            <a:extLst>
              <a:ext uri="{FF2B5EF4-FFF2-40B4-BE49-F238E27FC236}">
                <a16:creationId xmlns:a16="http://schemas.microsoft.com/office/drawing/2014/main" id="{AC09B6A7-9FF8-88AF-4533-D98A1D00461F}"/>
              </a:ext>
            </a:extLst>
          </p:cNvPr>
          <p:cNvSpPr/>
          <p:nvPr/>
        </p:nvSpPr>
        <p:spPr>
          <a:xfrm>
            <a:off x="5542512" y="5496622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62" name="Fluxograma: Conector 61">
            <a:extLst>
              <a:ext uri="{FF2B5EF4-FFF2-40B4-BE49-F238E27FC236}">
                <a16:creationId xmlns:a16="http://schemas.microsoft.com/office/drawing/2014/main" id="{4C778857-32B7-7537-9E2E-9D318E10F7A5}"/>
              </a:ext>
            </a:extLst>
          </p:cNvPr>
          <p:cNvSpPr/>
          <p:nvPr/>
        </p:nvSpPr>
        <p:spPr>
          <a:xfrm>
            <a:off x="11707691" y="1374583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63" name="Fluxograma: Conector 62">
            <a:extLst>
              <a:ext uri="{FF2B5EF4-FFF2-40B4-BE49-F238E27FC236}">
                <a16:creationId xmlns:a16="http://schemas.microsoft.com/office/drawing/2014/main" id="{E3C15349-5CDE-6FE5-4CBE-964417659AA1}"/>
              </a:ext>
            </a:extLst>
          </p:cNvPr>
          <p:cNvSpPr/>
          <p:nvPr/>
        </p:nvSpPr>
        <p:spPr>
          <a:xfrm>
            <a:off x="5619427" y="6206079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64" name="Fluxograma: Conector 63">
            <a:extLst>
              <a:ext uri="{FF2B5EF4-FFF2-40B4-BE49-F238E27FC236}">
                <a16:creationId xmlns:a16="http://schemas.microsoft.com/office/drawing/2014/main" id="{F13DA85D-43E7-BA15-0D5F-B133FBDDB2D9}"/>
              </a:ext>
            </a:extLst>
          </p:cNvPr>
          <p:cNvSpPr/>
          <p:nvPr/>
        </p:nvSpPr>
        <p:spPr>
          <a:xfrm>
            <a:off x="11680549" y="2009716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65" name="Fluxograma: Conector 64">
            <a:extLst>
              <a:ext uri="{FF2B5EF4-FFF2-40B4-BE49-F238E27FC236}">
                <a16:creationId xmlns:a16="http://schemas.microsoft.com/office/drawing/2014/main" id="{2F891D44-6BEC-2D7F-5B38-91C1E8B96966}"/>
              </a:ext>
            </a:extLst>
          </p:cNvPr>
          <p:cNvSpPr/>
          <p:nvPr/>
        </p:nvSpPr>
        <p:spPr>
          <a:xfrm>
            <a:off x="11691743" y="2706309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66" name="Fluxograma: Conector 65">
            <a:extLst>
              <a:ext uri="{FF2B5EF4-FFF2-40B4-BE49-F238E27FC236}">
                <a16:creationId xmlns:a16="http://schemas.microsoft.com/office/drawing/2014/main" id="{1DE96140-DC62-427D-253A-F2419AA3C6A8}"/>
              </a:ext>
            </a:extLst>
          </p:cNvPr>
          <p:cNvSpPr/>
          <p:nvPr/>
        </p:nvSpPr>
        <p:spPr>
          <a:xfrm>
            <a:off x="11700452" y="3421218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67" name="Fluxograma: Conector 66">
            <a:extLst>
              <a:ext uri="{FF2B5EF4-FFF2-40B4-BE49-F238E27FC236}">
                <a16:creationId xmlns:a16="http://schemas.microsoft.com/office/drawing/2014/main" id="{3F4969A6-1DDB-F227-8D85-77B25E02C9B9}"/>
              </a:ext>
            </a:extLst>
          </p:cNvPr>
          <p:cNvSpPr/>
          <p:nvPr/>
        </p:nvSpPr>
        <p:spPr>
          <a:xfrm>
            <a:off x="11685398" y="4156597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68" name="Fluxograma: Conector 67">
            <a:extLst>
              <a:ext uri="{FF2B5EF4-FFF2-40B4-BE49-F238E27FC236}">
                <a16:creationId xmlns:a16="http://schemas.microsoft.com/office/drawing/2014/main" id="{C5B1216F-58D4-3152-3915-5422DF303F51}"/>
              </a:ext>
            </a:extLst>
          </p:cNvPr>
          <p:cNvSpPr/>
          <p:nvPr/>
        </p:nvSpPr>
        <p:spPr>
          <a:xfrm>
            <a:off x="11691252" y="4907176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69" name="Fluxograma: Conector 68">
            <a:extLst>
              <a:ext uri="{FF2B5EF4-FFF2-40B4-BE49-F238E27FC236}">
                <a16:creationId xmlns:a16="http://schemas.microsoft.com/office/drawing/2014/main" id="{2368C720-4339-8AB1-87A6-EC38B6CB8F39}"/>
              </a:ext>
            </a:extLst>
          </p:cNvPr>
          <p:cNvSpPr/>
          <p:nvPr/>
        </p:nvSpPr>
        <p:spPr>
          <a:xfrm>
            <a:off x="11691252" y="5598381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70" name="Fluxograma: Conector 69">
            <a:extLst>
              <a:ext uri="{FF2B5EF4-FFF2-40B4-BE49-F238E27FC236}">
                <a16:creationId xmlns:a16="http://schemas.microsoft.com/office/drawing/2014/main" id="{18CA8E43-7EE3-4648-E176-EB40C76A1D6D}"/>
              </a:ext>
            </a:extLst>
          </p:cNvPr>
          <p:cNvSpPr/>
          <p:nvPr/>
        </p:nvSpPr>
        <p:spPr>
          <a:xfrm>
            <a:off x="5542511" y="1392386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71" name="Fluxograma: Conector 70">
            <a:extLst>
              <a:ext uri="{FF2B5EF4-FFF2-40B4-BE49-F238E27FC236}">
                <a16:creationId xmlns:a16="http://schemas.microsoft.com/office/drawing/2014/main" id="{D8046AF4-8A97-3D6A-53F8-7E199D57CA4D}"/>
              </a:ext>
            </a:extLst>
          </p:cNvPr>
          <p:cNvSpPr/>
          <p:nvPr/>
        </p:nvSpPr>
        <p:spPr>
          <a:xfrm>
            <a:off x="5547360" y="2162147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72" name="Fluxograma: Conector 71">
            <a:extLst>
              <a:ext uri="{FF2B5EF4-FFF2-40B4-BE49-F238E27FC236}">
                <a16:creationId xmlns:a16="http://schemas.microsoft.com/office/drawing/2014/main" id="{452B08FC-431E-2A56-0263-98C1BD5DC8CC}"/>
              </a:ext>
            </a:extLst>
          </p:cNvPr>
          <p:cNvSpPr/>
          <p:nvPr/>
        </p:nvSpPr>
        <p:spPr>
          <a:xfrm>
            <a:off x="5547360" y="2377126"/>
            <a:ext cx="69669" cy="75583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73" name="Fluxograma: Conector 72">
            <a:extLst>
              <a:ext uri="{FF2B5EF4-FFF2-40B4-BE49-F238E27FC236}">
                <a16:creationId xmlns:a16="http://schemas.microsoft.com/office/drawing/2014/main" id="{3BA33C92-C79A-356C-7E66-E7BB9BD04F62}"/>
              </a:ext>
            </a:extLst>
          </p:cNvPr>
          <p:cNvSpPr/>
          <p:nvPr/>
        </p:nvSpPr>
        <p:spPr>
          <a:xfrm>
            <a:off x="5542512" y="2923905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74" name="Fluxograma: Conector 73">
            <a:extLst>
              <a:ext uri="{FF2B5EF4-FFF2-40B4-BE49-F238E27FC236}">
                <a16:creationId xmlns:a16="http://schemas.microsoft.com/office/drawing/2014/main" id="{B6901DB0-08D9-FD08-BA02-E42C57359088}"/>
              </a:ext>
            </a:extLst>
          </p:cNvPr>
          <p:cNvSpPr/>
          <p:nvPr/>
        </p:nvSpPr>
        <p:spPr>
          <a:xfrm>
            <a:off x="5542512" y="3584119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75" name="Fluxograma: Conector 74">
            <a:extLst>
              <a:ext uri="{FF2B5EF4-FFF2-40B4-BE49-F238E27FC236}">
                <a16:creationId xmlns:a16="http://schemas.microsoft.com/office/drawing/2014/main" id="{2B9FA1B0-8071-3B6A-2700-6CCB31B8C2DA}"/>
              </a:ext>
            </a:extLst>
          </p:cNvPr>
          <p:cNvSpPr/>
          <p:nvPr/>
        </p:nvSpPr>
        <p:spPr>
          <a:xfrm>
            <a:off x="5547355" y="4588747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76" name="Fluxograma: Conector 75">
            <a:extLst>
              <a:ext uri="{FF2B5EF4-FFF2-40B4-BE49-F238E27FC236}">
                <a16:creationId xmlns:a16="http://schemas.microsoft.com/office/drawing/2014/main" id="{5D6CB767-BDCE-C43D-3E09-B7D8AE8FC745}"/>
              </a:ext>
            </a:extLst>
          </p:cNvPr>
          <p:cNvSpPr/>
          <p:nvPr/>
        </p:nvSpPr>
        <p:spPr>
          <a:xfrm>
            <a:off x="5542512" y="5316088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77" name="Fluxograma: Conector 76">
            <a:extLst>
              <a:ext uri="{FF2B5EF4-FFF2-40B4-BE49-F238E27FC236}">
                <a16:creationId xmlns:a16="http://schemas.microsoft.com/office/drawing/2014/main" id="{668E3B72-078C-63BE-D172-17A2DB3FA242}"/>
              </a:ext>
            </a:extLst>
          </p:cNvPr>
          <p:cNvSpPr/>
          <p:nvPr/>
        </p:nvSpPr>
        <p:spPr>
          <a:xfrm>
            <a:off x="11702838" y="1155064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78" name="Fluxograma: Conector 77">
            <a:extLst>
              <a:ext uri="{FF2B5EF4-FFF2-40B4-BE49-F238E27FC236}">
                <a16:creationId xmlns:a16="http://schemas.microsoft.com/office/drawing/2014/main" id="{5300DDE7-4BD6-482A-121F-DEA79011158D}"/>
              </a:ext>
            </a:extLst>
          </p:cNvPr>
          <p:cNvSpPr/>
          <p:nvPr/>
        </p:nvSpPr>
        <p:spPr>
          <a:xfrm>
            <a:off x="5625281" y="6034775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79" name="Fluxograma: Conector 78">
            <a:extLst>
              <a:ext uri="{FF2B5EF4-FFF2-40B4-BE49-F238E27FC236}">
                <a16:creationId xmlns:a16="http://schemas.microsoft.com/office/drawing/2014/main" id="{2F7865E9-F5DE-24DC-844D-AB64F8A2F23D}"/>
              </a:ext>
            </a:extLst>
          </p:cNvPr>
          <p:cNvSpPr/>
          <p:nvPr/>
        </p:nvSpPr>
        <p:spPr>
          <a:xfrm>
            <a:off x="11686400" y="1798904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80" name="Fluxograma: Conector 79">
            <a:extLst>
              <a:ext uri="{FF2B5EF4-FFF2-40B4-BE49-F238E27FC236}">
                <a16:creationId xmlns:a16="http://schemas.microsoft.com/office/drawing/2014/main" id="{9E7071AD-631D-53C2-3B61-C300CA437DFA}"/>
              </a:ext>
            </a:extLst>
          </p:cNvPr>
          <p:cNvSpPr/>
          <p:nvPr/>
        </p:nvSpPr>
        <p:spPr>
          <a:xfrm>
            <a:off x="11686892" y="2495842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81" name="Fluxograma: Conector 80">
            <a:extLst>
              <a:ext uri="{FF2B5EF4-FFF2-40B4-BE49-F238E27FC236}">
                <a16:creationId xmlns:a16="http://schemas.microsoft.com/office/drawing/2014/main" id="{3E238B85-B090-9079-D3F7-A09379DAD16B}"/>
              </a:ext>
            </a:extLst>
          </p:cNvPr>
          <p:cNvSpPr/>
          <p:nvPr/>
        </p:nvSpPr>
        <p:spPr>
          <a:xfrm>
            <a:off x="11695602" y="3217560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82" name="Fluxograma: Conector 81">
            <a:extLst>
              <a:ext uri="{FF2B5EF4-FFF2-40B4-BE49-F238E27FC236}">
                <a16:creationId xmlns:a16="http://schemas.microsoft.com/office/drawing/2014/main" id="{9B560446-9BAF-D6E7-E82D-F3DE8507B88A}"/>
              </a:ext>
            </a:extLst>
          </p:cNvPr>
          <p:cNvSpPr/>
          <p:nvPr/>
        </p:nvSpPr>
        <p:spPr>
          <a:xfrm>
            <a:off x="11680549" y="3930563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83" name="Fluxograma: Conector 82">
            <a:extLst>
              <a:ext uri="{FF2B5EF4-FFF2-40B4-BE49-F238E27FC236}">
                <a16:creationId xmlns:a16="http://schemas.microsoft.com/office/drawing/2014/main" id="{7ED4B344-9329-761C-9788-B88CFA4661A4}"/>
              </a:ext>
            </a:extLst>
          </p:cNvPr>
          <p:cNvSpPr/>
          <p:nvPr/>
        </p:nvSpPr>
        <p:spPr>
          <a:xfrm>
            <a:off x="11686403" y="4706622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84" name="Fluxograma: Conector 83">
            <a:extLst>
              <a:ext uri="{FF2B5EF4-FFF2-40B4-BE49-F238E27FC236}">
                <a16:creationId xmlns:a16="http://schemas.microsoft.com/office/drawing/2014/main" id="{8EF25E41-97C9-1CB8-183E-F55CA80DEE39}"/>
              </a:ext>
            </a:extLst>
          </p:cNvPr>
          <p:cNvSpPr/>
          <p:nvPr/>
        </p:nvSpPr>
        <p:spPr>
          <a:xfrm>
            <a:off x="11694612" y="5382922"/>
            <a:ext cx="69669" cy="75583"/>
          </a:xfrm>
          <a:prstGeom prst="flowChartConnector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6A173C-B779-8200-A695-27923B5DE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12790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B1F58B-B58B-647E-6BA7-4560D6D3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E1463F1-4DD4-D715-00D8-0A522E5614C5}"/>
              </a:ext>
            </a:extLst>
          </p:cNvPr>
          <p:cNvSpPr/>
          <p:nvPr/>
        </p:nvSpPr>
        <p:spPr>
          <a:xfrm>
            <a:off x="100683" y="801726"/>
            <a:ext cx="11990633" cy="58848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A259909-4EAF-2AE9-4369-CFCBEB0ED5D0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DESAFIO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311B829C-4BEA-BBF5-8BF1-6F1FB8C92D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0267" y="609468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graphicFrame>
        <p:nvGraphicFramePr>
          <p:cNvPr id="15" name="Tabela 14">
            <a:extLst>
              <a:ext uri="{FF2B5EF4-FFF2-40B4-BE49-F238E27FC236}">
                <a16:creationId xmlns:a16="http://schemas.microsoft.com/office/drawing/2014/main" id="{F31D7366-CEAF-5820-5CA1-E436563FA4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381465"/>
              </p:ext>
            </p:extLst>
          </p:nvPr>
        </p:nvGraphicFramePr>
        <p:xfrm>
          <a:off x="260350" y="903601"/>
          <a:ext cx="5273676" cy="2630177"/>
        </p:xfrm>
        <a:graphic>
          <a:graphicData uri="http://schemas.openxmlformats.org/drawingml/2006/table">
            <a:tbl>
              <a:tblPr firstRow="1" bandRow="1">
                <a:solidFill>
                  <a:schemeClr val="accent2">
                    <a:lumMod val="60000"/>
                    <a:lumOff val="40000"/>
                  </a:schemeClr>
                </a:solidFill>
                <a:tableStyleId>{EB344D84-9AFB-497E-A393-DC336BA19D2E}</a:tableStyleId>
              </a:tblPr>
              <a:tblGrid>
                <a:gridCol w="530225">
                  <a:extLst>
                    <a:ext uri="{9D8B030D-6E8A-4147-A177-3AD203B41FA5}">
                      <a16:colId xmlns:a16="http://schemas.microsoft.com/office/drawing/2014/main" val="2788744274"/>
                    </a:ext>
                  </a:extLst>
                </a:gridCol>
                <a:gridCol w="1457325">
                  <a:extLst>
                    <a:ext uri="{9D8B030D-6E8A-4147-A177-3AD203B41FA5}">
                      <a16:colId xmlns:a16="http://schemas.microsoft.com/office/drawing/2014/main" val="1205104467"/>
                    </a:ext>
                  </a:extLst>
                </a:gridCol>
                <a:gridCol w="1762125">
                  <a:extLst>
                    <a:ext uri="{9D8B030D-6E8A-4147-A177-3AD203B41FA5}">
                      <a16:colId xmlns:a16="http://schemas.microsoft.com/office/drawing/2014/main" val="2154919097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2939204814"/>
                    </a:ext>
                  </a:extLst>
                </a:gridCol>
              </a:tblGrid>
              <a:tr h="328747">
                <a:tc>
                  <a:txBody>
                    <a:bodyPr/>
                    <a:lstStyle/>
                    <a:p>
                      <a:pPr algn="ctr"/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%BAD Faturam. Anual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BAD </a:t>
                      </a:r>
                      <a:r>
                        <a:rPr lang="pt-BR" sz="800" b="1" i="1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Compromet</a:t>
                      </a:r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Renda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%BAD Taxa de Juros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7102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8.1%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3.5%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561869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13.8%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8.3%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5.3%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479821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8.8%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7.5%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00259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9.4%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8.2%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45192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11.8%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9.8%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10%</a:t>
                      </a:r>
                      <a:endParaRPr lang="pt-BR" sz="800" b="0" i="1" u="sng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0417117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10.2%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11.3%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856447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11.4%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12.7%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577338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9.3%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13.2%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3302101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8.6%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18.2%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120192"/>
                  </a:ext>
                </a:extLst>
              </a:tr>
              <a:tr h="230143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7.9%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18.4%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22.2%</a:t>
                      </a:r>
                      <a:endParaRPr lang="pt-BR" sz="800" b="0" i="1" u="sng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151410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5A761CA5-9252-911E-585B-036F024CD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737981"/>
              </p:ext>
            </p:extLst>
          </p:nvPr>
        </p:nvGraphicFramePr>
        <p:xfrm>
          <a:off x="260350" y="3795073"/>
          <a:ext cx="5273676" cy="2630173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530225">
                  <a:extLst>
                    <a:ext uri="{9D8B030D-6E8A-4147-A177-3AD203B41FA5}">
                      <a16:colId xmlns:a16="http://schemas.microsoft.com/office/drawing/2014/main" val="2788744274"/>
                    </a:ext>
                  </a:extLst>
                </a:gridCol>
                <a:gridCol w="1457325">
                  <a:extLst>
                    <a:ext uri="{9D8B030D-6E8A-4147-A177-3AD203B41FA5}">
                      <a16:colId xmlns:a16="http://schemas.microsoft.com/office/drawing/2014/main" val="1205104467"/>
                    </a:ext>
                  </a:extLst>
                </a:gridCol>
                <a:gridCol w="1762125">
                  <a:extLst>
                    <a:ext uri="{9D8B030D-6E8A-4147-A177-3AD203B41FA5}">
                      <a16:colId xmlns:a16="http://schemas.microsoft.com/office/drawing/2014/main" val="2154919097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2939204814"/>
                    </a:ext>
                  </a:extLst>
                </a:gridCol>
              </a:tblGrid>
              <a:tr h="364933">
                <a:tc>
                  <a:txBody>
                    <a:bodyPr/>
                    <a:lstStyle/>
                    <a:p>
                      <a:pPr algn="ctr"/>
                      <a:r>
                        <a:rPr lang="pt-BR" sz="8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% BAD Limite de Rotativos Utilizado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% BAD Qt Meses desde última </a:t>
                      </a:r>
                      <a:r>
                        <a:rPr lang="pt-BR" sz="800" b="1" i="1" u="none" strike="noStrike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inadimp</a:t>
                      </a:r>
                      <a:r>
                        <a:rPr lang="pt-BR" sz="800" b="1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1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%BAD Qt Meses desde </a:t>
                      </a:r>
                      <a:r>
                        <a:rPr lang="pt-BR" sz="800" b="1" i="1" u="none" strike="noStrike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classif</a:t>
                      </a:r>
                      <a:r>
                        <a:rPr lang="pt-BR" sz="800" b="1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 mais recente 90d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7102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11.8%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11.7%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11.5%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561869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11.4%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10.8%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479821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11.8%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10.8%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10.6%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00259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11.6%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10.5%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10.2%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45192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11.8%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10.4%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10.6%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0417117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11.4%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9.7%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856447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11.7%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10.5%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577338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11.2%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10.7%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9.5%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3302101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10.4%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10.6%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10.7%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120192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algn="ctr"/>
                      <a:r>
                        <a:rPr lang="pt-BR" sz="8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9.4%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11.3%</a:t>
                      </a:r>
                      <a:endParaRPr lang="pt-BR" sz="800" b="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11.2%</a:t>
                      </a:r>
                      <a:endParaRPr lang="pt-BR" sz="800" b="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151410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FFCA7DB5-9221-882B-6994-BEB307FF7E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622587"/>
              </p:ext>
            </p:extLst>
          </p:nvPr>
        </p:nvGraphicFramePr>
        <p:xfrm>
          <a:off x="6096000" y="860872"/>
          <a:ext cx="3606799" cy="1950601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1679477">
                  <a:extLst>
                    <a:ext uri="{9D8B030D-6E8A-4147-A177-3AD203B41FA5}">
                      <a16:colId xmlns:a16="http://schemas.microsoft.com/office/drawing/2014/main" val="2788744274"/>
                    </a:ext>
                  </a:extLst>
                </a:gridCol>
                <a:gridCol w="1927322">
                  <a:extLst>
                    <a:ext uri="{9D8B030D-6E8A-4147-A177-3AD203B41FA5}">
                      <a16:colId xmlns:a16="http://schemas.microsoft.com/office/drawing/2014/main" val="1205104467"/>
                    </a:ext>
                  </a:extLst>
                </a:gridCol>
              </a:tblGrid>
              <a:tr h="3649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Classe de Produto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% BAD Classe de Produto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7102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561869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8.2%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479821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11.8%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00259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15.8%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45192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0417117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25.1%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856447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</a:t>
                      </a:r>
                      <a:endParaRPr lang="pt-BR" sz="800" i="1" u="sng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28.1%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577338"/>
                  </a:ext>
                </a:extLst>
              </a:tr>
            </a:tbl>
          </a:graphicData>
        </a:graphic>
      </p:graphicFrame>
      <p:graphicFrame>
        <p:nvGraphicFramePr>
          <p:cNvPr id="9" name="Tabela 8">
            <a:extLst>
              <a:ext uri="{FF2B5EF4-FFF2-40B4-BE49-F238E27FC236}">
                <a16:creationId xmlns:a16="http://schemas.microsoft.com/office/drawing/2014/main" id="{FA800A4B-6E13-B765-851F-C86F9B490D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0974600"/>
              </p:ext>
            </p:extLst>
          </p:nvPr>
        </p:nvGraphicFramePr>
        <p:xfrm>
          <a:off x="6146251" y="3092182"/>
          <a:ext cx="3571875" cy="1950601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1663215">
                  <a:extLst>
                    <a:ext uri="{9D8B030D-6E8A-4147-A177-3AD203B41FA5}">
                      <a16:colId xmlns:a16="http://schemas.microsoft.com/office/drawing/2014/main" val="2788744274"/>
                    </a:ext>
                  </a:extLst>
                </a:gridCol>
                <a:gridCol w="1908660">
                  <a:extLst>
                    <a:ext uri="{9D8B030D-6E8A-4147-A177-3AD203B41FA5}">
                      <a16:colId xmlns:a16="http://schemas.microsoft.com/office/drawing/2014/main" val="1205104467"/>
                    </a:ext>
                  </a:extLst>
                </a:gridCol>
              </a:tblGrid>
              <a:tr h="3649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Subclasse de Produto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% BAD Subclasse de Produto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7102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A1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1.9%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561869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A2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2.9%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479821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A3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3.5%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00259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...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...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45192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G3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29.3%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0417117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G4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29.5%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856447"/>
                  </a:ext>
                </a:extLst>
              </a:tr>
              <a:tr h="22652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G5</a:t>
                      </a:r>
                      <a:endParaRPr lang="pt-BR" sz="800" i="1" u="sng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Aft>
                          <a:spcPts val="600"/>
                        </a:spcAft>
                      </a:pPr>
                      <a:r>
                        <a:rPr lang="pt-BR" sz="800" i="1" u="non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30%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577338"/>
                  </a:ext>
                </a:extLst>
              </a:tr>
            </a:tbl>
          </a:graphicData>
        </a:graphic>
      </p:graphicFrame>
      <p:sp>
        <p:nvSpPr>
          <p:cNvPr id="11" name="Retângulo 10">
            <a:extLst>
              <a:ext uri="{FF2B5EF4-FFF2-40B4-BE49-F238E27FC236}">
                <a16:creationId xmlns:a16="http://schemas.microsoft.com/office/drawing/2014/main" id="{5360E350-73AE-3EA7-097F-D16A2EC2D591}"/>
              </a:ext>
            </a:extLst>
          </p:cNvPr>
          <p:cNvSpPr/>
          <p:nvPr/>
        </p:nvSpPr>
        <p:spPr>
          <a:xfrm>
            <a:off x="956467" y="847221"/>
            <a:ext cx="1443833" cy="2772279"/>
          </a:xfrm>
          <a:prstGeom prst="rect">
            <a:avLst/>
          </a:prstGeom>
          <a:noFill/>
          <a:ln w="1905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9D396F7A-77DF-7238-7EB6-EAA0BF0D334C}"/>
              </a:ext>
            </a:extLst>
          </p:cNvPr>
          <p:cNvSpPr/>
          <p:nvPr/>
        </p:nvSpPr>
        <p:spPr>
          <a:xfrm>
            <a:off x="2651917" y="847221"/>
            <a:ext cx="1443833" cy="2772279"/>
          </a:xfrm>
          <a:prstGeom prst="rect">
            <a:avLst/>
          </a:prstGeom>
          <a:noFill/>
          <a:ln w="1905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856E0925-21BC-2680-F7A0-026A4F0D385A}"/>
              </a:ext>
            </a:extLst>
          </p:cNvPr>
          <p:cNvSpPr/>
          <p:nvPr/>
        </p:nvSpPr>
        <p:spPr>
          <a:xfrm>
            <a:off x="4216001" y="860872"/>
            <a:ext cx="1443833" cy="2772279"/>
          </a:xfrm>
          <a:prstGeom prst="rect">
            <a:avLst/>
          </a:prstGeom>
          <a:noFill/>
          <a:ln w="1905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B8DEDECD-F7DC-1139-7DF5-69E814B42A5C}"/>
              </a:ext>
            </a:extLst>
          </p:cNvPr>
          <p:cNvSpPr/>
          <p:nvPr/>
        </p:nvSpPr>
        <p:spPr>
          <a:xfrm>
            <a:off x="8274293" y="748495"/>
            <a:ext cx="1443833" cy="2200240"/>
          </a:xfrm>
          <a:prstGeom prst="rect">
            <a:avLst/>
          </a:prstGeom>
          <a:noFill/>
          <a:ln w="1905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30ED49C6-E9A3-836E-E2B5-30B9CB67D1B7}"/>
              </a:ext>
            </a:extLst>
          </p:cNvPr>
          <p:cNvSpPr/>
          <p:nvPr/>
        </p:nvSpPr>
        <p:spPr>
          <a:xfrm>
            <a:off x="8274292" y="3040921"/>
            <a:ext cx="1443833" cy="2200240"/>
          </a:xfrm>
          <a:prstGeom prst="rect">
            <a:avLst/>
          </a:prstGeom>
          <a:noFill/>
          <a:ln w="1905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2FEA0C-4090-DE9F-EA26-C6BCAF48B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86451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8466E35-269E-BB3C-F72F-D46F2897A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ABD70A5A-CE0B-09EB-FD7B-85DDB977C223}"/>
              </a:ext>
            </a:extLst>
          </p:cNvPr>
          <p:cNvSpPr txBox="1"/>
          <p:nvPr/>
        </p:nvSpPr>
        <p:spPr>
          <a:xfrm>
            <a:off x="387658" y="2325951"/>
            <a:ext cx="11416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Pontos na Apresentação</a:t>
            </a:r>
          </a:p>
          <a:p>
            <a:endParaRPr lang="pt-BR" dirty="0"/>
          </a:p>
          <a:p>
            <a:r>
              <a:rPr lang="pt-BR" dirty="0"/>
              <a:t>- Explicar o porquê modelos de </a:t>
            </a:r>
            <a:r>
              <a:rPr lang="pt-BR" dirty="0" err="1"/>
              <a:t>credit</a:t>
            </a:r>
            <a:r>
              <a:rPr lang="pt-BR" dirty="0"/>
              <a:t> score são bons: Consultar no livro página 4 (consistência nas decisões proporcionando padronização, agilidade, confiabilidade, facilidade geográfica, monitoramento de indicadores de performance a fim de melhorar a gestão de riscos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A3568DC-AD4F-4176-BFB3-7DB8F9FBF676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6AB29A-C922-B797-D15F-3088F4197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34323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CBD94EAC-62CD-C0AC-C544-47D0B55EFBD7}"/>
              </a:ext>
            </a:extLst>
          </p:cNvPr>
          <p:cNvSpPr/>
          <p:nvPr/>
        </p:nvSpPr>
        <p:spPr>
          <a:xfrm>
            <a:off x="0" y="0"/>
            <a:ext cx="12192000" cy="585926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5EA891E-885E-6E83-68C0-50F62F068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359" y="2197071"/>
            <a:ext cx="3292320" cy="2118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2479;p39">
            <a:extLst>
              <a:ext uri="{FF2B5EF4-FFF2-40B4-BE49-F238E27FC236}">
                <a16:creationId xmlns:a16="http://schemas.microsoft.com/office/drawing/2014/main" id="{F8B1FB12-3D6D-3866-8322-611E4462FC6E}"/>
              </a:ext>
            </a:extLst>
          </p:cNvPr>
          <p:cNvSpPr/>
          <p:nvPr/>
        </p:nvSpPr>
        <p:spPr>
          <a:xfrm>
            <a:off x="5736052" y="1206339"/>
            <a:ext cx="1327353" cy="1326408"/>
          </a:xfrm>
          <a:custGeom>
            <a:avLst/>
            <a:gdLst/>
            <a:ahLst/>
            <a:cxnLst/>
            <a:rect l="l" t="t" r="r" b="b"/>
            <a:pathLst>
              <a:path w="11234" h="11226" extrusionOk="0">
                <a:moveTo>
                  <a:pt x="4234" y="1"/>
                </a:moveTo>
                <a:cubicBezTo>
                  <a:pt x="1919" y="1"/>
                  <a:pt x="0" y="1879"/>
                  <a:pt x="0" y="4226"/>
                </a:cubicBezTo>
                <a:lnTo>
                  <a:pt x="0" y="11225"/>
                </a:lnTo>
                <a:lnTo>
                  <a:pt x="4955" y="11225"/>
                </a:lnTo>
                <a:cubicBezTo>
                  <a:pt x="8427" y="11225"/>
                  <a:pt x="11233" y="8419"/>
                  <a:pt x="11233" y="4923"/>
                </a:cubicBezTo>
                <a:lnTo>
                  <a:pt x="11233" y="1"/>
                </a:lnTo>
                <a:close/>
              </a:path>
            </a:pathLst>
          </a:custGeom>
          <a:solidFill>
            <a:srgbClr val="D9D9D9">
              <a:alpha val="723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2480;p39">
            <a:extLst>
              <a:ext uri="{FF2B5EF4-FFF2-40B4-BE49-F238E27FC236}">
                <a16:creationId xmlns:a16="http://schemas.microsoft.com/office/drawing/2014/main" id="{66653961-1F21-B9D5-A395-93C8F46E4A5C}"/>
              </a:ext>
            </a:extLst>
          </p:cNvPr>
          <p:cNvSpPr/>
          <p:nvPr/>
        </p:nvSpPr>
        <p:spPr>
          <a:xfrm>
            <a:off x="5736052" y="1206339"/>
            <a:ext cx="718501" cy="717555"/>
          </a:xfrm>
          <a:custGeom>
            <a:avLst/>
            <a:gdLst/>
            <a:ahLst/>
            <a:cxnLst/>
            <a:rect l="l" t="t" r="r" b="b"/>
            <a:pathLst>
              <a:path w="6081" h="6073" extrusionOk="0">
                <a:moveTo>
                  <a:pt x="4234" y="1"/>
                </a:moveTo>
                <a:cubicBezTo>
                  <a:pt x="1919" y="1"/>
                  <a:pt x="0" y="1879"/>
                  <a:pt x="0" y="4226"/>
                </a:cubicBezTo>
                <a:lnTo>
                  <a:pt x="0" y="6073"/>
                </a:lnTo>
                <a:lnTo>
                  <a:pt x="6081" y="6073"/>
                </a:lnTo>
                <a:lnTo>
                  <a:pt x="6081" y="1"/>
                </a:lnTo>
                <a:close/>
              </a:path>
            </a:pathLst>
          </a:cu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2481;p39">
            <a:extLst>
              <a:ext uri="{FF2B5EF4-FFF2-40B4-BE49-F238E27FC236}">
                <a16:creationId xmlns:a16="http://schemas.microsoft.com/office/drawing/2014/main" id="{DA4A652F-995F-0879-8007-EC5C4360D23A}"/>
              </a:ext>
            </a:extLst>
          </p:cNvPr>
          <p:cNvSpPr/>
          <p:nvPr/>
        </p:nvSpPr>
        <p:spPr>
          <a:xfrm>
            <a:off x="5689263" y="1159550"/>
            <a:ext cx="710939" cy="709993"/>
          </a:xfrm>
          <a:custGeom>
            <a:avLst/>
            <a:gdLst/>
            <a:ahLst/>
            <a:cxnLst/>
            <a:rect l="l" t="t" r="r" b="b"/>
            <a:pathLst>
              <a:path w="6017" h="6009" extrusionOk="0">
                <a:moveTo>
                  <a:pt x="4233" y="0"/>
                </a:moveTo>
                <a:cubicBezTo>
                  <a:pt x="1887" y="0"/>
                  <a:pt x="0" y="1879"/>
                  <a:pt x="0" y="4225"/>
                </a:cubicBezTo>
                <a:lnTo>
                  <a:pt x="0" y="6009"/>
                </a:lnTo>
                <a:lnTo>
                  <a:pt x="6017" y="6009"/>
                </a:lnTo>
                <a:lnTo>
                  <a:pt x="6017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482;p39">
            <a:extLst>
              <a:ext uri="{FF2B5EF4-FFF2-40B4-BE49-F238E27FC236}">
                <a16:creationId xmlns:a16="http://schemas.microsoft.com/office/drawing/2014/main" id="{0A04685D-7011-1F9B-CC10-84F33052430E}"/>
              </a:ext>
            </a:extLst>
          </p:cNvPr>
          <p:cNvSpPr/>
          <p:nvPr/>
        </p:nvSpPr>
        <p:spPr>
          <a:xfrm>
            <a:off x="7129799" y="1206339"/>
            <a:ext cx="1326290" cy="1326408"/>
          </a:xfrm>
          <a:custGeom>
            <a:avLst/>
            <a:gdLst/>
            <a:ahLst/>
            <a:cxnLst/>
            <a:rect l="l" t="t" r="r" b="b"/>
            <a:pathLst>
              <a:path w="11225" h="11226" extrusionOk="0">
                <a:moveTo>
                  <a:pt x="0" y="1"/>
                </a:moveTo>
                <a:lnTo>
                  <a:pt x="0" y="4923"/>
                </a:lnTo>
                <a:cubicBezTo>
                  <a:pt x="0" y="8419"/>
                  <a:pt x="2838" y="11225"/>
                  <a:pt x="6310" y="11225"/>
                </a:cubicBezTo>
                <a:lnTo>
                  <a:pt x="11225" y="11225"/>
                </a:lnTo>
                <a:lnTo>
                  <a:pt x="11225" y="4226"/>
                </a:lnTo>
                <a:cubicBezTo>
                  <a:pt x="11225" y="1879"/>
                  <a:pt x="9346" y="1"/>
                  <a:pt x="7000" y="1"/>
                </a:cubicBezTo>
                <a:close/>
              </a:path>
            </a:pathLst>
          </a:custGeom>
          <a:solidFill>
            <a:srgbClr val="D9D9D9">
              <a:alpha val="723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483;p39">
            <a:extLst>
              <a:ext uri="{FF2B5EF4-FFF2-40B4-BE49-F238E27FC236}">
                <a16:creationId xmlns:a16="http://schemas.microsoft.com/office/drawing/2014/main" id="{5AC7AF19-6A72-0A14-57B8-339E16E804CE}"/>
              </a:ext>
            </a:extLst>
          </p:cNvPr>
          <p:cNvSpPr/>
          <p:nvPr/>
        </p:nvSpPr>
        <p:spPr>
          <a:xfrm>
            <a:off x="7746091" y="1206339"/>
            <a:ext cx="709993" cy="713893"/>
          </a:xfrm>
          <a:custGeom>
            <a:avLst/>
            <a:gdLst/>
            <a:ahLst/>
            <a:cxnLst/>
            <a:rect l="l" t="t" r="r" b="b"/>
            <a:pathLst>
              <a:path w="6009" h="6042" extrusionOk="0">
                <a:moveTo>
                  <a:pt x="0" y="1"/>
                </a:moveTo>
                <a:lnTo>
                  <a:pt x="0" y="6041"/>
                </a:lnTo>
                <a:lnTo>
                  <a:pt x="6009" y="6041"/>
                </a:lnTo>
                <a:lnTo>
                  <a:pt x="6009" y="4226"/>
                </a:lnTo>
                <a:cubicBezTo>
                  <a:pt x="6009" y="1879"/>
                  <a:pt x="4130" y="1"/>
                  <a:pt x="1784" y="1"/>
                </a:cubicBezTo>
                <a:close/>
              </a:path>
            </a:pathLst>
          </a:cu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2484;p39">
            <a:extLst>
              <a:ext uri="{FF2B5EF4-FFF2-40B4-BE49-F238E27FC236}">
                <a16:creationId xmlns:a16="http://schemas.microsoft.com/office/drawing/2014/main" id="{E6D3E528-56E0-D5BD-E238-DD96D91F734E}"/>
              </a:ext>
            </a:extLst>
          </p:cNvPr>
          <p:cNvSpPr/>
          <p:nvPr/>
        </p:nvSpPr>
        <p:spPr>
          <a:xfrm>
            <a:off x="7792881" y="1159550"/>
            <a:ext cx="710112" cy="709993"/>
          </a:xfrm>
          <a:custGeom>
            <a:avLst/>
            <a:gdLst/>
            <a:ahLst/>
            <a:cxnLst/>
            <a:rect l="l" t="t" r="r" b="b"/>
            <a:pathLst>
              <a:path w="6010" h="6009" extrusionOk="0">
                <a:moveTo>
                  <a:pt x="0" y="0"/>
                </a:moveTo>
                <a:lnTo>
                  <a:pt x="0" y="6009"/>
                </a:lnTo>
                <a:lnTo>
                  <a:pt x="6009" y="6009"/>
                </a:lnTo>
                <a:lnTo>
                  <a:pt x="6009" y="4225"/>
                </a:lnTo>
                <a:cubicBezTo>
                  <a:pt x="6009" y="1879"/>
                  <a:pt x="4131" y="0"/>
                  <a:pt x="1784" y="0"/>
                </a:cubicBezTo>
                <a:close/>
              </a:path>
            </a:pathLst>
          </a:custGeom>
          <a:solidFill>
            <a:srgbClr val="54AED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2485;p39">
            <a:extLst>
              <a:ext uri="{FF2B5EF4-FFF2-40B4-BE49-F238E27FC236}">
                <a16:creationId xmlns:a16="http://schemas.microsoft.com/office/drawing/2014/main" id="{887E79A5-4C5A-7B5C-2932-193F8DA75B35}"/>
              </a:ext>
            </a:extLst>
          </p:cNvPr>
          <p:cNvSpPr/>
          <p:nvPr/>
        </p:nvSpPr>
        <p:spPr>
          <a:xfrm>
            <a:off x="7129799" y="2595363"/>
            <a:ext cx="1326290" cy="1327353"/>
          </a:xfrm>
          <a:custGeom>
            <a:avLst/>
            <a:gdLst/>
            <a:ahLst/>
            <a:cxnLst/>
            <a:rect l="l" t="t" r="r" b="b"/>
            <a:pathLst>
              <a:path w="11225" h="11234" extrusionOk="0">
                <a:moveTo>
                  <a:pt x="6310" y="1"/>
                </a:moveTo>
                <a:cubicBezTo>
                  <a:pt x="2838" y="1"/>
                  <a:pt x="0" y="2807"/>
                  <a:pt x="0" y="6279"/>
                </a:cubicBezTo>
                <a:lnTo>
                  <a:pt x="0" y="11233"/>
                </a:lnTo>
                <a:lnTo>
                  <a:pt x="7000" y="11233"/>
                </a:lnTo>
                <a:cubicBezTo>
                  <a:pt x="9346" y="11233"/>
                  <a:pt x="11225" y="9315"/>
                  <a:pt x="11225" y="7000"/>
                </a:cubicBezTo>
                <a:lnTo>
                  <a:pt x="11225" y="1"/>
                </a:lnTo>
                <a:close/>
              </a:path>
            </a:pathLst>
          </a:custGeom>
          <a:solidFill>
            <a:srgbClr val="D9D9D9">
              <a:alpha val="723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2486;p39">
            <a:extLst>
              <a:ext uri="{FF2B5EF4-FFF2-40B4-BE49-F238E27FC236}">
                <a16:creationId xmlns:a16="http://schemas.microsoft.com/office/drawing/2014/main" id="{2A587A14-CC27-07AB-63E5-67D0F1E721F6}"/>
              </a:ext>
            </a:extLst>
          </p:cNvPr>
          <p:cNvSpPr/>
          <p:nvPr/>
        </p:nvSpPr>
        <p:spPr>
          <a:xfrm>
            <a:off x="7746091" y="3207876"/>
            <a:ext cx="709993" cy="714838"/>
          </a:xfrm>
          <a:custGeom>
            <a:avLst/>
            <a:gdLst/>
            <a:ahLst/>
            <a:cxnLst/>
            <a:rect l="l" t="t" r="r" b="b"/>
            <a:pathLst>
              <a:path w="6009" h="6050" extrusionOk="0">
                <a:moveTo>
                  <a:pt x="0" y="1"/>
                </a:moveTo>
                <a:lnTo>
                  <a:pt x="0" y="6049"/>
                </a:lnTo>
                <a:lnTo>
                  <a:pt x="1784" y="6049"/>
                </a:lnTo>
                <a:cubicBezTo>
                  <a:pt x="4130" y="6049"/>
                  <a:pt x="6009" y="4131"/>
                  <a:pt x="6009" y="1816"/>
                </a:cubicBezTo>
                <a:lnTo>
                  <a:pt x="6009" y="1"/>
                </a:lnTo>
                <a:close/>
              </a:path>
            </a:pathLst>
          </a:cu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2487;p39">
            <a:extLst>
              <a:ext uri="{FF2B5EF4-FFF2-40B4-BE49-F238E27FC236}">
                <a16:creationId xmlns:a16="http://schemas.microsoft.com/office/drawing/2014/main" id="{E6A48984-C012-5D58-4247-922B40239BB1}"/>
              </a:ext>
            </a:extLst>
          </p:cNvPr>
          <p:cNvSpPr/>
          <p:nvPr/>
        </p:nvSpPr>
        <p:spPr>
          <a:xfrm>
            <a:off x="7792881" y="3258446"/>
            <a:ext cx="710112" cy="711057"/>
          </a:xfrm>
          <a:custGeom>
            <a:avLst/>
            <a:gdLst/>
            <a:ahLst/>
            <a:cxnLst/>
            <a:rect l="l" t="t" r="r" b="b"/>
            <a:pathLst>
              <a:path w="6010" h="6018" extrusionOk="0">
                <a:moveTo>
                  <a:pt x="0" y="1"/>
                </a:moveTo>
                <a:lnTo>
                  <a:pt x="0" y="6018"/>
                </a:lnTo>
                <a:lnTo>
                  <a:pt x="1784" y="6018"/>
                </a:lnTo>
                <a:cubicBezTo>
                  <a:pt x="4131" y="6018"/>
                  <a:pt x="6009" y="4131"/>
                  <a:pt x="6009" y="1785"/>
                </a:cubicBezTo>
                <a:lnTo>
                  <a:pt x="6009" y="1"/>
                </a:lnTo>
                <a:close/>
              </a:path>
            </a:pathLst>
          </a:custGeom>
          <a:solidFill>
            <a:srgbClr val="0C3E6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2488;p39">
            <a:extLst>
              <a:ext uri="{FF2B5EF4-FFF2-40B4-BE49-F238E27FC236}">
                <a16:creationId xmlns:a16="http://schemas.microsoft.com/office/drawing/2014/main" id="{4BE5980D-C865-C61B-D266-6BC29C47E802}"/>
              </a:ext>
            </a:extLst>
          </p:cNvPr>
          <p:cNvSpPr/>
          <p:nvPr/>
        </p:nvSpPr>
        <p:spPr>
          <a:xfrm>
            <a:off x="5736052" y="2595363"/>
            <a:ext cx="1327353" cy="1327353"/>
          </a:xfrm>
          <a:custGeom>
            <a:avLst/>
            <a:gdLst/>
            <a:ahLst/>
            <a:cxnLst/>
            <a:rect l="l" t="t" r="r" b="b"/>
            <a:pathLst>
              <a:path w="11234" h="11234" extrusionOk="0">
                <a:moveTo>
                  <a:pt x="0" y="1"/>
                </a:moveTo>
                <a:lnTo>
                  <a:pt x="0" y="7000"/>
                </a:lnTo>
                <a:cubicBezTo>
                  <a:pt x="0" y="9315"/>
                  <a:pt x="1919" y="11233"/>
                  <a:pt x="4234" y="11233"/>
                </a:cubicBezTo>
                <a:lnTo>
                  <a:pt x="11233" y="11233"/>
                </a:lnTo>
                <a:lnTo>
                  <a:pt x="11233" y="6279"/>
                </a:lnTo>
                <a:cubicBezTo>
                  <a:pt x="11233" y="2807"/>
                  <a:pt x="8427" y="1"/>
                  <a:pt x="4955" y="1"/>
                </a:cubicBezTo>
                <a:close/>
              </a:path>
            </a:pathLst>
          </a:custGeom>
          <a:solidFill>
            <a:srgbClr val="D9D9D9">
              <a:alpha val="723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2489;p39">
            <a:extLst>
              <a:ext uri="{FF2B5EF4-FFF2-40B4-BE49-F238E27FC236}">
                <a16:creationId xmlns:a16="http://schemas.microsoft.com/office/drawing/2014/main" id="{1D84959A-987F-3432-345D-85F91D6AD5A1}"/>
              </a:ext>
            </a:extLst>
          </p:cNvPr>
          <p:cNvSpPr/>
          <p:nvPr/>
        </p:nvSpPr>
        <p:spPr>
          <a:xfrm>
            <a:off x="5736052" y="3211657"/>
            <a:ext cx="711057" cy="711057"/>
          </a:xfrm>
          <a:custGeom>
            <a:avLst/>
            <a:gdLst/>
            <a:ahLst/>
            <a:cxnLst/>
            <a:rect l="l" t="t" r="r" b="b"/>
            <a:pathLst>
              <a:path w="6018" h="6018" extrusionOk="0">
                <a:moveTo>
                  <a:pt x="0" y="1"/>
                </a:moveTo>
                <a:lnTo>
                  <a:pt x="0" y="1752"/>
                </a:lnTo>
                <a:cubicBezTo>
                  <a:pt x="0" y="4099"/>
                  <a:pt x="1919" y="6017"/>
                  <a:pt x="4265" y="6017"/>
                </a:cubicBezTo>
                <a:lnTo>
                  <a:pt x="6017" y="6017"/>
                </a:lnTo>
                <a:lnTo>
                  <a:pt x="6017" y="1"/>
                </a:lnTo>
                <a:close/>
              </a:path>
            </a:pathLst>
          </a:cu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2490;p39">
            <a:extLst>
              <a:ext uri="{FF2B5EF4-FFF2-40B4-BE49-F238E27FC236}">
                <a16:creationId xmlns:a16="http://schemas.microsoft.com/office/drawing/2014/main" id="{628E90F6-5016-23E6-2EF6-22D8F91397D1}"/>
              </a:ext>
            </a:extLst>
          </p:cNvPr>
          <p:cNvSpPr/>
          <p:nvPr/>
        </p:nvSpPr>
        <p:spPr>
          <a:xfrm>
            <a:off x="5689263" y="3258446"/>
            <a:ext cx="710939" cy="711057"/>
          </a:xfrm>
          <a:custGeom>
            <a:avLst/>
            <a:gdLst/>
            <a:ahLst/>
            <a:cxnLst/>
            <a:rect l="l" t="t" r="r" b="b"/>
            <a:pathLst>
              <a:path w="6017" h="6018" extrusionOk="0">
                <a:moveTo>
                  <a:pt x="0" y="1"/>
                </a:moveTo>
                <a:lnTo>
                  <a:pt x="0" y="1785"/>
                </a:lnTo>
                <a:cubicBezTo>
                  <a:pt x="0" y="4131"/>
                  <a:pt x="1887" y="6018"/>
                  <a:pt x="4233" y="6018"/>
                </a:cubicBezTo>
                <a:lnTo>
                  <a:pt x="6017" y="6018"/>
                </a:lnTo>
                <a:lnTo>
                  <a:pt x="6017" y="1"/>
                </a:lnTo>
                <a:close/>
              </a:path>
            </a:pathLst>
          </a:custGeom>
          <a:solidFill>
            <a:srgbClr val="3280A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" name="Google Shape;2491;p39">
            <a:extLst>
              <a:ext uri="{FF2B5EF4-FFF2-40B4-BE49-F238E27FC236}">
                <a16:creationId xmlns:a16="http://schemas.microsoft.com/office/drawing/2014/main" id="{C3A9B5FB-1B9A-C625-7C2C-B6417EB0CFC4}"/>
              </a:ext>
            </a:extLst>
          </p:cNvPr>
          <p:cNvGrpSpPr/>
          <p:nvPr/>
        </p:nvGrpSpPr>
        <p:grpSpPr>
          <a:xfrm>
            <a:off x="5973896" y="1385225"/>
            <a:ext cx="234300" cy="297042"/>
            <a:chOff x="3449771" y="1604300"/>
            <a:chExt cx="234300" cy="297042"/>
          </a:xfrm>
        </p:grpSpPr>
        <p:sp>
          <p:nvSpPr>
            <p:cNvPr id="16" name="Google Shape;2492;p39">
              <a:extLst>
                <a:ext uri="{FF2B5EF4-FFF2-40B4-BE49-F238E27FC236}">
                  <a16:creationId xmlns:a16="http://schemas.microsoft.com/office/drawing/2014/main" id="{9AF4586F-76F9-A109-9576-30366A3CC993}"/>
                </a:ext>
              </a:extLst>
            </p:cNvPr>
            <p:cNvSpPr/>
            <p:nvPr/>
          </p:nvSpPr>
          <p:spPr>
            <a:xfrm>
              <a:off x="3449771" y="1729780"/>
              <a:ext cx="66639" cy="171561"/>
            </a:xfrm>
            <a:custGeom>
              <a:avLst/>
              <a:gdLst/>
              <a:ahLst/>
              <a:cxnLst/>
              <a:rect l="l" t="t" r="r" b="b"/>
              <a:pathLst>
                <a:path w="564" h="1452" extrusionOk="0">
                  <a:moveTo>
                    <a:pt x="500" y="64"/>
                  </a:moveTo>
                  <a:lnTo>
                    <a:pt x="500" y="1388"/>
                  </a:lnTo>
                  <a:lnTo>
                    <a:pt x="104" y="1388"/>
                  </a:lnTo>
                  <a:lnTo>
                    <a:pt x="104" y="64"/>
                  </a:lnTo>
                  <a:close/>
                  <a:moveTo>
                    <a:pt x="1" y="1"/>
                  </a:moveTo>
                  <a:lnTo>
                    <a:pt x="1" y="1452"/>
                  </a:lnTo>
                  <a:lnTo>
                    <a:pt x="564" y="1452"/>
                  </a:lnTo>
                  <a:lnTo>
                    <a:pt x="564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493;p39">
              <a:extLst>
                <a:ext uri="{FF2B5EF4-FFF2-40B4-BE49-F238E27FC236}">
                  <a16:creationId xmlns:a16="http://schemas.microsoft.com/office/drawing/2014/main" id="{5F878172-9879-59EB-DCB7-D9808E7E6254}"/>
                </a:ext>
              </a:extLst>
            </p:cNvPr>
            <p:cNvSpPr/>
            <p:nvPr/>
          </p:nvSpPr>
          <p:spPr>
            <a:xfrm>
              <a:off x="3536024" y="1667040"/>
              <a:ext cx="62858" cy="234301"/>
            </a:xfrm>
            <a:custGeom>
              <a:avLst/>
              <a:gdLst/>
              <a:ahLst/>
              <a:cxnLst/>
              <a:rect l="l" t="t" r="r" b="b"/>
              <a:pathLst>
                <a:path w="532" h="1983" extrusionOk="0">
                  <a:moveTo>
                    <a:pt x="460" y="64"/>
                  </a:moveTo>
                  <a:lnTo>
                    <a:pt x="460" y="1919"/>
                  </a:lnTo>
                  <a:lnTo>
                    <a:pt x="64" y="1919"/>
                  </a:lnTo>
                  <a:lnTo>
                    <a:pt x="64" y="64"/>
                  </a:lnTo>
                  <a:close/>
                  <a:moveTo>
                    <a:pt x="0" y="1"/>
                  </a:moveTo>
                  <a:lnTo>
                    <a:pt x="0" y="1983"/>
                  </a:lnTo>
                  <a:lnTo>
                    <a:pt x="531" y="1983"/>
                  </a:lnTo>
                  <a:lnTo>
                    <a:pt x="531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494;p39">
              <a:extLst>
                <a:ext uri="{FF2B5EF4-FFF2-40B4-BE49-F238E27FC236}">
                  <a16:creationId xmlns:a16="http://schemas.microsoft.com/office/drawing/2014/main" id="{FD497DF9-1106-8A70-058E-F072A2F57E76}"/>
                </a:ext>
              </a:extLst>
            </p:cNvPr>
            <p:cNvSpPr/>
            <p:nvPr/>
          </p:nvSpPr>
          <p:spPr>
            <a:xfrm>
              <a:off x="3618377" y="1604300"/>
              <a:ext cx="65694" cy="297042"/>
            </a:xfrm>
            <a:custGeom>
              <a:avLst/>
              <a:gdLst/>
              <a:ahLst/>
              <a:cxnLst/>
              <a:rect l="l" t="t" r="r" b="b"/>
              <a:pathLst>
                <a:path w="556" h="2514" extrusionOk="0">
                  <a:moveTo>
                    <a:pt x="461" y="72"/>
                  </a:moveTo>
                  <a:lnTo>
                    <a:pt x="461" y="2450"/>
                  </a:lnTo>
                  <a:lnTo>
                    <a:pt x="64" y="2450"/>
                  </a:lnTo>
                  <a:lnTo>
                    <a:pt x="64" y="72"/>
                  </a:lnTo>
                  <a:close/>
                  <a:moveTo>
                    <a:pt x="1" y="1"/>
                  </a:moveTo>
                  <a:lnTo>
                    <a:pt x="1" y="2514"/>
                  </a:lnTo>
                  <a:lnTo>
                    <a:pt x="556" y="2514"/>
                  </a:lnTo>
                  <a:lnTo>
                    <a:pt x="556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2495;p39">
            <a:extLst>
              <a:ext uri="{FF2B5EF4-FFF2-40B4-BE49-F238E27FC236}">
                <a16:creationId xmlns:a16="http://schemas.microsoft.com/office/drawing/2014/main" id="{66758E10-E8E7-F5AD-B85A-0F7206C2EAB1}"/>
              </a:ext>
            </a:extLst>
          </p:cNvPr>
          <p:cNvGrpSpPr/>
          <p:nvPr/>
        </p:nvGrpSpPr>
        <p:grpSpPr>
          <a:xfrm>
            <a:off x="5943058" y="3418664"/>
            <a:ext cx="304484" cy="340049"/>
            <a:chOff x="3418933" y="3637739"/>
            <a:chExt cx="304484" cy="340049"/>
          </a:xfrm>
        </p:grpSpPr>
        <p:sp>
          <p:nvSpPr>
            <p:cNvPr id="20" name="Google Shape;2496;p39">
              <a:extLst>
                <a:ext uri="{FF2B5EF4-FFF2-40B4-BE49-F238E27FC236}">
                  <a16:creationId xmlns:a16="http://schemas.microsoft.com/office/drawing/2014/main" id="{29946F50-CC97-88AE-41FF-53089EB33A2D}"/>
                </a:ext>
              </a:extLst>
            </p:cNvPr>
            <p:cNvSpPr/>
            <p:nvPr/>
          </p:nvSpPr>
          <p:spPr>
            <a:xfrm>
              <a:off x="3458278" y="3673303"/>
              <a:ext cx="225794" cy="230520"/>
            </a:xfrm>
            <a:custGeom>
              <a:avLst/>
              <a:gdLst/>
              <a:ahLst/>
              <a:cxnLst/>
              <a:rect l="l" t="t" r="r" b="b"/>
              <a:pathLst>
                <a:path w="1911" h="1951" extrusionOk="0">
                  <a:moveTo>
                    <a:pt x="959" y="64"/>
                  </a:moveTo>
                  <a:cubicBezTo>
                    <a:pt x="1451" y="64"/>
                    <a:pt x="1847" y="492"/>
                    <a:pt x="1847" y="992"/>
                  </a:cubicBezTo>
                  <a:cubicBezTo>
                    <a:pt x="1847" y="1483"/>
                    <a:pt x="1451" y="1879"/>
                    <a:pt x="959" y="1879"/>
                  </a:cubicBezTo>
                  <a:cubicBezTo>
                    <a:pt x="460" y="1879"/>
                    <a:pt x="64" y="1483"/>
                    <a:pt x="64" y="992"/>
                  </a:cubicBezTo>
                  <a:cubicBezTo>
                    <a:pt x="64" y="492"/>
                    <a:pt x="460" y="64"/>
                    <a:pt x="959" y="64"/>
                  </a:cubicBezTo>
                  <a:close/>
                  <a:moveTo>
                    <a:pt x="959" y="1"/>
                  </a:moveTo>
                  <a:cubicBezTo>
                    <a:pt x="428" y="1"/>
                    <a:pt x="0" y="460"/>
                    <a:pt x="0" y="992"/>
                  </a:cubicBezTo>
                  <a:cubicBezTo>
                    <a:pt x="0" y="1515"/>
                    <a:pt x="428" y="1951"/>
                    <a:pt x="959" y="1951"/>
                  </a:cubicBezTo>
                  <a:cubicBezTo>
                    <a:pt x="1483" y="1951"/>
                    <a:pt x="1911" y="1515"/>
                    <a:pt x="1911" y="992"/>
                  </a:cubicBezTo>
                  <a:cubicBezTo>
                    <a:pt x="1911" y="460"/>
                    <a:pt x="1483" y="1"/>
                    <a:pt x="959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497;p39">
              <a:extLst>
                <a:ext uri="{FF2B5EF4-FFF2-40B4-BE49-F238E27FC236}">
                  <a16:creationId xmlns:a16="http://schemas.microsoft.com/office/drawing/2014/main" id="{95A16B6E-EB98-B912-EE63-DC24C61E7F7D}"/>
                </a:ext>
              </a:extLst>
            </p:cNvPr>
            <p:cNvSpPr/>
            <p:nvPr/>
          </p:nvSpPr>
          <p:spPr>
            <a:xfrm>
              <a:off x="3508848" y="3875584"/>
              <a:ext cx="124654" cy="102204"/>
            </a:xfrm>
            <a:custGeom>
              <a:avLst/>
              <a:gdLst/>
              <a:ahLst/>
              <a:cxnLst/>
              <a:rect l="l" t="t" r="r" b="b"/>
              <a:pathLst>
                <a:path w="1055" h="865" extrusionOk="0">
                  <a:moveTo>
                    <a:pt x="991" y="136"/>
                  </a:moveTo>
                  <a:lnTo>
                    <a:pt x="991" y="334"/>
                  </a:lnTo>
                  <a:cubicBezTo>
                    <a:pt x="991" y="595"/>
                    <a:pt x="793" y="794"/>
                    <a:pt x="531" y="794"/>
                  </a:cubicBezTo>
                  <a:cubicBezTo>
                    <a:pt x="262" y="794"/>
                    <a:pt x="64" y="595"/>
                    <a:pt x="64" y="334"/>
                  </a:cubicBezTo>
                  <a:lnTo>
                    <a:pt x="64" y="136"/>
                  </a:lnTo>
                  <a:cubicBezTo>
                    <a:pt x="214" y="203"/>
                    <a:pt x="371" y="237"/>
                    <a:pt x="528" y="237"/>
                  </a:cubicBezTo>
                  <a:cubicBezTo>
                    <a:pt x="684" y="237"/>
                    <a:pt x="841" y="203"/>
                    <a:pt x="991" y="136"/>
                  </a:cubicBezTo>
                  <a:close/>
                  <a:moveTo>
                    <a:pt x="0" y="1"/>
                  </a:moveTo>
                  <a:lnTo>
                    <a:pt x="0" y="334"/>
                  </a:lnTo>
                  <a:cubicBezTo>
                    <a:pt x="0" y="635"/>
                    <a:pt x="230" y="865"/>
                    <a:pt x="531" y="865"/>
                  </a:cubicBezTo>
                  <a:cubicBezTo>
                    <a:pt x="825" y="865"/>
                    <a:pt x="1055" y="635"/>
                    <a:pt x="1055" y="334"/>
                  </a:cubicBezTo>
                  <a:lnTo>
                    <a:pt x="1055" y="1"/>
                  </a:lnTo>
                  <a:lnTo>
                    <a:pt x="991" y="41"/>
                  </a:lnTo>
                  <a:cubicBezTo>
                    <a:pt x="860" y="120"/>
                    <a:pt x="696" y="159"/>
                    <a:pt x="530" y="159"/>
                  </a:cubicBezTo>
                  <a:cubicBezTo>
                    <a:pt x="365" y="159"/>
                    <a:pt x="199" y="120"/>
                    <a:pt x="64" y="41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498;p39">
              <a:extLst>
                <a:ext uri="{FF2B5EF4-FFF2-40B4-BE49-F238E27FC236}">
                  <a16:creationId xmlns:a16="http://schemas.microsoft.com/office/drawing/2014/main" id="{D4E34CFB-E2A2-D1A9-FEAB-3943124C74FA}"/>
                </a:ext>
              </a:extLst>
            </p:cNvPr>
            <p:cNvSpPr/>
            <p:nvPr/>
          </p:nvSpPr>
          <p:spPr>
            <a:xfrm>
              <a:off x="3520073" y="3798783"/>
              <a:ext cx="59078" cy="100432"/>
            </a:xfrm>
            <a:custGeom>
              <a:avLst/>
              <a:gdLst/>
              <a:ahLst/>
              <a:cxnLst/>
              <a:rect l="l" t="t" r="r" b="b"/>
              <a:pathLst>
                <a:path w="500" h="850" extrusionOk="0">
                  <a:moveTo>
                    <a:pt x="167" y="56"/>
                  </a:moveTo>
                  <a:lnTo>
                    <a:pt x="199" y="96"/>
                  </a:lnTo>
                  <a:cubicBezTo>
                    <a:pt x="238" y="96"/>
                    <a:pt x="270" y="159"/>
                    <a:pt x="270" y="255"/>
                  </a:cubicBezTo>
                  <a:lnTo>
                    <a:pt x="167" y="255"/>
                  </a:lnTo>
                  <a:cubicBezTo>
                    <a:pt x="104" y="255"/>
                    <a:pt x="104" y="223"/>
                    <a:pt x="104" y="223"/>
                  </a:cubicBezTo>
                  <a:cubicBezTo>
                    <a:pt x="72" y="159"/>
                    <a:pt x="135" y="96"/>
                    <a:pt x="167" y="96"/>
                  </a:cubicBezTo>
                  <a:lnTo>
                    <a:pt x="167" y="56"/>
                  </a:lnTo>
                  <a:close/>
                  <a:moveTo>
                    <a:pt x="184" y="1"/>
                  </a:moveTo>
                  <a:cubicBezTo>
                    <a:pt x="167" y="1"/>
                    <a:pt x="151" y="9"/>
                    <a:pt x="135" y="25"/>
                  </a:cubicBezTo>
                  <a:cubicBezTo>
                    <a:pt x="72" y="25"/>
                    <a:pt x="0" y="159"/>
                    <a:pt x="40" y="223"/>
                  </a:cubicBezTo>
                  <a:cubicBezTo>
                    <a:pt x="40" y="255"/>
                    <a:pt x="72" y="326"/>
                    <a:pt x="167" y="326"/>
                  </a:cubicBezTo>
                  <a:lnTo>
                    <a:pt x="270" y="326"/>
                  </a:lnTo>
                  <a:lnTo>
                    <a:pt x="270" y="849"/>
                  </a:lnTo>
                  <a:lnTo>
                    <a:pt x="333" y="849"/>
                  </a:lnTo>
                  <a:lnTo>
                    <a:pt x="333" y="326"/>
                  </a:lnTo>
                  <a:lnTo>
                    <a:pt x="500" y="326"/>
                  </a:lnTo>
                  <a:lnTo>
                    <a:pt x="500" y="255"/>
                  </a:lnTo>
                  <a:lnTo>
                    <a:pt x="333" y="255"/>
                  </a:lnTo>
                  <a:cubicBezTo>
                    <a:pt x="333" y="159"/>
                    <a:pt x="302" y="56"/>
                    <a:pt x="238" y="25"/>
                  </a:cubicBezTo>
                  <a:cubicBezTo>
                    <a:pt x="218" y="9"/>
                    <a:pt x="201" y="1"/>
                    <a:pt x="184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499;p39">
              <a:extLst>
                <a:ext uri="{FF2B5EF4-FFF2-40B4-BE49-F238E27FC236}">
                  <a16:creationId xmlns:a16="http://schemas.microsoft.com/office/drawing/2014/main" id="{31A389C1-38B7-DF36-FBE1-F52CEE781396}"/>
                </a:ext>
              </a:extLst>
            </p:cNvPr>
            <p:cNvSpPr/>
            <p:nvPr/>
          </p:nvSpPr>
          <p:spPr>
            <a:xfrm>
              <a:off x="3563199" y="3798783"/>
              <a:ext cx="59078" cy="100432"/>
            </a:xfrm>
            <a:custGeom>
              <a:avLst/>
              <a:gdLst/>
              <a:ahLst/>
              <a:cxnLst/>
              <a:rect l="l" t="t" r="r" b="b"/>
              <a:pathLst>
                <a:path w="500" h="850" extrusionOk="0">
                  <a:moveTo>
                    <a:pt x="317" y="66"/>
                  </a:moveTo>
                  <a:cubicBezTo>
                    <a:pt x="325" y="66"/>
                    <a:pt x="333" y="76"/>
                    <a:pt x="333" y="96"/>
                  </a:cubicBezTo>
                  <a:cubicBezTo>
                    <a:pt x="365" y="96"/>
                    <a:pt x="428" y="159"/>
                    <a:pt x="396" y="223"/>
                  </a:cubicBezTo>
                  <a:cubicBezTo>
                    <a:pt x="396" y="223"/>
                    <a:pt x="396" y="255"/>
                    <a:pt x="365" y="255"/>
                  </a:cubicBezTo>
                  <a:lnTo>
                    <a:pt x="230" y="255"/>
                  </a:lnTo>
                  <a:cubicBezTo>
                    <a:pt x="230" y="159"/>
                    <a:pt x="270" y="96"/>
                    <a:pt x="301" y="96"/>
                  </a:cubicBezTo>
                  <a:cubicBezTo>
                    <a:pt x="301" y="76"/>
                    <a:pt x="309" y="66"/>
                    <a:pt x="317" y="66"/>
                  </a:cubicBezTo>
                  <a:close/>
                  <a:moveTo>
                    <a:pt x="317" y="1"/>
                  </a:moveTo>
                  <a:cubicBezTo>
                    <a:pt x="301" y="1"/>
                    <a:pt x="286" y="9"/>
                    <a:pt x="270" y="25"/>
                  </a:cubicBezTo>
                  <a:cubicBezTo>
                    <a:pt x="198" y="56"/>
                    <a:pt x="167" y="159"/>
                    <a:pt x="167" y="255"/>
                  </a:cubicBezTo>
                  <a:lnTo>
                    <a:pt x="0" y="255"/>
                  </a:lnTo>
                  <a:lnTo>
                    <a:pt x="0" y="326"/>
                  </a:lnTo>
                  <a:lnTo>
                    <a:pt x="167" y="326"/>
                  </a:lnTo>
                  <a:lnTo>
                    <a:pt x="167" y="849"/>
                  </a:lnTo>
                  <a:lnTo>
                    <a:pt x="230" y="849"/>
                  </a:lnTo>
                  <a:lnTo>
                    <a:pt x="230" y="326"/>
                  </a:lnTo>
                  <a:lnTo>
                    <a:pt x="365" y="326"/>
                  </a:lnTo>
                  <a:cubicBezTo>
                    <a:pt x="468" y="326"/>
                    <a:pt x="468" y="255"/>
                    <a:pt x="468" y="223"/>
                  </a:cubicBezTo>
                  <a:cubicBezTo>
                    <a:pt x="500" y="159"/>
                    <a:pt x="428" y="25"/>
                    <a:pt x="365" y="25"/>
                  </a:cubicBezTo>
                  <a:cubicBezTo>
                    <a:pt x="349" y="9"/>
                    <a:pt x="333" y="1"/>
                    <a:pt x="317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500;p39">
              <a:extLst>
                <a:ext uri="{FF2B5EF4-FFF2-40B4-BE49-F238E27FC236}">
                  <a16:creationId xmlns:a16="http://schemas.microsoft.com/office/drawing/2014/main" id="{CD005519-33BD-3BA2-9788-CDF30E34C213}"/>
                </a:ext>
              </a:extLst>
            </p:cNvPr>
            <p:cNvSpPr/>
            <p:nvPr/>
          </p:nvSpPr>
          <p:spPr>
            <a:xfrm>
              <a:off x="3516292" y="3911266"/>
              <a:ext cx="93815" cy="7562"/>
            </a:xfrm>
            <a:custGeom>
              <a:avLst/>
              <a:gdLst/>
              <a:ahLst/>
              <a:cxnLst/>
              <a:rect l="l" t="t" r="r" b="b"/>
              <a:pathLst>
                <a:path w="794" h="64" extrusionOk="0">
                  <a:moveTo>
                    <a:pt x="1" y="0"/>
                  </a:moveTo>
                  <a:lnTo>
                    <a:pt x="1" y="64"/>
                  </a:lnTo>
                  <a:lnTo>
                    <a:pt x="793" y="64"/>
                  </a:lnTo>
                  <a:lnTo>
                    <a:pt x="79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01;p39">
              <a:extLst>
                <a:ext uri="{FF2B5EF4-FFF2-40B4-BE49-F238E27FC236}">
                  <a16:creationId xmlns:a16="http://schemas.microsoft.com/office/drawing/2014/main" id="{611BE1DF-012D-21AF-44E4-642F26B051FA}"/>
                </a:ext>
              </a:extLst>
            </p:cNvPr>
            <p:cNvSpPr/>
            <p:nvPr/>
          </p:nvSpPr>
          <p:spPr>
            <a:xfrm>
              <a:off x="3516292" y="3934661"/>
              <a:ext cx="78809" cy="7562"/>
            </a:xfrm>
            <a:custGeom>
              <a:avLst/>
              <a:gdLst/>
              <a:ahLst/>
              <a:cxnLst/>
              <a:rect l="l" t="t" r="r" b="b"/>
              <a:pathLst>
                <a:path w="667" h="64" extrusionOk="0">
                  <a:moveTo>
                    <a:pt x="1" y="0"/>
                  </a:moveTo>
                  <a:lnTo>
                    <a:pt x="1" y="64"/>
                  </a:lnTo>
                  <a:lnTo>
                    <a:pt x="667" y="64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502;p39">
              <a:extLst>
                <a:ext uri="{FF2B5EF4-FFF2-40B4-BE49-F238E27FC236}">
                  <a16:creationId xmlns:a16="http://schemas.microsoft.com/office/drawing/2014/main" id="{4019929B-83CD-5FA3-CB76-44B2CD398A5D}"/>
                </a:ext>
              </a:extLst>
            </p:cNvPr>
            <p:cNvSpPr/>
            <p:nvPr/>
          </p:nvSpPr>
          <p:spPr>
            <a:xfrm>
              <a:off x="3571588" y="3700479"/>
              <a:ext cx="85308" cy="90034"/>
            </a:xfrm>
            <a:custGeom>
              <a:avLst/>
              <a:gdLst/>
              <a:ahLst/>
              <a:cxnLst/>
              <a:rect l="l" t="t" r="r" b="b"/>
              <a:pathLst>
                <a:path w="722" h="762" extrusionOk="0">
                  <a:moveTo>
                    <a:pt x="0" y="1"/>
                  </a:moveTo>
                  <a:lnTo>
                    <a:pt x="0" y="96"/>
                  </a:lnTo>
                  <a:cubicBezTo>
                    <a:pt x="357" y="96"/>
                    <a:pt x="658" y="397"/>
                    <a:pt x="658" y="762"/>
                  </a:cubicBezTo>
                  <a:lnTo>
                    <a:pt x="722" y="762"/>
                  </a:lnTo>
                  <a:cubicBezTo>
                    <a:pt x="722" y="334"/>
                    <a:pt x="397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503;p39">
              <a:extLst>
                <a:ext uri="{FF2B5EF4-FFF2-40B4-BE49-F238E27FC236}">
                  <a16:creationId xmlns:a16="http://schemas.microsoft.com/office/drawing/2014/main" id="{90100E38-406F-71FD-18F1-4F87F740D4AB}"/>
                </a:ext>
              </a:extLst>
            </p:cNvPr>
            <p:cNvSpPr/>
            <p:nvPr/>
          </p:nvSpPr>
          <p:spPr>
            <a:xfrm>
              <a:off x="3418933" y="3786613"/>
              <a:ext cx="27294" cy="7680"/>
            </a:xfrm>
            <a:custGeom>
              <a:avLst/>
              <a:gdLst/>
              <a:ahLst/>
              <a:cxnLst/>
              <a:rect l="l" t="t" r="r" b="b"/>
              <a:pathLst>
                <a:path w="231" h="65" extrusionOk="0">
                  <a:moveTo>
                    <a:pt x="0" y="1"/>
                  </a:moveTo>
                  <a:lnTo>
                    <a:pt x="0" y="64"/>
                  </a:lnTo>
                  <a:lnTo>
                    <a:pt x="230" y="64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504;p39">
              <a:extLst>
                <a:ext uri="{FF2B5EF4-FFF2-40B4-BE49-F238E27FC236}">
                  <a16:creationId xmlns:a16="http://schemas.microsoft.com/office/drawing/2014/main" id="{E9805AB6-AD88-50B2-F675-070BAFE15E71}"/>
                </a:ext>
              </a:extLst>
            </p:cNvPr>
            <p:cNvSpPr/>
            <p:nvPr/>
          </p:nvSpPr>
          <p:spPr>
            <a:xfrm>
              <a:off x="3696123" y="3786613"/>
              <a:ext cx="27294" cy="7680"/>
            </a:xfrm>
            <a:custGeom>
              <a:avLst/>
              <a:gdLst/>
              <a:ahLst/>
              <a:cxnLst/>
              <a:rect l="l" t="t" r="r" b="b"/>
              <a:pathLst>
                <a:path w="231" h="65" extrusionOk="0">
                  <a:moveTo>
                    <a:pt x="1" y="1"/>
                  </a:moveTo>
                  <a:lnTo>
                    <a:pt x="1" y="64"/>
                  </a:lnTo>
                  <a:lnTo>
                    <a:pt x="231" y="64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505;p39">
              <a:extLst>
                <a:ext uri="{FF2B5EF4-FFF2-40B4-BE49-F238E27FC236}">
                  <a16:creationId xmlns:a16="http://schemas.microsoft.com/office/drawing/2014/main" id="{587FC7B3-4D4C-E1EB-4E05-BD7B04E430C9}"/>
                </a:ext>
              </a:extLst>
            </p:cNvPr>
            <p:cNvSpPr/>
            <p:nvPr/>
          </p:nvSpPr>
          <p:spPr>
            <a:xfrm>
              <a:off x="3438546" y="3848526"/>
              <a:ext cx="27294" cy="19732"/>
            </a:xfrm>
            <a:custGeom>
              <a:avLst/>
              <a:gdLst/>
              <a:ahLst/>
              <a:cxnLst/>
              <a:rect l="l" t="t" r="r" b="b"/>
              <a:pathLst>
                <a:path w="231" h="167" extrusionOk="0">
                  <a:moveTo>
                    <a:pt x="199" y="0"/>
                  </a:moveTo>
                  <a:lnTo>
                    <a:pt x="1" y="103"/>
                  </a:lnTo>
                  <a:lnTo>
                    <a:pt x="33" y="167"/>
                  </a:lnTo>
                  <a:lnTo>
                    <a:pt x="231" y="71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506;p39">
              <a:extLst>
                <a:ext uri="{FF2B5EF4-FFF2-40B4-BE49-F238E27FC236}">
                  <a16:creationId xmlns:a16="http://schemas.microsoft.com/office/drawing/2014/main" id="{77EE0B0A-0F57-5C76-8AE5-190170DA5105}"/>
                </a:ext>
              </a:extLst>
            </p:cNvPr>
            <p:cNvSpPr/>
            <p:nvPr/>
          </p:nvSpPr>
          <p:spPr>
            <a:xfrm>
              <a:off x="3676509" y="3711703"/>
              <a:ext cx="27294" cy="19850"/>
            </a:xfrm>
            <a:custGeom>
              <a:avLst/>
              <a:gdLst/>
              <a:ahLst/>
              <a:cxnLst/>
              <a:rect l="l" t="t" r="r" b="b"/>
              <a:pathLst>
                <a:path w="231" h="168" extrusionOk="0">
                  <a:moveTo>
                    <a:pt x="198" y="1"/>
                  </a:moveTo>
                  <a:lnTo>
                    <a:pt x="0" y="104"/>
                  </a:lnTo>
                  <a:lnTo>
                    <a:pt x="32" y="167"/>
                  </a:lnTo>
                  <a:lnTo>
                    <a:pt x="230" y="4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507;p39">
              <a:extLst>
                <a:ext uri="{FF2B5EF4-FFF2-40B4-BE49-F238E27FC236}">
                  <a16:creationId xmlns:a16="http://schemas.microsoft.com/office/drawing/2014/main" id="{61CEF39F-311B-8E48-B10A-29989E89DA19}"/>
                </a:ext>
              </a:extLst>
            </p:cNvPr>
            <p:cNvSpPr/>
            <p:nvPr/>
          </p:nvSpPr>
          <p:spPr>
            <a:xfrm>
              <a:off x="3629602" y="3657352"/>
              <a:ext cx="19850" cy="23631"/>
            </a:xfrm>
            <a:custGeom>
              <a:avLst/>
              <a:gdLst/>
              <a:ahLst/>
              <a:cxnLst/>
              <a:rect l="l" t="t" r="r" b="b"/>
              <a:pathLst>
                <a:path w="168" h="200" extrusionOk="0">
                  <a:moveTo>
                    <a:pt x="104" y="1"/>
                  </a:moveTo>
                  <a:lnTo>
                    <a:pt x="1" y="167"/>
                  </a:lnTo>
                  <a:lnTo>
                    <a:pt x="64" y="199"/>
                  </a:lnTo>
                  <a:lnTo>
                    <a:pt x="167" y="33"/>
                  </a:lnTo>
                  <a:lnTo>
                    <a:pt x="10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2508;p39">
              <a:extLst>
                <a:ext uri="{FF2B5EF4-FFF2-40B4-BE49-F238E27FC236}">
                  <a16:creationId xmlns:a16="http://schemas.microsoft.com/office/drawing/2014/main" id="{F271F495-2005-AF5A-FBC0-ABCC822830A1}"/>
                </a:ext>
              </a:extLst>
            </p:cNvPr>
            <p:cNvSpPr/>
            <p:nvPr/>
          </p:nvSpPr>
          <p:spPr>
            <a:xfrm>
              <a:off x="3566862" y="3637739"/>
              <a:ext cx="8625" cy="27294"/>
            </a:xfrm>
            <a:custGeom>
              <a:avLst/>
              <a:gdLst/>
              <a:ahLst/>
              <a:cxnLst/>
              <a:rect l="l" t="t" r="r" b="b"/>
              <a:pathLst>
                <a:path w="73" h="231" extrusionOk="0">
                  <a:moveTo>
                    <a:pt x="1" y="0"/>
                  </a:moveTo>
                  <a:lnTo>
                    <a:pt x="1" y="230"/>
                  </a:lnTo>
                  <a:lnTo>
                    <a:pt x="72" y="23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2509;p39">
              <a:extLst>
                <a:ext uri="{FF2B5EF4-FFF2-40B4-BE49-F238E27FC236}">
                  <a16:creationId xmlns:a16="http://schemas.microsoft.com/office/drawing/2014/main" id="{C001E9EE-DFC7-181C-6A80-CA45DDB68ED7}"/>
                </a:ext>
              </a:extLst>
            </p:cNvPr>
            <p:cNvSpPr/>
            <p:nvPr/>
          </p:nvSpPr>
          <p:spPr>
            <a:xfrm>
              <a:off x="3492897" y="3657352"/>
              <a:ext cx="19850" cy="23631"/>
            </a:xfrm>
            <a:custGeom>
              <a:avLst/>
              <a:gdLst/>
              <a:ahLst/>
              <a:cxnLst/>
              <a:rect l="l" t="t" r="r" b="b"/>
              <a:pathLst>
                <a:path w="168" h="200" extrusionOk="0">
                  <a:moveTo>
                    <a:pt x="72" y="1"/>
                  </a:moveTo>
                  <a:lnTo>
                    <a:pt x="1" y="33"/>
                  </a:lnTo>
                  <a:lnTo>
                    <a:pt x="104" y="199"/>
                  </a:lnTo>
                  <a:lnTo>
                    <a:pt x="167" y="167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2510;p39">
              <a:extLst>
                <a:ext uri="{FF2B5EF4-FFF2-40B4-BE49-F238E27FC236}">
                  <a16:creationId xmlns:a16="http://schemas.microsoft.com/office/drawing/2014/main" id="{6083ADC9-A1C6-8BDB-E4A4-F12F85C10689}"/>
                </a:ext>
              </a:extLst>
            </p:cNvPr>
            <p:cNvSpPr/>
            <p:nvPr/>
          </p:nvSpPr>
          <p:spPr>
            <a:xfrm>
              <a:off x="3676509" y="3848526"/>
              <a:ext cx="27294" cy="19732"/>
            </a:xfrm>
            <a:custGeom>
              <a:avLst/>
              <a:gdLst/>
              <a:ahLst/>
              <a:cxnLst/>
              <a:rect l="l" t="t" r="r" b="b"/>
              <a:pathLst>
                <a:path w="231" h="167" extrusionOk="0">
                  <a:moveTo>
                    <a:pt x="32" y="0"/>
                  </a:moveTo>
                  <a:lnTo>
                    <a:pt x="0" y="71"/>
                  </a:lnTo>
                  <a:lnTo>
                    <a:pt x="198" y="167"/>
                  </a:lnTo>
                  <a:lnTo>
                    <a:pt x="230" y="103"/>
                  </a:lnTo>
                  <a:lnTo>
                    <a:pt x="32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2511;p39">
              <a:extLst>
                <a:ext uri="{FF2B5EF4-FFF2-40B4-BE49-F238E27FC236}">
                  <a16:creationId xmlns:a16="http://schemas.microsoft.com/office/drawing/2014/main" id="{58F21C38-AB1B-A7B5-D2E9-E2BFA0BD60A6}"/>
                </a:ext>
              </a:extLst>
            </p:cNvPr>
            <p:cNvSpPr/>
            <p:nvPr/>
          </p:nvSpPr>
          <p:spPr>
            <a:xfrm>
              <a:off x="3438546" y="3711703"/>
              <a:ext cx="27294" cy="19850"/>
            </a:xfrm>
            <a:custGeom>
              <a:avLst/>
              <a:gdLst/>
              <a:ahLst/>
              <a:cxnLst/>
              <a:rect l="l" t="t" r="r" b="b"/>
              <a:pathLst>
                <a:path w="231" h="168" extrusionOk="0">
                  <a:moveTo>
                    <a:pt x="33" y="1"/>
                  </a:moveTo>
                  <a:lnTo>
                    <a:pt x="1" y="40"/>
                  </a:lnTo>
                  <a:lnTo>
                    <a:pt x="199" y="167"/>
                  </a:lnTo>
                  <a:lnTo>
                    <a:pt x="231" y="104"/>
                  </a:lnTo>
                  <a:lnTo>
                    <a:pt x="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" name="Google Shape;2512;p39">
            <a:extLst>
              <a:ext uri="{FF2B5EF4-FFF2-40B4-BE49-F238E27FC236}">
                <a16:creationId xmlns:a16="http://schemas.microsoft.com/office/drawing/2014/main" id="{55249152-FDD3-C61B-EC55-A8D599478471}"/>
              </a:ext>
            </a:extLst>
          </p:cNvPr>
          <p:cNvGrpSpPr/>
          <p:nvPr/>
        </p:nvGrpSpPr>
        <p:grpSpPr>
          <a:xfrm>
            <a:off x="7902410" y="1397395"/>
            <a:ext cx="398182" cy="312047"/>
            <a:chOff x="5378285" y="1616470"/>
            <a:chExt cx="398182" cy="312047"/>
          </a:xfrm>
        </p:grpSpPr>
        <p:sp>
          <p:nvSpPr>
            <p:cNvPr id="37" name="Google Shape;2513;p39">
              <a:extLst>
                <a:ext uri="{FF2B5EF4-FFF2-40B4-BE49-F238E27FC236}">
                  <a16:creationId xmlns:a16="http://schemas.microsoft.com/office/drawing/2014/main" id="{D044E9AB-E760-36B8-321D-5DA9EA973D3B}"/>
                </a:ext>
              </a:extLst>
            </p:cNvPr>
            <p:cNvSpPr/>
            <p:nvPr/>
          </p:nvSpPr>
          <p:spPr>
            <a:xfrm>
              <a:off x="5463592" y="1616470"/>
              <a:ext cx="312874" cy="312047"/>
            </a:xfrm>
            <a:custGeom>
              <a:avLst/>
              <a:gdLst/>
              <a:ahLst/>
              <a:cxnLst/>
              <a:rect l="l" t="t" r="r" b="b"/>
              <a:pathLst>
                <a:path w="2648" h="2641" extrusionOk="0">
                  <a:moveTo>
                    <a:pt x="1324" y="64"/>
                  </a:moveTo>
                  <a:cubicBezTo>
                    <a:pt x="2022" y="64"/>
                    <a:pt x="2577" y="627"/>
                    <a:pt x="2577" y="1325"/>
                  </a:cubicBezTo>
                  <a:cubicBezTo>
                    <a:pt x="2577" y="2014"/>
                    <a:pt x="2022" y="2577"/>
                    <a:pt x="1324" y="2577"/>
                  </a:cubicBezTo>
                  <a:cubicBezTo>
                    <a:pt x="634" y="2577"/>
                    <a:pt x="72" y="2014"/>
                    <a:pt x="72" y="1325"/>
                  </a:cubicBezTo>
                  <a:cubicBezTo>
                    <a:pt x="72" y="627"/>
                    <a:pt x="634" y="64"/>
                    <a:pt x="1324" y="64"/>
                  </a:cubicBezTo>
                  <a:close/>
                  <a:moveTo>
                    <a:pt x="1324" y="1"/>
                  </a:moveTo>
                  <a:cubicBezTo>
                    <a:pt x="595" y="1"/>
                    <a:pt x="0" y="595"/>
                    <a:pt x="0" y="1325"/>
                  </a:cubicBezTo>
                  <a:cubicBezTo>
                    <a:pt x="0" y="2046"/>
                    <a:pt x="595" y="2640"/>
                    <a:pt x="1324" y="2640"/>
                  </a:cubicBezTo>
                  <a:cubicBezTo>
                    <a:pt x="2053" y="2640"/>
                    <a:pt x="2648" y="2046"/>
                    <a:pt x="2648" y="1325"/>
                  </a:cubicBezTo>
                  <a:cubicBezTo>
                    <a:pt x="2648" y="595"/>
                    <a:pt x="2053" y="1"/>
                    <a:pt x="1324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2514;p39">
              <a:extLst>
                <a:ext uri="{FF2B5EF4-FFF2-40B4-BE49-F238E27FC236}">
                  <a16:creationId xmlns:a16="http://schemas.microsoft.com/office/drawing/2014/main" id="{B291DAF6-1CC9-66B0-D893-B905489B5EC3}"/>
                </a:ext>
              </a:extLst>
            </p:cNvPr>
            <p:cNvSpPr/>
            <p:nvPr/>
          </p:nvSpPr>
          <p:spPr>
            <a:xfrm>
              <a:off x="5499156" y="1655815"/>
              <a:ext cx="238082" cy="234301"/>
            </a:xfrm>
            <a:custGeom>
              <a:avLst/>
              <a:gdLst/>
              <a:ahLst/>
              <a:cxnLst/>
              <a:rect l="l" t="t" r="r" b="b"/>
              <a:pathLst>
                <a:path w="2015" h="1983" extrusionOk="0">
                  <a:moveTo>
                    <a:pt x="1023" y="64"/>
                  </a:moveTo>
                  <a:cubicBezTo>
                    <a:pt x="1523" y="64"/>
                    <a:pt x="1951" y="460"/>
                    <a:pt x="1951" y="992"/>
                  </a:cubicBezTo>
                  <a:cubicBezTo>
                    <a:pt x="1951" y="1515"/>
                    <a:pt x="1523" y="1911"/>
                    <a:pt x="1023" y="1911"/>
                  </a:cubicBezTo>
                  <a:cubicBezTo>
                    <a:pt x="492" y="1911"/>
                    <a:pt x="64" y="1515"/>
                    <a:pt x="64" y="992"/>
                  </a:cubicBezTo>
                  <a:cubicBezTo>
                    <a:pt x="64" y="460"/>
                    <a:pt x="492" y="64"/>
                    <a:pt x="1023" y="64"/>
                  </a:cubicBezTo>
                  <a:close/>
                  <a:moveTo>
                    <a:pt x="1023" y="1"/>
                  </a:moveTo>
                  <a:cubicBezTo>
                    <a:pt x="460" y="1"/>
                    <a:pt x="1" y="429"/>
                    <a:pt x="1" y="992"/>
                  </a:cubicBezTo>
                  <a:cubicBezTo>
                    <a:pt x="1" y="1546"/>
                    <a:pt x="460" y="1982"/>
                    <a:pt x="1023" y="1982"/>
                  </a:cubicBezTo>
                  <a:cubicBezTo>
                    <a:pt x="1586" y="1982"/>
                    <a:pt x="2014" y="1546"/>
                    <a:pt x="2014" y="992"/>
                  </a:cubicBezTo>
                  <a:cubicBezTo>
                    <a:pt x="2014" y="429"/>
                    <a:pt x="1586" y="1"/>
                    <a:pt x="1023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2515;p39">
              <a:extLst>
                <a:ext uri="{FF2B5EF4-FFF2-40B4-BE49-F238E27FC236}">
                  <a16:creationId xmlns:a16="http://schemas.microsoft.com/office/drawing/2014/main" id="{B8E4DB4D-C936-2E28-3E5E-585DD753CBA1}"/>
                </a:ext>
              </a:extLst>
            </p:cNvPr>
            <p:cNvSpPr/>
            <p:nvPr/>
          </p:nvSpPr>
          <p:spPr>
            <a:xfrm>
              <a:off x="5538502" y="1690435"/>
              <a:ext cx="159391" cy="160336"/>
            </a:xfrm>
            <a:custGeom>
              <a:avLst/>
              <a:gdLst/>
              <a:ahLst/>
              <a:cxnLst/>
              <a:rect l="l" t="t" r="r" b="b"/>
              <a:pathLst>
                <a:path w="1349" h="1357" extrusionOk="0">
                  <a:moveTo>
                    <a:pt x="690" y="104"/>
                  </a:moveTo>
                  <a:cubicBezTo>
                    <a:pt x="1023" y="104"/>
                    <a:pt x="1285" y="366"/>
                    <a:pt x="1285" y="699"/>
                  </a:cubicBezTo>
                  <a:cubicBezTo>
                    <a:pt x="1285" y="1024"/>
                    <a:pt x="1023" y="1293"/>
                    <a:pt x="690" y="1293"/>
                  </a:cubicBezTo>
                  <a:cubicBezTo>
                    <a:pt x="357" y="1293"/>
                    <a:pt x="64" y="1024"/>
                    <a:pt x="64" y="699"/>
                  </a:cubicBezTo>
                  <a:cubicBezTo>
                    <a:pt x="64" y="366"/>
                    <a:pt x="357" y="104"/>
                    <a:pt x="690" y="104"/>
                  </a:cubicBezTo>
                  <a:close/>
                  <a:moveTo>
                    <a:pt x="690" y="1"/>
                  </a:moveTo>
                  <a:cubicBezTo>
                    <a:pt x="294" y="1"/>
                    <a:pt x="0" y="334"/>
                    <a:pt x="0" y="699"/>
                  </a:cubicBezTo>
                  <a:cubicBezTo>
                    <a:pt x="0" y="1055"/>
                    <a:pt x="294" y="1356"/>
                    <a:pt x="690" y="1356"/>
                  </a:cubicBezTo>
                  <a:cubicBezTo>
                    <a:pt x="1055" y="1356"/>
                    <a:pt x="1348" y="1055"/>
                    <a:pt x="1348" y="699"/>
                  </a:cubicBezTo>
                  <a:cubicBezTo>
                    <a:pt x="1348" y="334"/>
                    <a:pt x="1055" y="1"/>
                    <a:pt x="690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2516;p39">
              <a:extLst>
                <a:ext uri="{FF2B5EF4-FFF2-40B4-BE49-F238E27FC236}">
                  <a16:creationId xmlns:a16="http://schemas.microsoft.com/office/drawing/2014/main" id="{D5774963-1CCF-A7BC-DC99-ECB0B3460D2B}"/>
                </a:ext>
              </a:extLst>
            </p:cNvPr>
            <p:cNvSpPr/>
            <p:nvPr/>
          </p:nvSpPr>
          <p:spPr>
            <a:xfrm>
              <a:off x="5576902" y="1729780"/>
              <a:ext cx="82590" cy="85426"/>
            </a:xfrm>
            <a:custGeom>
              <a:avLst/>
              <a:gdLst/>
              <a:ahLst/>
              <a:cxnLst/>
              <a:rect l="l" t="t" r="r" b="b"/>
              <a:pathLst>
                <a:path w="699" h="723" extrusionOk="0">
                  <a:moveTo>
                    <a:pt x="365" y="64"/>
                  </a:moveTo>
                  <a:cubicBezTo>
                    <a:pt x="500" y="64"/>
                    <a:pt x="627" y="199"/>
                    <a:pt x="627" y="366"/>
                  </a:cubicBezTo>
                  <a:cubicBezTo>
                    <a:pt x="627" y="524"/>
                    <a:pt x="500" y="659"/>
                    <a:pt x="365" y="659"/>
                  </a:cubicBezTo>
                  <a:cubicBezTo>
                    <a:pt x="199" y="659"/>
                    <a:pt x="72" y="524"/>
                    <a:pt x="72" y="366"/>
                  </a:cubicBezTo>
                  <a:cubicBezTo>
                    <a:pt x="72" y="199"/>
                    <a:pt x="199" y="64"/>
                    <a:pt x="365" y="64"/>
                  </a:cubicBezTo>
                  <a:close/>
                  <a:moveTo>
                    <a:pt x="365" y="1"/>
                  </a:moveTo>
                  <a:cubicBezTo>
                    <a:pt x="167" y="1"/>
                    <a:pt x="0" y="167"/>
                    <a:pt x="0" y="366"/>
                  </a:cubicBezTo>
                  <a:cubicBezTo>
                    <a:pt x="0" y="564"/>
                    <a:pt x="167" y="722"/>
                    <a:pt x="365" y="722"/>
                  </a:cubicBezTo>
                  <a:cubicBezTo>
                    <a:pt x="563" y="722"/>
                    <a:pt x="698" y="564"/>
                    <a:pt x="698" y="366"/>
                  </a:cubicBezTo>
                  <a:cubicBezTo>
                    <a:pt x="698" y="167"/>
                    <a:pt x="563" y="1"/>
                    <a:pt x="365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2517;p39">
              <a:extLst>
                <a:ext uri="{FF2B5EF4-FFF2-40B4-BE49-F238E27FC236}">
                  <a16:creationId xmlns:a16="http://schemas.microsoft.com/office/drawing/2014/main" id="{4B78825C-CA1B-4272-01FD-423FA392DBE5}"/>
                </a:ext>
              </a:extLst>
            </p:cNvPr>
            <p:cNvSpPr/>
            <p:nvPr/>
          </p:nvSpPr>
          <p:spPr>
            <a:xfrm>
              <a:off x="5416685" y="1764518"/>
              <a:ext cx="203463" cy="15951"/>
            </a:xfrm>
            <a:custGeom>
              <a:avLst/>
              <a:gdLst/>
              <a:ahLst/>
              <a:cxnLst/>
              <a:rect l="l" t="t" r="r" b="b"/>
              <a:pathLst>
                <a:path w="1722" h="135" extrusionOk="0">
                  <a:moveTo>
                    <a:pt x="1" y="0"/>
                  </a:moveTo>
                  <a:lnTo>
                    <a:pt x="1" y="135"/>
                  </a:lnTo>
                  <a:lnTo>
                    <a:pt x="1721" y="135"/>
                  </a:lnTo>
                  <a:lnTo>
                    <a:pt x="1721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2518;p39">
              <a:extLst>
                <a:ext uri="{FF2B5EF4-FFF2-40B4-BE49-F238E27FC236}">
                  <a16:creationId xmlns:a16="http://schemas.microsoft.com/office/drawing/2014/main" id="{B830E9CD-4C8C-3544-330F-7CB9738C3D27}"/>
                </a:ext>
              </a:extLst>
            </p:cNvPr>
            <p:cNvSpPr/>
            <p:nvPr/>
          </p:nvSpPr>
          <p:spPr>
            <a:xfrm>
              <a:off x="5378285" y="1749512"/>
              <a:ext cx="81645" cy="27294"/>
            </a:xfrm>
            <a:custGeom>
              <a:avLst/>
              <a:gdLst/>
              <a:ahLst/>
              <a:cxnLst/>
              <a:rect l="l" t="t" r="r" b="b"/>
              <a:pathLst>
                <a:path w="691" h="231" extrusionOk="0">
                  <a:moveTo>
                    <a:pt x="1" y="0"/>
                  </a:moveTo>
                  <a:lnTo>
                    <a:pt x="294" y="230"/>
                  </a:lnTo>
                  <a:lnTo>
                    <a:pt x="691" y="199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2519;p39">
              <a:extLst>
                <a:ext uri="{FF2B5EF4-FFF2-40B4-BE49-F238E27FC236}">
                  <a16:creationId xmlns:a16="http://schemas.microsoft.com/office/drawing/2014/main" id="{39F0093B-8D8B-A78B-A56C-D744C6054A14}"/>
                </a:ext>
              </a:extLst>
            </p:cNvPr>
            <p:cNvSpPr/>
            <p:nvPr/>
          </p:nvSpPr>
          <p:spPr>
            <a:xfrm>
              <a:off x="5378285" y="1768180"/>
              <a:ext cx="81645" cy="28239"/>
            </a:xfrm>
            <a:custGeom>
              <a:avLst/>
              <a:gdLst/>
              <a:ahLst/>
              <a:cxnLst/>
              <a:rect l="l" t="t" r="r" b="b"/>
              <a:pathLst>
                <a:path w="691" h="239" extrusionOk="0">
                  <a:moveTo>
                    <a:pt x="294" y="1"/>
                  </a:moveTo>
                  <a:lnTo>
                    <a:pt x="1" y="239"/>
                  </a:lnTo>
                  <a:lnTo>
                    <a:pt x="524" y="239"/>
                  </a:lnTo>
                  <a:lnTo>
                    <a:pt x="691" y="41"/>
                  </a:lnTo>
                  <a:lnTo>
                    <a:pt x="294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" name="Google Shape;2520;p39">
            <a:extLst>
              <a:ext uri="{FF2B5EF4-FFF2-40B4-BE49-F238E27FC236}">
                <a16:creationId xmlns:a16="http://schemas.microsoft.com/office/drawing/2014/main" id="{6A4E63D5-D46D-AE01-91BE-6A28D9E5C454}"/>
              </a:ext>
            </a:extLst>
          </p:cNvPr>
          <p:cNvSpPr/>
          <p:nvPr/>
        </p:nvSpPr>
        <p:spPr>
          <a:xfrm>
            <a:off x="7992325" y="3438277"/>
            <a:ext cx="299877" cy="300823"/>
          </a:xfrm>
          <a:custGeom>
            <a:avLst/>
            <a:gdLst/>
            <a:ahLst/>
            <a:cxnLst/>
            <a:rect l="l" t="t" r="r" b="b"/>
            <a:pathLst>
              <a:path w="2538" h="2546" extrusionOk="0">
                <a:moveTo>
                  <a:pt x="1285" y="825"/>
                </a:moveTo>
                <a:cubicBezTo>
                  <a:pt x="1515" y="825"/>
                  <a:pt x="1713" y="1024"/>
                  <a:pt x="1713" y="1293"/>
                </a:cubicBezTo>
                <a:cubicBezTo>
                  <a:pt x="1713" y="1523"/>
                  <a:pt x="1515" y="1721"/>
                  <a:pt x="1285" y="1721"/>
                </a:cubicBezTo>
                <a:cubicBezTo>
                  <a:pt x="1024" y="1721"/>
                  <a:pt x="825" y="1523"/>
                  <a:pt x="825" y="1293"/>
                </a:cubicBezTo>
                <a:cubicBezTo>
                  <a:pt x="825" y="1024"/>
                  <a:pt x="1024" y="825"/>
                  <a:pt x="1285" y="825"/>
                </a:cubicBezTo>
                <a:close/>
                <a:moveTo>
                  <a:pt x="1285" y="762"/>
                </a:moveTo>
                <a:cubicBezTo>
                  <a:pt x="992" y="762"/>
                  <a:pt x="754" y="992"/>
                  <a:pt x="754" y="1293"/>
                </a:cubicBezTo>
                <a:cubicBezTo>
                  <a:pt x="754" y="1555"/>
                  <a:pt x="992" y="1785"/>
                  <a:pt x="1285" y="1785"/>
                </a:cubicBezTo>
                <a:cubicBezTo>
                  <a:pt x="1547" y="1785"/>
                  <a:pt x="1785" y="1555"/>
                  <a:pt x="1785" y="1293"/>
                </a:cubicBezTo>
                <a:cubicBezTo>
                  <a:pt x="1785" y="992"/>
                  <a:pt x="1547" y="762"/>
                  <a:pt x="1285" y="762"/>
                </a:cubicBezTo>
                <a:close/>
                <a:moveTo>
                  <a:pt x="1483" y="64"/>
                </a:moveTo>
                <a:lnTo>
                  <a:pt x="1483" y="397"/>
                </a:lnTo>
                <a:lnTo>
                  <a:pt x="1515" y="397"/>
                </a:lnTo>
                <a:cubicBezTo>
                  <a:pt x="1586" y="429"/>
                  <a:pt x="1650" y="461"/>
                  <a:pt x="1713" y="500"/>
                </a:cubicBezTo>
                <a:lnTo>
                  <a:pt x="1745" y="500"/>
                </a:lnTo>
                <a:lnTo>
                  <a:pt x="1983" y="263"/>
                </a:lnTo>
                <a:lnTo>
                  <a:pt x="2276" y="564"/>
                </a:lnTo>
                <a:lnTo>
                  <a:pt x="2046" y="794"/>
                </a:lnTo>
                <a:lnTo>
                  <a:pt x="2078" y="825"/>
                </a:lnTo>
                <a:cubicBezTo>
                  <a:pt x="2110" y="897"/>
                  <a:pt x="2141" y="960"/>
                  <a:pt x="2141" y="1024"/>
                </a:cubicBezTo>
                <a:lnTo>
                  <a:pt x="2141" y="1055"/>
                </a:lnTo>
                <a:lnTo>
                  <a:pt x="2474" y="1055"/>
                </a:lnTo>
                <a:lnTo>
                  <a:pt x="2474" y="1491"/>
                </a:lnTo>
                <a:lnTo>
                  <a:pt x="2141" y="1491"/>
                </a:lnTo>
                <a:lnTo>
                  <a:pt x="2141" y="1523"/>
                </a:lnTo>
                <a:cubicBezTo>
                  <a:pt x="2141" y="1586"/>
                  <a:pt x="2110" y="1650"/>
                  <a:pt x="2078" y="1721"/>
                </a:cubicBezTo>
                <a:lnTo>
                  <a:pt x="2046" y="1753"/>
                </a:lnTo>
                <a:lnTo>
                  <a:pt x="2276" y="1983"/>
                </a:lnTo>
                <a:lnTo>
                  <a:pt x="1983" y="2284"/>
                </a:lnTo>
                <a:lnTo>
                  <a:pt x="1745" y="2046"/>
                </a:lnTo>
                <a:lnTo>
                  <a:pt x="1713" y="2046"/>
                </a:lnTo>
                <a:cubicBezTo>
                  <a:pt x="1650" y="2117"/>
                  <a:pt x="1586" y="2117"/>
                  <a:pt x="1515" y="2149"/>
                </a:cubicBezTo>
                <a:lnTo>
                  <a:pt x="1483" y="2149"/>
                </a:lnTo>
                <a:lnTo>
                  <a:pt x="1483" y="2482"/>
                </a:lnTo>
                <a:lnTo>
                  <a:pt x="1055" y="2482"/>
                </a:lnTo>
                <a:lnTo>
                  <a:pt x="1055" y="2149"/>
                </a:lnTo>
                <a:cubicBezTo>
                  <a:pt x="952" y="2117"/>
                  <a:pt x="889" y="2117"/>
                  <a:pt x="825" y="2046"/>
                </a:cubicBezTo>
                <a:lnTo>
                  <a:pt x="794" y="2046"/>
                </a:lnTo>
                <a:lnTo>
                  <a:pt x="556" y="2284"/>
                </a:lnTo>
                <a:lnTo>
                  <a:pt x="263" y="1983"/>
                </a:lnTo>
                <a:lnTo>
                  <a:pt x="492" y="1753"/>
                </a:lnTo>
                <a:lnTo>
                  <a:pt x="492" y="1721"/>
                </a:lnTo>
                <a:cubicBezTo>
                  <a:pt x="461" y="1650"/>
                  <a:pt x="429" y="1586"/>
                  <a:pt x="397" y="1523"/>
                </a:cubicBezTo>
                <a:lnTo>
                  <a:pt x="397" y="1491"/>
                </a:lnTo>
                <a:lnTo>
                  <a:pt x="64" y="1491"/>
                </a:lnTo>
                <a:lnTo>
                  <a:pt x="64" y="1055"/>
                </a:lnTo>
                <a:lnTo>
                  <a:pt x="397" y="1055"/>
                </a:lnTo>
                <a:lnTo>
                  <a:pt x="397" y="1024"/>
                </a:lnTo>
                <a:cubicBezTo>
                  <a:pt x="429" y="960"/>
                  <a:pt x="461" y="897"/>
                  <a:pt x="492" y="825"/>
                </a:cubicBezTo>
                <a:lnTo>
                  <a:pt x="492" y="794"/>
                </a:lnTo>
                <a:lnTo>
                  <a:pt x="263" y="564"/>
                </a:lnTo>
                <a:lnTo>
                  <a:pt x="556" y="263"/>
                </a:lnTo>
                <a:lnTo>
                  <a:pt x="794" y="500"/>
                </a:lnTo>
                <a:lnTo>
                  <a:pt x="825" y="500"/>
                </a:lnTo>
                <a:cubicBezTo>
                  <a:pt x="889" y="461"/>
                  <a:pt x="952" y="429"/>
                  <a:pt x="1055" y="397"/>
                </a:cubicBezTo>
                <a:lnTo>
                  <a:pt x="1055" y="64"/>
                </a:lnTo>
                <a:close/>
                <a:moveTo>
                  <a:pt x="992" y="1"/>
                </a:moveTo>
                <a:lnTo>
                  <a:pt x="992" y="334"/>
                </a:lnTo>
                <a:cubicBezTo>
                  <a:pt x="920" y="366"/>
                  <a:pt x="889" y="397"/>
                  <a:pt x="825" y="429"/>
                </a:cubicBezTo>
                <a:lnTo>
                  <a:pt x="556" y="167"/>
                </a:lnTo>
                <a:lnTo>
                  <a:pt x="159" y="564"/>
                </a:lnTo>
                <a:lnTo>
                  <a:pt x="429" y="825"/>
                </a:lnTo>
                <a:cubicBezTo>
                  <a:pt x="397" y="857"/>
                  <a:pt x="358" y="928"/>
                  <a:pt x="358" y="992"/>
                </a:cubicBezTo>
                <a:lnTo>
                  <a:pt x="1" y="992"/>
                </a:lnTo>
                <a:lnTo>
                  <a:pt x="1" y="1555"/>
                </a:lnTo>
                <a:lnTo>
                  <a:pt x="358" y="1555"/>
                </a:lnTo>
                <a:cubicBezTo>
                  <a:pt x="358" y="1618"/>
                  <a:pt x="397" y="1689"/>
                  <a:pt x="429" y="1753"/>
                </a:cubicBezTo>
                <a:lnTo>
                  <a:pt x="159" y="1983"/>
                </a:lnTo>
                <a:lnTo>
                  <a:pt x="556" y="2379"/>
                </a:lnTo>
                <a:lnTo>
                  <a:pt x="825" y="2149"/>
                </a:lnTo>
                <a:cubicBezTo>
                  <a:pt x="889" y="2181"/>
                  <a:pt x="920" y="2181"/>
                  <a:pt x="992" y="2213"/>
                </a:cubicBezTo>
                <a:lnTo>
                  <a:pt x="992" y="2546"/>
                </a:lnTo>
                <a:lnTo>
                  <a:pt x="1547" y="2546"/>
                </a:lnTo>
                <a:lnTo>
                  <a:pt x="1547" y="2213"/>
                </a:lnTo>
                <a:cubicBezTo>
                  <a:pt x="1618" y="2181"/>
                  <a:pt x="1682" y="2181"/>
                  <a:pt x="1745" y="2149"/>
                </a:cubicBezTo>
                <a:lnTo>
                  <a:pt x="1983" y="2379"/>
                </a:lnTo>
                <a:lnTo>
                  <a:pt x="2379" y="1983"/>
                </a:lnTo>
                <a:lnTo>
                  <a:pt x="2141" y="1753"/>
                </a:lnTo>
                <a:cubicBezTo>
                  <a:pt x="2181" y="1689"/>
                  <a:pt x="2181" y="1618"/>
                  <a:pt x="2213" y="1555"/>
                </a:cubicBezTo>
                <a:lnTo>
                  <a:pt x="2538" y="1555"/>
                </a:lnTo>
                <a:lnTo>
                  <a:pt x="2538" y="992"/>
                </a:lnTo>
                <a:lnTo>
                  <a:pt x="2213" y="992"/>
                </a:lnTo>
                <a:cubicBezTo>
                  <a:pt x="2181" y="928"/>
                  <a:pt x="2181" y="857"/>
                  <a:pt x="2141" y="825"/>
                </a:cubicBezTo>
                <a:lnTo>
                  <a:pt x="2379" y="564"/>
                </a:lnTo>
                <a:lnTo>
                  <a:pt x="1983" y="167"/>
                </a:lnTo>
                <a:lnTo>
                  <a:pt x="1745" y="429"/>
                </a:lnTo>
                <a:cubicBezTo>
                  <a:pt x="1682" y="397"/>
                  <a:pt x="1618" y="366"/>
                  <a:pt x="1547" y="334"/>
                </a:cubicBezTo>
                <a:lnTo>
                  <a:pt x="1547" y="1"/>
                </a:ln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2521;p39">
            <a:extLst>
              <a:ext uri="{FF2B5EF4-FFF2-40B4-BE49-F238E27FC236}">
                <a16:creationId xmlns:a16="http://schemas.microsoft.com/office/drawing/2014/main" id="{82B757F8-FE9C-78B6-522D-5367DD52C9E8}"/>
              </a:ext>
            </a:extLst>
          </p:cNvPr>
          <p:cNvSpPr/>
          <p:nvPr/>
        </p:nvSpPr>
        <p:spPr>
          <a:xfrm>
            <a:off x="6447100" y="1923888"/>
            <a:ext cx="408300" cy="4083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01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6" name="Google Shape;2522;p39">
            <a:extLst>
              <a:ext uri="{FF2B5EF4-FFF2-40B4-BE49-F238E27FC236}">
                <a16:creationId xmlns:a16="http://schemas.microsoft.com/office/drawing/2014/main" id="{DDB773A3-6810-0561-8023-A963B4F0C089}"/>
              </a:ext>
            </a:extLst>
          </p:cNvPr>
          <p:cNvSpPr/>
          <p:nvPr/>
        </p:nvSpPr>
        <p:spPr>
          <a:xfrm>
            <a:off x="7337800" y="1923888"/>
            <a:ext cx="408300" cy="408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02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7" name="Google Shape;2523;p39">
            <a:extLst>
              <a:ext uri="{FF2B5EF4-FFF2-40B4-BE49-F238E27FC236}">
                <a16:creationId xmlns:a16="http://schemas.microsoft.com/office/drawing/2014/main" id="{CA502654-8978-1FD6-F06B-5199750ED866}"/>
              </a:ext>
            </a:extLst>
          </p:cNvPr>
          <p:cNvSpPr/>
          <p:nvPr/>
        </p:nvSpPr>
        <p:spPr>
          <a:xfrm>
            <a:off x="6447100" y="2799563"/>
            <a:ext cx="408300" cy="408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04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8" name="Google Shape;2524;p39">
            <a:extLst>
              <a:ext uri="{FF2B5EF4-FFF2-40B4-BE49-F238E27FC236}">
                <a16:creationId xmlns:a16="http://schemas.microsoft.com/office/drawing/2014/main" id="{3EDD1CD3-4C7D-5954-31C5-4321810A28C4}"/>
              </a:ext>
            </a:extLst>
          </p:cNvPr>
          <p:cNvSpPr/>
          <p:nvPr/>
        </p:nvSpPr>
        <p:spPr>
          <a:xfrm>
            <a:off x="7337800" y="2799563"/>
            <a:ext cx="408300" cy="4083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03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295" name="Google Shape;3716;p76">
            <a:extLst>
              <a:ext uri="{FF2B5EF4-FFF2-40B4-BE49-F238E27FC236}">
                <a16:creationId xmlns:a16="http://schemas.microsoft.com/office/drawing/2014/main" id="{2A8D62CA-6F60-83EA-AEB6-535B6A2AB925}"/>
              </a:ext>
            </a:extLst>
          </p:cNvPr>
          <p:cNvSpPr/>
          <p:nvPr/>
        </p:nvSpPr>
        <p:spPr>
          <a:xfrm>
            <a:off x="837690" y="4783590"/>
            <a:ext cx="1038143" cy="1399231"/>
          </a:xfrm>
          <a:custGeom>
            <a:avLst/>
            <a:gdLst/>
            <a:ahLst/>
            <a:cxnLst/>
            <a:rect l="l" t="t" r="r" b="b"/>
            <a:pathLst>
              <a:path w="22682" h="23602" extrusionOk="0">
                <a:moveTo>
                  <a:pt x="13852" y="21070"/>
                </a:moveTo>
                <a:lnTo>
                  <a:pt x="13894" y="21091"/>
                </a:lnTo>
                <a:lnTo>
                  <a:pt x="13977" y="21217"/>
                </a:lnTo>
                <a:lnTo>
                  <a:pt x="14103" y="21384"/>
                </a:lnTo>
                <a:lnTo>
                  <a:pt x="14166" y="21384"/>
                </a:lnTo>
                <a:lnTo>
                  <a:pt x="14208" y="21342"/>
                </a:lnTo>
                <a:lnTo>
                  <a:pt x="14228" y="21384"/>
                </a:lnTo>
                <a:lnTo>
                  <a:pt x="14228" y="21489"/>
                </a:lnTo>
                <a:lnTo>
                  <a:pt x="14187" y="21489"/>
                </a:lnTo>
                <a:lnTo>
                  <a:pt x="14124" y="21698"/>
                </a:lnTo>
                <a:lnTo>
                  <a:pt x="13998" y="21928"/>
                </a:lnTo>
                <a:lnTo>
                  <a:pt x="13873" y="21928"/>
                </a:lnTo>
                <a:lnTo>
                  <a:pt x="13852" y="22075"/>
                </a:lnTo>
                <a:lnTo>
                  <a:pt x="13789" y="22158"/>
                </a:lnTo>
                <a:lnTo>
                  <a:pt x="13768" y="22158"/>
                </a:lnTo>
                <a:lnTo>
                  <a:pt x="13643" y="22242"/>
                </a:lnTo>
                <a:lnTo>
                  <a:pt x="13559" y="22326"/>
                </a:lnTo>
                <a:lnTo>
                  <a:pt x="13559" y="22367"/>
                </a:lnTo>
                <a:lnTo>
                  <a:pt x="13454" y="22388"/>
                </a:lnTo>
                <a:lnTo>
                  <a:pt x="13392" y="22451"/>
                </a:lnTo>
                <a:lnTo>
                  <a:pt x="13392" y="22472"/>
                </a:lnTo>
                <a:lnTo>
                  <a:pt x="13329" y="22347"/>
                </a:lnTo>
                <a:lnTo>
                  <a:pt x="13371" y="22242"/>
                </a:lnTo>
                <a:lnTo>
                  <a:pt x="13454" y="22179"/>
                </a:lnTo>
                <a:lnTo>
                  <a:pt x="13454" y="22116"/>
                </a:lnTo>
                <a:lnTo>
                  <a:pt x="13559" y="22012"/>
                </a:lnTo>
                <a:lnTo>
                  <a:pt x="13559" y="21928"/>
                </a:lnTo>
                <a:lnTo>
                  <a:pt x="13601" y="21970"/>
                </a:lnTo>
                <a:lnTo>
                  <a:pt x="13684" y="21970"/>
                </a:lnTo>
                <a:lnTo>
                  <a:pt x="13789" y="21865"/>
                </a:lnTo>
                <a:lnTo>
                  <a:pt x="13789" y="21761"/>
                </a:lnTo>
                <a:lnTo>
                  <a:pt x="13810" y="21740"/>
                </a:lnTo>
                <a:lnTo>
                  <a:pt x="13810" y="21614"/>
                </a:lnTo>
                <a:lnTo>
                  <a:pt x="13873" y="21551"/>
                </a:lnTo>
                <a:lnTo>
                  <a:pt x="13915" y="21551"/>
                </a:lnTo>
                <a:lnTo>
                  <a:pt x="13977" y="21447"/>
                </a:lnTo>
                <a:lnTo>
                  <a:pt x="13956" y="21384"/>
                </a:lnTo>
                <a:lnTo>
                  <a:pt x="13894" y="21300"/>
                </a:lnTo>
                <a:lnTo>
                  <a:pt x="13894" y="21112"/>
                </a:lnTo>
                <a:lnTo>
                  <a:pt x="13852" y="21070"/>
                </a:lnTo>
                <a:close/>
                <a:moveTo>
                  <a:pt x="7617" y="0"/>
                </a:moveTo>
                <a:lnTo>
                  <a:pt x="7617" y="147"/>
                </a:lnTo>
                <a:lnTo>
                  <a:pt x="7575" y="272"/>
                </a:lnTo>
                <a:lnTo>
                  <a:pt x="7282" y="481"/>
                </a:lnTo>
                <a:lnTo>
                  <a:pt x="7094" y="502"/>
                </a:lnTo>
                <a:lnTo>
                  <a:pt x="6842" y="607"/>
                </a:lnTo>
                <a:lnTo>
                  <a:pt x="6738" y="565"/>
                </a:lnTo>
                <a:lnTo>
                  <a:pt x="6570" y="586"/>
                </a:lnTo>
                <a:lnTo>
                  <a:pt x="6382" y="732"/>
                </a:lnTo>
                <a:lnTo>
                  <a:pt x="6215" y="795"/>
                </a:lnTo>
                <a:lnTo>
                  <a:pt x="6152" y="732"/>
                </a:lnTo>
                <a:lnTo>
                  <a:pt x="5901" y="774"/>
                </a:lnTo>
                <a:lnTo>
                  <a:pt x="5692" y="774"/>
                </a:lnTo>
                <a:lnTo>
                  <a:pt x="5503" y="670"/>
                </a:lnTo>
                <a:lnTo>
                  <a:pt x="5315" y="628"/>
                </a:lnTo>
                <a:lnTo>
                  <a:pt x="5169" y="586"/>
                </a:lnTo>
                <a:lnTo>
                  <a:pt x="5169" y="586"/>
                </a:lnTo>
                <a:lnTo>
                  <a:pt x="5231" y="711"/>
                </a:lnTo>
                <a:lnTo>
                  <a:pt x="5378" y="774"/>
                </a:lnTo>
                <a:lnTo>
                  <a:pt x="5503" y="879"/>
                </a:lnTo>
                <a:lnTo>
                  <a:pt x="5545" y="984"/>
                </a:lnTo>
                <a:lnTo>
                  <a:pt x="5399" y="1235"/>
                </a:lnTo>
                <a:lnTo>
                  <a:pt x="5420" y="1297"/>
                </a:lnTo>
                <a:lnTo>
                  <a:pt x="5441" y="1339"/>
                </a:lnTo>
                <a:lnTo>
                  <a:pt x="5420" y="1528"/>
                </a:lnTo>
                <a:lnTo>
                  <a:pt x="5692" y="1611"/>
                </a:lnTo>
                <a:lnTo>
                  <a:pt x="5859" y="1569"/>
                </a:lnTo>
                <a:lnTo>
                  <a:pt x="6047" y="1611"/>
                </a:lnTo>
                <a:lnTo>
                  <a:pt x="6047" y="1716"/>
                </a:lnTo>
                <a:lnTo>
                  <a:pt x="5922" y="1758"/>
                </a:lnTo>
                <a:lnTo>
                  <a:pt x="5650" y="1820"/>
                </a:lnTo>
                <a:lnTo>
                  <a:pt x="5608" y="1862"/>
                </a:lnTo>
                <a:lnTo>
                  <a:pt x="5545" y="1925"/>
                </a:lnTo>
                <a:lnTo>
                  <a:pt x="5503" y="2072"/>
                </a:lnTo>
                <a:lnTo>
                  <a:pt x="5210" y="2239"/>
                </a:lnTo>
                <a:lnTo>
                  <a:pt x="5106" y="2344"/>
                </a:lnTo>
                <a:lnTo>
                  <a:pt x="4897" y="2469"/>
                </a:lnTo>
                <a:lnTo>
                  <a:pt x="4771" y="2616"/>
                </a:lnTo>
                <a:lnTo>
                  <a:pt x="4541" y="2616"/>
                </a:lnTo>
                <a:lnTo>
                  <a:pt x="4394" y="2595"/>
                </a:lnTo>
                <a:lnTo>
                  <a:pt x="4164" y="2406"/>
                </a:lnTo>
                <a:lnTo>
                  <a:pt x="3955" y="2260"/>
                </a:lnTo>
                <a:lnTo>
                  <a:pt x="3809" y="2281"/>
                </a:lnTo>
                <a:lnTo>
                  <a:pt x="3809" y="2134"/>
                </a:lnTo>
                <a:lnTo>
                  <a:pt x="3767" y="1988"/>
                </a:lnTo>
                <a:lnTo>
                  <a:pt x="3662" y="1883"/>
                </a:lnTo>
                <a:lnTo>
                  <a:pt x="3641" y="1820"/>
                </a:lnTo>
                <a:lnTo>
                  <a:pt x="3495" y="1862"/>
                </a:lnTo>
                <a:lnTo>
                  <a:pt x="3390" y="1988"/>
                </a:lnTo>
                <a:lnTo>
                  <a:pt x="3306" y="1988"/>
                </a:lnTo>
                <a:lnTo>
                  <a:pt x="3244" y="1946"/>
                </a:lnTo>
                <a:lnTo>
                  <a:pt x="3139" y="1946"/>
                </a:lnTo>
                <a:lnTo>
                  <a:pt x="3076" y="2030"/>
                </a:lnTo>
                <a:lnTo>
                  <a:pt x="2407" y="2030"/>
                </a:lnTo>
                <a:lnTo>
                  <a:pt x="2386" y="2197"/>
                </a:lnTo>
                <a:lnTo>
                  <a:pt x="2448" y="2344"/>
                </a:lnTo>
                <a:lnTo>
                  <a:pt x="2658" y="2385"/>
                </a:lnTo>
                <a:lnTo>
                  <a:pt x="2720" y="2553"/>
                </a:lnTo>
                <a:lnTo>
                  <a:pt x="2679" y="2616"/>
                </a:lnTo>
                <a:lnTo>
                  <a:pt x="2762" y="2699"/>
                </a:lnTo>
                <a:lnTo>
                  <a:pt x="2720" y="2804"/>
                </a:lnTo>
                <a:lnTo>
                  <a:pt x="2595" y="2720"/>
                </a:lnTo>
                <a:lnTo>
                  <a:pt x="2197" y="2867"/>
                </a:lnTo>
                <a:lnTo>
                  <a:pt x="2239" y="3180"/>
                </a:lnTo>
                <a:lnTo>
                  <a:pt x="2344" y="3306"/>
                </a:lnTo>
                <a:lnTo>
                  <a:pt x="2553" y="3452"/>
                </a:lnTo>
                <a:lnTo>
                  <a:pt x="2679" y="3724"/>
                </a:lnTo>
                <a:lnTo>
                  <a:pt x="2679" y="3913"/>
                </a:lnTo>
                <a:lnTo>
                  <a:pt x="2679" y="3976"/>
                </a:lnTo>
                <a:lnTo>
                  <a:pt x="2365" y="5189"/>
                </a:lnTo>
                <a:lnTo>
                  <a:pt x="2260" y="5503"/>
                </a:lnTo>
                <a:lnTo>
                  <a:pt x="2281" y="5545"/>
                </a:lnTo>
                <a:lnTo>
                  <a:pt x="2239" y="5629"/>
                </a:lnTo>
                <a:lnTo>
                  <a:pt x="2093" y="5608"/>
                </a:lnTo>
                <a:lnTo>
                  <a:pt x="2093" y="5587"/>
                </a:lnTo>
                <a:lnTo>
                  <a:pt x="1967" y="5503"/>
                </a:lnTo>
                <a:lnTo>
                  <a:pt x="1821" y="5503"/>
                </a:lnTo>
                <a:lnTo>
                  <a:pt x="1758" y="5482"/>
                </a:lnTo>
                <a:lnTo>
                  <a:pt x="1716" y="5545"/>
                </a:lnTo>
                <a:lnTo>
                  <a:pt x="1319" y="5691"/>
                </a:lnTo>
                <a:lnTo>
                  <a:pt x="1026" y="5733"/>
                </a:lnTo>
                <a:lnTo>
                  <a:pt x="942" y="5817"/>
                </a:lnTo>
                <a:lnTo>
                  <a:pt x="879" y="5838"/>
                </a:lnTo>
                <a:lnTo>
                  <a:pt x="733" y="5963"/>
                </a:lnTo>
                <a:lnTo>
                  <a:pt x="607" y="6026"/>
                </a:lnTo>
                <a:lnTo>
                  <a:pt x="503" y="6110"/>
                </a:lnTo>
                <a:lnTo>
                  <a:pt x="523" y="6256"/>
                </a:lnTo>
                <a:lnTo>
                  <a:pt x="482" y="6340"/>
                </a:lnTo>
                <a:lnTo>
                  <a:pt x="503" y="6424"/>
                </a:lnTo>
                <a:lnTo>
                  <a:pt x="356" y="6570"/>
                </a:lnTo>
                <a:lnTo>
                  <a:pt x="398" y="6779"/>
                </a:lnTo>
                <a:lnTo>
                  <a:pt x="461" y="6884"/>
                </a:lnTo>
                <a:lnTo>
                  <a:pt x="356" y="6968"/>
                </a:lnTo>
                <a:lnTo>
                  <a:pt x="272" y="6947"/>
                </a:lnTo>
                <a:lnTo>
                  <a:pt x="105" y="7051"/>
                </a:lnTo>
                <a:lnTo>
                  <a:pt x="105" y="7156"/>
                </a:lnTo>
                <a:lnTo>
                  <a:pt x="63" y="7198"/>
                </a:lnTo>
                <a:lnTo>
                  <a:pt x="84" y="7282"/>
                </a:lnTo>
                <a:lnTo>
                  <a:pt x="63" y="7407"/>
                </a:lnTo>
                <a:lnTo>
                  <a:pt x="0" y="7512"/>
                </a:lnTo>
                <a:lnTo>
                  <a:pt x="63" y="7616"/>
                </a:lnTo>
                <a:lnTo>
                  <a:pt x="42" y="7700"/>
                </a:lnTo>
                <a:lnTo>
                  <a:pt x="189" y="7846"/>
                </a:lnTo>
                <a:lnTo>
                  <a:pt x="482" y="8307"/>
                </a:lnTo>
                <a:lnTo>
                  <a:pt x="314" y="8474"/>
                </a:lnTo>
                <a:lnTo>
                  <a:pt x="691" y="8453"/>
                </a:lnTo>
                <a:lnTo>
                  <a:pt x="879" y="8474"/>
                </a:lnTo>
                <a:lnTo>
                  <a:pt x="1005" y="8662"/>
                </a:lnTo>
                <a:lnTo>
                  <a:pt x="1026" y="8830"/>
                </a:lnTo>
                <a:lnTo>
                  <a:pt x="1256" y="8830"/>
                </a:lnTo>
                <a:lnTo>
                  <a:pt x="1549" y="8851"/>
                </a:lnTo>
                <a:lnTo>
                  <a:pt x="1779" y="8621"/>
                </a:lnTo>
                <a:lnTo>
                  <a:pt x="1988" y="8474"/>
                </a:lnTo>
                <a:lnTo>
                  <a:pt x="2051" y="8537"/>
                </a:lnTo>
                <a:lnTo>
                  <a:pt x="2030" y="8662"/>
                </a:lnTo>
                <a:lnTo>
                  <a:pt x="1967" y="8725"/>
                </a:lnTo>
                <a:lnTo>
                  <a:pt x="1967" y="8934"/>
                </a:lnTo>
                <a:lnTo>
                  <a:pt x="1988" y="9269"/>
                </a:lnTo>
                <a:lnTo>
                  <a:pt x="1988" y="9395"/>
                </a:lnTo>
                <a:lnTo>
                  <a:pt x="2072" y="9478"/>
                </a:lnTo>
                <a:lnTo>
                  <a:pt x="2176" y="9458"/>
                </a:lnTo>
                <a:lnTo>
                  <a:pt x="2281" y="9416"/>
                </a:lnTo>
                <a:lnTo>
                  <a:pt x="2469" y="9416"/>
                </a:lnTo>
                <a:lnTo>
                  <a:pt x="2511" y="9458"/>
                </a:lnTo>
                <a:lnTo>
                  <a:pt x="3076" y="9458"/>
                </a:lnTo>
                <a:lnTo>
                  <a:pt x="3223" y="9353"/>
                </a:lnTo>
                <a:lnTo>
                  <a:pt x="3306" y="9353"/>
                </a:lnTo>
                <a:lnTo>
                  <a:pt x="3432" y="9248"/>
                </a:lnTo>
                <a:lnTo>
                  <a:pt x="3557" y="9248"/>
                </a:lnTo>
                <a:lnTo>
                  <a:pt x="3725" y="9186"/>
                </a:lnTo>
                <a:lnTo>
                  <a:pt x="3829" y="8934"/>
                </a:lnTo>
                <a:lnTo>
                  <a:pt x="4081" y="8746"/>
                </a:lnTo>
                <a:lnTo>
                  <a:pt x="4269" y="8725"/>
                </a:lnTo>
                <a:lnTo>
                  <a:pt x="4457" y="8621"/>
                </a:lnTo>
                <a:lnTo>
                  <a:pt x="4583" y="8621"/>
                </a:lnTo>
                <a:lnTo>
                  <a:pt x="4687" y="8683"/>
                </a:lnTo>
                <a:lnTo>
                  <a:pt x="4813" y="8621"/>
                </a:lnTo>
                <a:lnTo>
                  <a:pt x="4897" y="8662"/>
                </a:lnTo>
                <a:lnTo>
                  <a:pt x="4876" y="8788"/>
                </a:lnTo>
                <a:lnTo>
                  <a:pt x="4959" y="8997"/>
                </a:lnTo>
                <a:lnTo>
                  <a:pt x="5085" y="9374"/>
                </a:lnTo>
                <a:lnTo>
                  <a:pt x="5169" y="9646"/>
                </a:lnTo>
                <a:lnTo>
                  <a:pt x="5106" y="9751"/>
                </a:lnTo>
                <a:lnTo>
                  <a:pt x="5210" y="9960"/>
                </a:lnTo>
                <a:lnTo>
                  <a:pt x="5357" y="10002"/>
                </a:lnTo>
                <a:lnTo>
                  <a:pt x="5399" y="10190"/>
                </a:lnTo>
                <a:lnTo>
                  <a:pt x="5524" y="10274"/>
                </a:lnTo>
                <a:lnTo>
                  <a:pt x="5713" y="10357"/>
                </a:lnTo>
                <a:lnTo>
                  <a:pt x="5838" y="10462"/>
                </a:lnTo>
                <a:lnTo>
                  <a:pt x="5901" y="10420"/>
                </a:lnTo>
                <a:lnTo>
                  <a:pt x="6131" y="10357"/>
                </a:lnTo>
                <a:lnTo>
                  <a:pt x="6340" y="10587"/>
                </a:lnTo>
                <a:lnTo>
                  <a:pt x="6508" y="10525"/>
                </a:lnTo>
                <a:lnTo>
                  <a:pt x="6717" y="10755"/>
                </a:lnTo>
                <a:lnTo>
                  <a:pt x="6822" y="10755"/>
                </a:lnTo>
                <a:lnTo>
                  <a:pt x="7073" y="10839"/>
                </a:lnTo>
                <a:lnTo>
                  <a:pt x="7240" y="10880"/>
                </a:lnTo>
                <a:lnTo>
                  <a:pt x="7261" y="11048"/>
                </a:lnTo>
                <a:lnTo>
                  <a:pt x="7366" y="11069"/>
                </a:lnTo>
                <a:lnTo>
                  <a:pt x="7512" y="11152"/>
                </a:lnTo>
                <a:lnTo>
                  <a:pt x="7868" y="11131"/>
                </a:lnTo>
                <a:lnTo>
                  <a:pt x="8098" y="11257"/>
                </a:lnTo>
                <a:lnTo>
                  <a:pt x="8140" y="11362"/>
                </a:lnTo>
                <a:lnTo>
                  <a:pt x="8119" y="11634"/>
                </a:lnTo>
                <a:lnTo>
                  <a:pt x="8182" y="11843"/>
                </a:lnTo>
                <a:lnTo>
                  <a:pt x="8098" y="11968"/>
                </a:lnTo>
                <a:lnTo>
                  <a:pt x="8307" y="12324"/>
                </a:lnTo>
                <a:lnTo>
                  <a:pt x="8286" y="12596"/>
                </a:lnTo>
                <a:lnTo>
                  <a:pt x="9290" y="12617"/>
                </a:lnTo>
                <a:lnTo>
                  <a:pt x="9353" y="12973"/>
                </a:lnTo>
                <a:lnTo>
                  <a:pt x="9332" y="13224"/>
                </a:lnTo>
                <a:lnTo>
                  <a:pt x="9604" y="13287"/>
                </a:lnTo>
                <a:lnTo>
                  <a:pt x="9897" y="13810"/>
                </a:lnTo>
                <a:lnTo>
                  <a:pt x="9918" y="14103"/>
                </a:lnTo>
                <a:lnTo>
                  <a:pt x="9646" y="14688"/>
                </a:lnTo>
                <a:lnTo>
                  <a:pt x="9667" y="14772"/>
                </a:lnTo>
                <a:lnTo>
                  <a:pt x="9583" y="14856"/>
                </a:lnTo>
                <a:lnTo>
                  <a:pt x="9646" y="14919"/>
                </a:lnTo>
                <a:lnTo>
                  <a:pt x="9604" y="15044"/>
                </a:lnTo>
                <a:lnTo>
                  <a:pt x="9751" y="15149"/>
                </a:lnTo>
                <a:lnTo>
                  <a:pt x="9751" y="15337"/>
                </a:lnTo>
                <a:lnTo>
                  <a:pt x="9855" y="15525"/>
                </a:lnTo>
                <a:lnTo>
                  <a:pt x="9793" y="15860"/>
                </a:lnTo>
                <a:lnTo>
                  <a:pt x="9814" y="15986"/>
                </a:lnTo>
                <a:lnTo>
                  <a:pt x="9772" y="16111"/>
                </a:lnTo>
                <a:lnTo>
                  <a:pt x="9814" y="16258"/>
                </a:lnTo>
                <a:lnTo>
                  <a:pt x="10023" y="16216"/>
                </a:lnTo>
                <a:lnTo>
                  <a:pt x="10107" y="16279"/>
                </a:lnTo>
                <a:lnTo>
                  <a:pt x="10379" y="16258"/>
                </a:lnTo>
                <a:lnTo>
                  <a:pt x="10525" y="16300"/>
                </a:lnTo>
                <a:lnTo>
                  <a:pt x="10797" y="16195"/>
                </a:lnTo>
                <a:lnTo>
                  <a:pt x="10923" y="16300"/>
                </a:lnTo>
                <a:lnTo>
                  <a:pt x="11027" y="16321"/>
                </a:lnTo>
                <a:lnTo>
                  <a:pt x="11069" y="16467"/>
                </a:lnTo>
                <a:lnTo>
                  <a:pt x="11236" y="17095"/>
                </a:lnTo>
                <a:lnTo>
                  <a:pt x="11341" y="17304"/>
                </a:lnTo>
                <a:lnTo>
                  <a:pt x="11446" y="17325"/>
                </a:lnTo>
                <a:lnTo>
                  <a:pt x="11676" y="17199"/>
                </a:lnTo>
                <a:lnTo>
                  <a:pt x="11801" y="17241"/>
                </a:lnTo>
                <a:lnTo>
                  <a:pt x="11885" y="17325"/>
                </a:lnTo>
                <a:lnTo>
                  <a:pt x="11969" y="17346"/>
                </a:lnTo>
                <a:lnTo>
                  <a:pt x="11906" y="17450"/>
                </a:lnTo>
                <a:lnTo>
                  <a:pt x="11885" y="17994"/>
                </a:lnTo>
                <a:lnTo>
                  <a:pt x="11864" y="18057"/>
                </a:lnTo>
                <a:lnTo>
                  <a:pt x="11822" y="18078"/>
                </a:lnTo>
                <a:lnTo>
                  <a:pt x="11822" y="18162"/>
                </a:lnTo>
                <a:lnTo>
                  <a:pt x="11801" y="18204"/>
                </a:lnTo>
                <a:lnTo>
                  <a:pt x="11801" y="18287"/>
                </a:lnTo>
                <a:lnTo>
                  <a:pt x="11906" y="18204"/>
                </a:lnTo>
                <a:lnTo>
                  <a:pt x="12178" y="18245"/>
                </a:lnTo>
                <a:lnTo>
                  <a:pt x="12178" y="18350"/>
                </a:lnTo>
                <a:lnTo>
                  <a:pt x="12283" y="18580"/>
                </a:lnTo>
                <a:lnTo>
                  <a:pt x="12283" y="18769"/>
                </a:lnTo>
                <a:lnTo>
                  <a:pt x="12303" y="18999"/>
                </a:lnTo>
                <a:lnTo>
                  <a:pt x="12324" y="19208"/>
                </a:lnTo>
                <a:lnTo>
                  <a:pt x="12303" y="19292"/>
                </a:lnTo>
                <a:lnTo>
                  <a:pt x="12199" y="19292"/>
                </a:lnTo>
                <a:lnTo>
                  <a:pt x="12073" y="19354"/>
                </a:lnTo>
                <a:lnTo>
                  <a:pt x="12031" y="19417"/>
                </a:lnTo>
                <a:lnTo>
                  <a:pt x="11969" y="19501"/>
                </a:lnTo>
                <a:lnTo>
                  <a:pt x="11927" y="19459"/>
                </a:lnTo>
                <a:lnTo>
                  <a:pt x="11697" y="19626"/>
                </a:lnTo>
                <a:lnTo>
                  <a:pt x="11655" y="19710"/>
                </a:lnTo>
                <a:lnTo>
                  <a:pt x="11571" y="19731"/>
                </a:lnTo>
                <a:lnTo>
                  <a:pt x="11362" y="19919"/>
                </a:lnTo>
                <a:lnTo>
                  <a:pt x="11278" y="19940"/>
                </a:lnTo>
                <a:lnTo>
                  <a:pt x="11278" y="20066"/>
                </a:lnTo>
                <a:lnTo>
                  <a:pt x="11195" y="20087"/>
                </a:lnTo>
                <a:lnTo>
                  <a:pt x="11132" y="20087"/>
                </a:lnTo>
                <a:lnTo>
                  <a:pt x="10943" y="20338"/>
                </a:lnTo>
                <a:lnTo>
                  <a:pt x="10923" y="20401"/>
                </a:lnTo>
                <a:lnTo>
                  <a:pt x="10923" y="20547"/>
                </a:lnTo>
                <a:lnTo>
                  <a:pt x="10839" y="20568"/>
                </a:lnTo>
                <a:lnTo>
                  <a:pt x="10776" y="20652"/>
                </a:lnTo>
                <a:lnTo>
                  <a:pt x="10671" y="20861"/>
                </a:lnTo>
                <a:lnTo>
                  <a:pt x="10609" y="20924"/>
                </a:lnTo>
                <a:lnTo>
                  <a:pt x="10504" y="21091"/>
                </a:lnTo>
                <a:lnTo>
                  <a:pt x="10504" y="21133"/>
                </a:lnTo>
                <a:lnTo>
                  <a:pt x="10399" y="21217"/>
                </a:lnTo>
                <a:lnTo>
                  <a:pt x="10358" y="21279"/>
                </a:lnTo>
                <a:lnTo>
                  <a:pt x="10441" y="21279"/>
                </a:lnTo>
                <a:lnTo>
                  <a:pt x="10504" y="21300"/>
                </a:lnTo>
                <a:lnTo>
                  <a:pt x="10776" y="21217"/>
                </a:lnTo>
                <a:lnTo>
                  <a:pt x="10923" y="21300"/>
                </a:lnTo>
                <a:lnTo>
                  <a:pt x="11048" y="21489"/>
                </a:lnTo>
                <a:lnTo>
                  <a:pt x="11153" y="21530"/>
                </a:lnTo>
                <a:lnTo>
                  <a:pt x="11236" y="21698"/>
                </a:lnTo>
                <a:lnTo>
                  <a:pt x="11362" y="21928"/>
                </a:lnTo>
                <a:lnTo>
                  <a:pt x="11446" y="21928"/>
                </a:lnTo>
                <a:lnTo>
                  <a:pt x="11550" y="21803"/>
                </a:lnTo>
                <a:lnTo>
                  <a:pt x="11592" y="21803"/>
                </a:lnTo>
                <a:lnTo>
                  <a:pt x="11718" y="22012"/>
                </a:lnTo>
                <a:lnTo>
                  <a:pt x="11885" y="22075"/>
                </a:lnTo>
                <a:lnTo>
                  <a:pt x="12011" y="22116"/>
                </a:lnTo>
                <a:lnTo>
                  <a:pt x="12136" y="22242"/>
                </a:lnTo>
                <a:lnTo>
                  <a:pt x="12136" y="22388"/>
                </a:lnTo>
                <a:lnTo>
                  <a:pt x="12241" y="22367"/>
                </a:lnTo>
                <a:lnTo>
                  <a:pt x="12492" y="22472"/>
                </a:lnTo>
                <a:lnTo>
                  <a:pt x="12617" y="22639"/>
                </a:lnTo>
                <a:lnTo>
                  <a:pt x="12743" y="22849"/>
                </a:lnTo>
                <a:lnTo>
                  <a:pt x="12868" y="22911"/>
                </a:lnTo>
                <a:lnTo>
                  <a:pt x="12848" y="23079"/>
                </a:lnTo>
                <a:lnTo>
                  <a:pt x="12743" y="23225"/>
                </a:lnTo>
                <a:lnTo>
                  <a:pt x="12806" y="23414"/>
                </a:lnTo>
                <a:lnTo>
                  <a:pt x="12827" y="23476"/>
                </a:lnTo>
                <a:lnTo>
                  <a:pt x="12848" y="23497"/>
                </a:lnTo>
                <a:lnTo>
                  <a:pt x="12931" y="23581"/>
                </a:lnTo>
                <a:lnTo>
                  <a:pt x="12952" y="23602"/>
                </a:lnTo>
                <a:lnTo>
                  <a:pt x="13161" y="23414"/>
                </a:lnTo>
                <a:lnTo>
                  <a:pt x="13245" y="23225"/>
                </a:lnTo>
                <a:lnTo>
                  <a:pt x="13350" y="22849"/>
                </a:lnTo>
                <a:lnTo>
                  <a:pt x="13433" y="22577"/>
                </a:lnTo>
                <a:lnTo>
                  <a:pt x="13454" y="22535"/>
                </a:lnTo>
                <a:lnTo>
                  <a:pt x="13426" y="22507"/>
                </a:lnTo>
                <a:lnTo>
                  <a:pt x="13426" y="22507"/>
                </a:lnTo>
                <a:lnTo>
                  <a:pt x="13496" y="22535"/>
                </a:lnTo>
                <a:lnTo>
                  <a:pt x="13873" y="22242"/>
                </a:lnTo>
                <a:lnTo>
                  <a:pt x="14061" y="22033"/>
                </a:lnTo>
                <a:lnTo>
                  <a:pt x="14312" y="21551"/>
                </a:lnTo>
                <a:lnTo>
                  <a:pt x="14417" y="21321"/>
                </a:lnTo>
                <a:lnTo>
                  <a:pt x="14521" y="21028"/>
                </a:lnTo>
                <a:lnTo>
                  <a:pt x="14793" y="20547"/>
                </a:lnTo>
                <a:lnTo>
                  <a:pt x="15044" y="20233"/>
                </a:lnTo>
                <a:lnTo>
                  <a:pt x="15107" y="20129"/>
                </a:lnTo>
                <a:lnTo>
                  <a:pt x="15065" y="20087"/>
                </a:lnTo>
                <a:lnTo>
                  <a:pt x="15065" y="20024"/>
                </a:lnTo>
                <a:lnTo>
                  <a:pt x="15128" y="19982"/>
                </a:lnTo>
                <a:lnTo>
                  <a:pt x="15170" y="19857"/>
                </a:lnTo>
                <a:lnTo>
                  <a:pt x="15254" y="19815"/>
                </a:lnTo>
                <a:lnTo>
                  <a:pt x="15233" y="19710"/>
                </a:lnTo>
                <a:lnTo>
                  <a:pt x="15254" y="19626"/>
                </a:lnTo>
                <a:lnTo>
                  <a:pt x="15233" y="19606"/>
                </a:lnTo>
                <a:lnTo>
                  <a:pt x="15296" y="19585"/>
                </a:lnTo>
                <a:lnTo>
                  <a:pt x="15296" y="19480"/>
                </a:lnTo>
                <a:lnTo>
                  <a:pt x="15191" y="19313"/>
                </a:lnTo>
                <a:lnTo>
                  <a:pt x="15191" y="19229"/>
                </a:lnTo>
                <a:lnTo>
                  <a:pt x="15212" y="19166"/>
                </a:lnTo>
                <a:lnTo>
                  <a:pt x="15191" y="19082"/>
                </a:lnTo>
                <a:lnTo>
                  <a:pt x="15149" y="18915"/>
                </a:lnTo>
                <a:lnTo>
                  <a:pt x="15107" y="18748"/>
                </a:lnTo>
                <a:lnTo>
                  <a:pt x="15149" y="18685"/>
                </a:lnTo>
                <a:lnTo>
                  <a:pt x="15316" y="18664"/>
                </a:lnTo>
                <a:lnTo>
                  <a:pt x="15296" y="18559"/>
                </a:lnTo>
                <a:lnTo>
                  <a:pt x="15212" y="18497"/>
                </a:lnTo>
                <a:lnTo>
                  <a:pt x="15337" y="18476"/>
                </a:lnTo>
                <a:lnTo>
                  <a:pt x="15337" y="18371"/>
                </a:lnTo>
                <a:lnTo>
                  <a:pt x="15212" y="18308"/>
                </a:lnTo>
                <a:lnTo>
                  <a:pt x="15316" y="18287"/>
                </a:lnTo>
                <a:lnTo>
                  <a:pt x="15379" y="18183"/>
                </a:lnTo>
                <a:lnTo>
                  <a:pt x="15442" y="18245"/>
                </a:lnTo>
                <a:lnTo>
                  <a:pt x="15630" y="18057"/>
                </a:lnTo>
                <a:lnTo>
                  <a:pt x="15735" y="17973"/>
                </a:lnTo>
                <a:lnTo>
                  <a:pt x="15735" y="17932"/>
                </a:lnTo>
                <a:lnTo>
                  <a:pt x="15881" y="17785"/>
                </a:lnTo>
                <a:lnTo>
                  <a:pt x="16070" y="17681"/>
                </a:lnTo>
                <a:lnTo>
                  <a:pt x="16300" y="17429"/>
                </a:lnTo>
                <a:lnTo>
                  <a:pt x="16509" y="17409"/>
                </a:lnTo>
                <a:lnTo>
                  <a:pt x="16614" y="17304"/>
                </a:lnTo>
                <a:lnTo>
                  <a:pt x="16739" y="17199"/>
                </a:lnTo>
                <a:lnTo>
                  <a:pt x="16844" y="17199"/>
                </a:lnTo>
                <a:lnTo>
                  <a:pt x="16928" y="17241"/>
                </a:lnTo>
                <a:lnTo>
                  <a:pt x="17011" y="17283"/>
                </a:lnTo>
                <a:lnTo>
                  <a:pt x="17011" y="17199"/>
                </a:lnTo>
                <a:lnTo>
                  <a:pt x="17095" y="17032"/>
                </a:lnTo>
                <a:lnTo>
                  <a:pt x="17325" y="16885"/>
                </a:lnTo>
                <a:lnTo>
                  <a:pt x="17430" y="16865"/>
                </a:lnTo>
                <a:lnTo>
                  <a:pt x="17430" y="16802"/>
                </a:lnTo>
                <a:lnTo>
                  <a:pt x="17367" y="16781"/>
                </a:lnTo>
                <a:lnTo>
                  <a:pt x="17304" y="16739"/>
                </a:lnTo>
                <a:lnTo>
                  <a:pt x="17262" y="16676"/>
                </a:lnTo>
                <a:lnTo>
                  <a:pt x="17346" y="16634"/>
                </a:lnTo>
                <a:lnTo>
                  <a:pt x="17513" y="16572"/>
                </a:lnTo>
                <a:lnTo>
                  <a:pt x="17576" y="16593"/>
                </a:lnTo>
                <a:lnTo>
                  <a:pt x="17681" y="16593"/>
                </a:lnTo>
                <a:lnTo>
                  <a:pt x="17765" y="16530"/>
                </a:lnTo>
                <a:lnTo>
                  <a:pt x="17869" y="16530"/>
                </a:lnTo>
                <a:lnTo>
                  <a:pt x="17869" y="16593"/>
                </a:lnTo>
                <a:lnTo>
                  <a:pt x="17744" y="16676"/>
                </a:lnTo>
                <a:lnTo>
                  <a:pt x="17576" y="16697"/>
                </a:lnTo>
                <a:lnTo>
                  <a:pt x="17555" y="16718"/>
                </a:lnTo>
                <a:lnTo>
                  <a:pt x="17618" y="16739"/>
                </a:lnTo>
                <a:lnTo>
                  <a:pt x="17848" y="16676"/>
                </a:lnTo>
                <a:lnTo>
                  <a:pt x="18099" y="16572"/>
                </a:lnTo>
                <a:lnTo>
                  <a:pt x="18078" y="16509"/>
                </a:lnTo>
                <a:lnTo>
                  <a:pt x="18162" y="16467"/>
                </a:lnTo>
                <a:lnTo>
                  <a:pt x="18246" y="16467"/>
                </a:lnTo>
                <a:lnTo>
                  <a:pt x="18204" y="16509"/>
                </a:lnTo>
                <a:cubicBezTo>
                  <a:pt x="18204" y="16509"/>
                  <a:pt x="18204" y="16613"/>
                  <a:pt x="18246" y="16613"/>
                </a:cubicBezTo>
                <a:lnTo>
                  <a:pt x="18392" y="16634"/>
                </a:lnTo>
                <a:lnTo>
                  <a:pt x="18497" y="16593"/>
                </a:lnTo>
                <a:lnTo>
                  <a:pt x="18664" y="16593"/>
                </a:lnTo>
                <a:lnTo>
                  <a:pt x="18832" y="16613"/>
                </a:lnTo>
                <a:lnTo>
                  <a:pt x="18936" y="16551"/>
                </a:lnTo>
                <a:lnTo>
                  <a:pt x="18936" y="16488"/>
                </a:lnTo>
                <a:lnTo>
                  <a:pt x="18915" y="16467"/>
                </a:lnTo>
                <a:lnTo>
                  <a:pt x="18936" y="16404"/>
                </a:lnTo>
                <a:lnTo>
                  <a:pt x="19208" y="16237"/>
                </a:lnTo>
                <a:lnTo>
                  <a:pt x="19418" y="16153"/>
                </a:lnTo>
                <a:lnTo>
                  <a:pt x="19522" y="16069"/>
                </a:lnTo>
                <a:lnTo>
                  <a:pt x="19543" y="15986"/>
                </a:lnTo>
                <a:lnTo>
                  <a:pt x="19522" y="15944"/>
                </a:lnTo>
                <a:lnTo>
                  <a:pt x="19418" y="15735"/>
                </a:lnTo>
                <a:lnTo>
                  <a:pt x="19501" y="15567"/>
                </a:lnTo>
                <a:lnTo>
                  <a:pt x="19564" y="15463"/>
                </a:lnTo>
                <a:lnTo>
                  <a:pt x="19564" y="15358"/>
                </a:lnTo>
                <a:lnTo>
                  <a:pt x="19627" y="15316"/>
                </a:lnTo>
                <a:lnTo>
                  <a:pt x="19731" y="15232"/>
                </a:lnTo>
                <a:lnTo>
                  <a:pt x="19752" y="15128"/>
                </a:lnTo>
                <a:lnTo>
                  <a:pt x="19731" y="15107"/>
                </a:lnTo>
                <a:lnTo>
                  <a:pt x="19878" y="14835"/>
                </a:lnTo>
                <a:lnTo>
                  <a:pt x="20087" y="14584"/>
                </a:lnTo>
                <a:lnTo>
                  <a:pt x="20087" y="14479"/>
                </a:lnTo>
                <a:lnTo>
                  <a:pt x="20045" y="14103"/>
                </a:lnTo>
                <a:lnTo>
                  <a:pt x="20003" y="14082"/>
                </a:lnTo>
                <a:lnTo>
                  <a:pt x="20066" y="13872"/>
                </a:lnTo>
                <a:lnTo>
                  <a:pt x="20129" y="13789"/>
                </a:lnTo>
                <a:lnTo>
                  <a:pt x="20129" y="13726"/>
                </a:lnTo>
                <a:lnTo>
                  <a:pt x="20317" y="13580"/>
                </a:lnTo>
                <a:lnTo>
                  <a:pt x="20338" y="13496"/>
                </a:lnTo>
                <a:lnTo>
                  <a:pt x="20275" y="13287"/>
                </a:lnTo>
                <a:lnTo>
                  <a:pt x="20359" y="13036"/>
                </a:lnTo>
                <a:lnTo>
                  <a:pt x="20338" y="12826"/>
                </a:lnTo>
                <a:lnTo>
                  <a:pt x="20359" y="12659"/>
                </a:lnTo>
                <a:lnTo>
                  <a:pt x="20359" y="12596"/>
                </a:lnTo>
                <a:lnTo>
                  <a:pt x="20422" y="12387"/>
                </a:lnTo>
                <a:lnTo>
                  <a:pt x="20359" y="11592"/>
                </a:lnTo>
                <a:lnTo>
                  <a:pt x="20359" y="11445"/>
                </a:lnTo>
                <a:lnTo>
                  <a:pt x="20422" y="11341"/>
                </a:lnTo>
                <a:lnTo>
                  <a:pt x="20422" y="11236"/>
                </a:lnTo>
                <a:lnTo>
                  <a:pt x="20359" y="11278"/>
                </a:lnTo>
                <a:lnTo>
                  <a:pt x="20275" y="11194"/>
                </a:lnTo>
                <a:lnTo>
                  <a:pt x="20275" y="11131"/>
                </a:lnTo>
                <a:lnTo>
                  <a:pt x="20359" y="10985"/>
                </a:lnTo>
                <a:lnTo>
                  <a:pt x="20338" y="10859"/>
                </a:lnTo>
                <a:lnTo>
                  <a:pt x="20359" y="10776"/>
                </a:lnTo>
                <a:lnTo>
                  <a:pt x="20443" y="10755"/>
                </a:lnTo>
                <a:lnTo>
                  <a:pt x="20464" y="10629"/>
                </a:lnTo>
                <a:lnTo>
                  <a:pt x="20380" y="10504"/>
                </a:lnTo>
                <a:lnTo>
                  <a:pt x="20234" y="10420"/>
                </a:lnTo>
                <a:lnTo>
                  <a:pt x="20275" y="10399"/>
                </a:lnTo>
                <a:lnTo>
                  <a:pt x="20317" y="10336"/>
                </a:lnTo>
                <a:lnTo>
                  <a:pt x="20338" y="10399"/>
                </a:lnTo>
                <a:lnTo>
                  <a:pt x="20422" y="10441"/>
                </a:lnTo>
                <a:lnTo>
                  <a:pt x="20485" y="10462"/>
                </a:lnTo>
                <a:lnTo>
                  <a:pt x="20526" y="10336"/>
                </a:lnTo>
                <a:lnTo>
                  <a:pt x="20589" y="10336"/>
                </a:lnTo>
                <a:lnTo>
                  <a:pt x="20631" y="10420"/>
                </a:lnTo>
                <a:lnTo>
                  <a:pt x="20673" y="10441"/>
                </a:lnTo>
                <a:lnTo>
                  <a:pt x="20631" y="10525"/>
                </a:lnTo>
                <a:lnTo>
                  <a:pt x="20547" y="10567"/>
                </a:lnTo>
                <a:lnTo>
                  <a:pt x="20526" y="10650"/>
                </a:lnTo>
                <a:lnTo>
                  <a:pt x="20568" y="10650"/>
                </a:lnTo>
                <a:lnTo>
                  <a:pt x="20673" y="10546"/>
                </a:lnTo>
                <a:lnTo>
                  <a:pt x="20840" y="10462"/>
                </a:lnTo>
                <a:lnTo>
                  <a:pt x="21008" y="10190"/>
                </a:lnTo>
                <a:lnTo>
                  <a:pt x="21091" y="9981"/>
                </a:lnTo>
                <a:lnTo>
                  <a:pt x="21112" y="9834"/>
                </a:lnTo>
                <a:lnTo>
                  <a:pt x="21196" y="9771"/>
                </a:lnTo>
                <a:lnTo>
                  <a:pt x="21280" y="9562"/>
                </a:lnTo>
                <a:lnTo>
                  <a:pt x="21363" y="9374"/>
                </a:lnTo>
                <a:lnTo>
                  <a:pt x="21677" y="9165"/>
                </a:lnTo>
                <a:lnTo>
                  <a:pt x="21698" y="9060"/>
                </a:lnTo>
                <a:lnTo>
                  <a:pt x="21803" y="9039"/>
                </a:lnTo>
                <a:lnTo>
                  <a:pt x="21887" y="8934"/>
                </a:lnTo>
                <a:lnTo>
                  <a:pt x="22138" y="8683"/>
                </a:lnTo>
                <a:lnTo>
                  <a:pt x="22368" y="8370"/>
                </a:lnTo>
                <a:lnTo>
                  <a:pt x="22431" y="8307"/>
                </a:lnTo>
                <a:lnTo>
                  <a:pt x="22556" y="7993"/>
                </a:lnTo>
                <a:lnTo>
                  <a:pt x="22577" y="7846"/>
                </a:lnTo>
                <a:lnTo>
                  <a:pt x="22661" y="7742"/>
                </a:lnTo>
                <a:lnTo>
                  <a:pt x="22661" y="7637"/>
                </a:lnTo>
                <a:lnTo>
                  <a:pt x="22577" y="7533"/>
                </a:lnTo>
                <a:lnTo>
                  <a:pt x="22619" y="7449"/>
                </a:lnTo>
                <a:lnTo>
                  <a:pt x="22682" y="7449"/>
                </a:lnTo>
                <a:lnTo>
                  <a:pt x="22661" y="7156"/>
                </a:lnTo>
                <a:lnTo>
                  <a:pt x="22577" y="7093"/>
                </a:lnTo>
                <a:lnTo>
                  <a:pt x="22556" y="6968"/>
                </a:lnTo>
                <a:lnTo>
                  <a:pt x="22347" y="6528"/>
                </a:lnTo>
                <a:lnTo>
                  <a:pt x="22347" y="6361"/>
                </a:lnTo>
                <a:lnTo>
                  <a:pt x="22326" y="6193"/>
                </a:lnTo>
                <a:lnTo>
                  <a:pt x="21949" y="6026"/>
                </a:lnTo>
                <a:lnTo>
                  <a:pt x="21740" y="6026"/>
                </a:lnTo>
                <a:lnTo>
                  <a:pt x="21594" y="6110"/>
                </a:lnTo>
                <a:lnTo>
                  <a:pt x="21489" y="5942"/>
                </a:lnTo>
                <a:lnTo>
                  <a:pt x="21342" y="5921"/>
                </a:lnTo>
                <a:lnTo>
                  <a:pt x="21217" y="5796"/>
                </a:lnTo>
                <a:lnTo>
                  <a:pt x="21070" y="5712"/>
                </a:lnTo>
                <a:lnTo>
                  <a:pt x="20966" y="5691"/>
                </a:lnTo>
                <a:lnTo>
                  <a:pt x="20694" y="5398"/>
                </a:lnTo>
                <a:lnTo>
                  <a:pt x="20485" y="5105"/>
                </a:lnTo>
                <a:lnTo>
                  <a:pt x="20380" y="5085"/>
                </a:lnTo>
                <a:lnTo>
                  <a:pt x="20254" y="4959"/>
                </a:lnTo>
                <a:lnTo>
                  <a:pt x="20129" y="4959"/>
                </a:lnTo>
                <a:lnTo>
                  <a:pt x="19773" y="4687"/>
                </a:lnTo>
                <a:lnTo>
                  <a:pt x="19627" y="4687"/>
                </a:lnTo>
                <a:lnTo>
                  <a:pt x="19438" y="4603"/>
                </a:lnTo>
                <a:lnTo>
                  <a:pt x="19334" y="4666"/>
                </a:lnTo>
                <a:lnTo>
                  <a:pt x="19187" y="4666"/>
                </a:lnTo>
                <a:lnTo>
                  <a:pt x="19083" y="4603"/>
                </a:lnTo>
                <a:lnTo>
                  <a:pt x="18978" y="4666"/>
                </a:lnTo>
                <a:lnTo>
                  <a:pt x="18915" y="4750"/>
                </a:lnTo>
                <a:lnTo>
                  <a:pt x="18832" y="4666"/>
                </a:lnTo>
                <a:lnTo>
                  <a:pt x="18685" y="4561"/>
                </a:lnTo>
                <a:lnTo>
                  <a:pt x="18685" y="4666"/>
                </a:lnTo>
                <a:lnTo>
                  <a:pt x="18602" y="4624"/>
                </a:lnTo>
                <a:lnTo>
                  <a:pt x="18581" y="4687"/>
                </a:lnTo>
                <a:lnTo>
                  <a:pt x="18581" y="4750"/>
                </a:lnTo>
                <a:lnTo>
                  <a:pt x="18476" y="4666"/>
                </a:lnTo>
                <a:lnTo>
                  <a:pt x="18455" y="4624"/>
                </a:lnTo>
                <a:lnTo>
                  <a:pt x="18371" y="4582"/>
                </a:lnTo>
                <a:lnTo>
                  <a:pt x="18371" y="4582"/>
                </a:lnTo>
                <a:lnTo>
                  <a:pt x="18392" y="4645"/>
                </a:lnTo>
                <a:lnTo>
                  <a:pt x="18371" y="4666"/>
                </a:lnTo>
                <a:lnTo>
                  <a:pt x="18183" y="4582"/>
                </a:lnTo>
                <a:lnTo>
                  <a:pt x="18141" y="4582"/>
                </a:lnTo>
                <a:lnTo>
                  <a:pt x="17995" y="4561"/>
                </a:lnTo>
                <a:lnTo>
                  <a:pt x="17702" y="4394"/>
                </a:lnTo>
                <a:lnTo>
                  <a:pt x="17555" y="4394"/>
                </a:lnTo>
                <a:lnTo>
                  <a:pt x="17555" y="4436"/>
                </a:lnTo>
                <a:lnTo>
                  <a:pt x="17597" y="4478"/>
                </a:lnTo>
                <a:lnTo>
                  <a:pt x="17555" y="4520"/>
                </a:lnTo>
                <a:lnTo>
                  <a:pt x="17472" y="4478"/>
                </a:lnTo>
                <a:lnTo>
                  <a:pt x="17451" y="4520"/>
                </a:lnTo>
                <a:lnTo>
                  <a:pt x="17430" y="4561"/>
                </a:lnTo>
                <a:lnTo>
                  <a:pt x="17325" y="4603"/>
                </a:lnTo>
                <a:lnTo>
                  <a:pt x="17262" y="4666"/>
                </a:lnTo>
                <a:lnTo>
                  <a:pt x="17241" y="4792"/>
                </a:lnTo>
                <a:lnTo>
                  <a:pt x="17200" y="4687"/>
                </a:lnTo>
                <a:lnTo>
                  <a:pt x="17158" y="4603"/>
                </a:lnTo>
                <a:lnTo>
                  <a:pt x="17116" y="4645"/>
                </a:lnTo>
                <a:lnTo>
                  <a:pt x="17116" y="4750"/>
                </a:lnTo>
                <a:lnTo>
                  <a:pt x="17011" y="4917"/>
                </a:lnTo>
                <a:lnTo>
                  <a:pt x="17011" y="5085"/>
                </a:lnTo>
                <a:lnTo>
                  <a:pt x="16990" y="4917"/>
                </a:lnTo>
                <a:lnTo>
                  <a:pt x="17011" y="4771"/>
                </a:lnTo>
                <a:lnTo>
                  <a:pt x="16990" y="4645"/>
                </a:lnTo>
                <a:lnTo>
                  <a:pt x="17032" y="4457"/>
                </a:lnTo>
                <a:lnTo>
                  <a:pt x="17095" y="4394"/>
                </a:lnTo>
                <a:lnTo>
                  <a:pt x="17032" y="4373"/>
                </a:lnTo>
                <a:lnTo>
                  <a:pt x="16928" y="4373"/>
                </a:lnTo>
                <a:lnTo>
                  <a:pt x="17053" y="4248"/>
                </a:lnTo>
                <a:lnTo>
                  <a:pt x="16907" y="4059"/>
                </a:lnTo>
                <a:lnTo>
                  <a:pt x="16823" y="3913"/>
                </a:lnTo>
                <a:lnTo>
                  <a:pt x="16739" y="3913"/>
                </a:lnTo>
                <a:lnTo>
                  <a:pt x="16614" y="3871"/>
                </a:lnTo>
                <a:lnTo>
                  <a:pt x="16530" y="3976"/>
                </a:lnTo>
                <a:lnTo>
                  <a:pt x="16467" y="4017"/>
                </a:lnTo>
                <a:lnTo>
                  <a:pt x="16425" y="3934"/>
                </a:lnTo>
                <a:lnTo>
                  <a:pt x="16384" y="3913"/>
                </a:lnTo>
                <a:lnTo>
                  <a:pt x="16363" y="3829"/>
                </a:lnTo>
                <a:lnTo>
                  <a:pt x="16279" y="3766"/>
                </a:lnTo>
                <a:lnTo>
                  <a:pt x="16195" y="3766"/>
                </a:lnTo>
                <a:lnTo>
                  <a:pt x="16153" y="3724"/>
                </a:lnTo>
                <a:lnTo>
                  <a:pt x="16070" y="3704"/>
                </a:lnTo>
                <a:lnTo>
                  <a:pt x="16007" y="3745"/>
                </a:lnTo>
                <a:lnTo>
                  <a:pt x="16007" y="3704"/>
                </a:lnTo>
                <a:lnTo>
                  <a:pt x="15965" y="3662"/>
                </a:lnTo>
                <a:lnTo>
                  <a:pt x="15902" y="3599"/>
                </a:lnTo>
                <a:lnTo>
                  <a:pt x="15840" y="3620"/>
                </a:lnTo>
                <a:lnTo>
                  <a:pt x="15693" y="3599"/>
                </a:lnTo>
                <a:lnTo>
                  <a:pt x="15526" y="3494"/>
                </a:lnTo>
                <a:lnTo>
                  <a:pt x="15463" y="3494"/>
                </a:lnTo>
                <a:lnTo>
                  <a:pt x="15442" y="3536"/>
                </a:lnTo>
                <a:lnTo>
                  <a:pt x="15337" y="3452"/>
                </a:lnTo>
                <a:lnTo>
                  <a:pt x="15254" y="3452"/>
                </a:lnTo>
                <a:lnTo>
                  <a:pt x="15233" y="3536"/>
                </a:lnTo>
                <a:lnTo>
                  <a:pt x="15170" y="3536"/>
                </a:lnTo>
                <a:lnTo>
                  <a:pt x="15149" y="3452"/>
                </a:lnTo>
                <a:lnTo>
                  <a:pt x="15024" y="3452"/>
                </a:lnTo>
                <a:lnTo>
                  <a:pt x="14919" y="3515"/>
                </a:lnTo>
                <a:lnTo>
                  <a:pt x="14856" y="3620"/>
                </a:lnTo>
                <a:lnTo>
                  <a:pt x="14856" y="3704"/>
                </a:lnTo>
                <a:lnTo>
                  <a:pt x="14731" y="3829"/>
                </a:lnTo>
                <a:lnTo>
                  <a:pt x="14584" y="3934"/>
                </a:lnTo>
                <a:lnTo>
                  <a:pt x="14375" y="4059"/>
                </a:lnTo>
                <a:lnTo>
                  <a:pt x="14270" y="4185"/>
                </a:lnTo>
                <a:lnTo>
                  <a:pt x="14208" y="4352"/>
                </a:lnTo>
                <a:lnTo>
                  <a:pt x="14187" y="4499"/>
                </a:lnTo>
                <a:lnTo>
                  <a:pt x="14124" y="4582"/>
                </a:lnTo>
                <a:lnTo>
                  <a:pt x="14019" y="4687"/>
                </a:lnTo>
                <a:lnTo>
                  <a:pt x="14019" y="4771"/>
                </a:lnTo>
                <a:lnTo>
                  <a:pt x="14061" y="4896"/>
                </a:lnTo>
                <a:lnTo>
                  <a:pt x="14019" y="5105"/>
                </a:lnTo>
                <a:lnTo>
                  <a:pt x="13998" y="4980"/>
                </a:lnTo>
                <a:lnTo>
                  <a:pt x="13915" y="4854"/>
                </a:lnTo>
                <a:lnTo>
                  <a:pt x="13915" y="4750"/>
                </a:lnTo>
                <a:lnTo>
                  <a:pt x="13998" y="4645"/>
                </a:lnTo>
                <a:lnTo>
                  <a:pt x="14103" y="4561"/>
                </a:lnTo>
                <a:lnTo>
                  <a:pt x="14082" y="4394"/>
                </a:lnTo>
                <a:lnTo>
                  <a:pt x="14124" y="4269"/>
                </a:lnTo>
                <a:lnTo>
                  <a:pt x="14124" y="4185"/>
                </a:lnTo>
                <a:lnTo>
                  <a:pt x="14061" y="4185"/>
                </a:lnTo>
                <a:lnTo>
                  <a:pt x="13915" y="4248"/>
                </a:lnTo>
                <a:lnTo>
                  <a:pt x="13768" y="4185"/>
                </a:lnTo>
                <a:lnTo>
                  <a:pt x="13643" y="4185"/>
                </a:lnTo>
                <a:lnTo>
                  <a:pt x="13538" y="4227"/>
                </a:lnTo>
                <a:lnTo>
                  <a:pt x="13454" y="4164"/>
                </a:lnTo>
                <a:lnTo>
                  <a:pt x="13538" y="4164"/>
                </a:lnTo>
                <a:lnTo>
                  <a:pt x="13643" y="4080"/>
                </a:lnTo>
                <a:lnTo>
                  <a:pt x="13747" y="4059"/>
                </a:lnTo>
                <a:lnTo>
                  <a:pt x="13915" y="4080"/>
                </a:lnTo>
                <a:lnTo>
                  <a:pt x="14019" y="4059"/>
                </a:lnTo>
                <a:lnTo>
                  <a:pt x="14103" y="3955"/>
                </a:lnTo>
                <a:lnTo>
                  <a:pt x="14166" y="3955"/>
                </a:lnTo>
                <a:lnTo>
                  <a:pt x="14208" y="4017"/>
                </a:lnTo>
                <a:lnTo>
                  <a:pt x="14270" y="3976"/>
                </a:lnTo>
                <a:lnTo>
                  <a:pt x="14375" y="3934"/>
                </a:lnTo>
                <a:lnTo>
                  <a:pt x="14521" y="3871"/>
                </a:lnTo>
                <a:lnTo>
                  <a:pt x="14521" y="3745"/>
                </a:lnTo>
                <a:lnTo>
                  <a:pt x="14689" y="3557"/>
                </a:lnTo>
                <a:lnTo>
                  <a:pt x="14689" y="3432"/>
                </a:lnTo>
                <a:lnTo>
                  <a:pt x="14731" y="3348"/>
                </a:lnTo>
                <a:lnTo>
                  <a:pt x="14731" y="3243"/>
                </a:lnTo>
                <a:lnTo>
                  <a:pt x="14584" y="3222"/>
                </a:lnTo>
                <a:lnTo>
                  <a:pt x="14438" y="3118"/>
                </a:lnTo>
                <a:lnTo>
                  <a:pt x="14333" y="3118"/>
                </a:lnTo>
                <a:lnTo>
                  <a:pt x="14187" y="3222"/>
                </a:lnTo>
                <a:lnTo>
                  <a:pt x="14061" y="3222"/>
                </a:lnTo>
                <a:lnTo>
                  <a:pt x="13852" y="3139"/>
                </a:lnTo>
                <a:lnTo>
                  <a:pt x="13643" y="3118"/>
                </a:lnTo>
                <a:lnTo>
                  <a:pt x="13475" y="3285"/>
                </a:lnTo>
                <a:lnTo>
                  <a:pt x="13475" y="3348"/>
                </a:lnTo>
                <a:lnTo>
                  <a:pt x="13538" y="3390"/>
                </a:lnTo>
                <a:lnTo>
                  <a:pt x="13559" y="3432"/>
                </a:lnTo>
                <a:lnTo>
                  <a:pt x="13475" y="3432"/>
                </a:lnTo>
                <a:lnTo>
                  <a:pt x="13433" y="3452"/>
                </a:lnTo>
                <a:lnTo>
                  <a:pt x="13371" y="3557"/>
                </a:lnTo>
                <a:lnTo>
                  <a:pt x="13350" y="3494"/>
                </a:lnTo>
                <a:lnTo>
                  <a:pt x="13287" y="3452"/>
                </a:lnTo>
                <a:lnTo>
                  <a:pt x="13161" y="3515"/>
                </a:lnTo>
                <a:lnTo>
                  <a:pt x="13036" y="3704"/>
                </a:lnTo>
                <a:lnTo>
                  <a:pt x="12848" y="3913"/>
                </a:lnTo>
                <a:lnTo>
                  <a:pt x="12973" y="3724"/>
                </a:lnTo>
                <a:lnTo>
                  <a:pt x="12973" y="3599"/>
                </a:lnTo>
                <a:lnTo>
                  <a:pt x="13015" y="3515"/>
                </a:lnTo>
                <a:lnTo>
                  <a:pt x="13015" y="3432"/>
                </a:lnTo>
                <a:lnTo>
                  <a:pt x="12952" y="3432"/>
                </a:lnTo>
                <a:lnTo>
                  <a:pt x="12848" y="3536"/>
                </a:lnTo>
                <a:lnTo>
                  <a:pt x="12806" y="3662"/>
                </a:lnTo>
                <a:lnTo>
                  <a:pt x="12743" y="3829"/>
                </a:lnTo>
                <a:lnTo>
                  <a:pt x="12638" y="3871"/>
                </a:lnTo>
                <a:lnTo>
                  <a:pt x="12722" y="3704"/>
                </a:lnTo>
                <a:lnTo>
                  <a:pt x="12743" y="3557"/>
                </a:lnTo>
                <a:lnTo>
                  <a:pt x="12952" y="3306"/>
                </a:lnTo>
                <a:lnTo>
                  <a:pt x="13015" y="3118"/>
                </a:lnTo>
                <a:lnTo>
                  <a:pt x="13078" y="3013"/>
                </a:lnTo>
                <a:lnTo>
                  <a:pt x="13182" y="2971"/>
                </a:lnTo>
                <a:lnTo>
                  <a:pt x="13329" y="2888"/>
                </a:lnTo>
                <a:lnTo>
                  <a:pt x="13392" y="2867"/>
                </a:lnTo>
                <a:lnTo>
                  <a:pt x="13496" y="2699"/>
                </a:lnTo>
                <a:lnTo>
                  <a:pt x="13768" y="2448"/>
                </a:lnTo>
                <a:lnTo>
                  <a:pt x="13789" y="2364"/>
                </a:lnTo>
                <a:lnTo>
                  <a:pt x="13852" y="2302"/>
                </a:lnTo>
                <a:lnTo>
                  <a:pt x="13789" y="2239"/>
                </a:lnTo>
                <a:lnTo>
                  <a:pt x="13810" y="2155"/>
                </a:lnTo>
                <a:lnTo>
                  <a:pt x="13852" y="2134"/>
                </a:lnTo>
                <a:lnTo>
                  <a:pt x="13852" y="2030"/>
                </a:lnTo>
                <a:lnTo>
                  <a:pt x="13747" y="1946"/>
                </a:lnTo>
                <a:lnTo>
                  <a:pt x="13601" y="1946"/>
                </a:lnTo>
                <a:lnTo>
                  <a:pt x="13580" y="1988"/>
                </a:lnTo>
                <a:lnTo>
                  <a:pt x="13538" y="1883"/>
                </a:lnTo>
                <a:lnTo>
                  <a:pt x="13454" y="1674"/>
                </a:lnTo>
                <a:lnTo>
                  <a:pt x="13329" y="1360"/>
                </a:lnTo>
                <a:lnTo>
                  <a:pt x="13224" y="1214"/>
                </a:lnTo>
                <a:lnTo>
                  <a:pt x="13140" y="1004"/>
                </a:lnTo>
                <a:lnTo>
                  <a:pt x="13140" y="879"/>
                </a:lnTo>
                <a:lnTo>
                  <a:pt x="13120" y="732"/>
                </a:lnTo>
                <a:lnTo>
                  <a:pt x="13057" y="691"/>
                </a:lnTo>
                <a:lnTo>
                  <a:pt x="13036" y="586"/>
                </a:lnTo>
                <a:lnTo>
                  <a:pt x="12952" y="460"/>
                </a:lnTo>
                <a:lnTo>
                  <a:pt x="12931" y="481"/>
                </a:lnTo>
                <a:lnTo>
                  <a:pt x="12931" y="565"/>
                </a:lnTo>
                <a:lnTo>
                  <a:pt x="12868" y="628"/>
                </a:lnTo>
                <a:lnTo>
                  <a:pt x="12743" y="711"/>
                </a:lnTo>
                <a:lnTo>
                  <a:pt x="12701" y="795"/>
                </a:lnTo>
                <a:lnTo>
                  <a:pt x="12555" y="984"/>
                </a:lnTo>
                <a:lnTo>
                  <a:pt x="12408" y="1151"/>
                </a:lnTo>
                <a:lnTo>
                  <a:pt x="12408" y="1256"/>
                </a:lnTo>
                <a:lnTo>
                  <a:pt x="12303" y="1507"/>
                </a:lnTo>
                <a:lnTo>
                  <a:pt x="12199" y="1653"/>
                </a:lnTo>
                <a:lnTo>
                  <a:pt x="12115" y="1779"/>
                </a:lnTo>
                <a:lnTo>
                  <a:pt x="12011" y="1820"/>
                </a:lnTo>
                <a:lnTo>
                  <a:pt x="11969" y="1862"/>
                </a:lnTo>
                <a:lnTo>
                  <a:pt x="11927" y="1967"/>
                </a:lnTo>
                <a:lnTo>
                  <a:pt x="11822" y="2051"/>
                </a:lnTo>
                <a:lnTo>
                  <a:pt x="11759" y="2030"/>
                </a:lnTo>
                <a:lnTo>
                  <a:pt x="11759" y="1862"/>
                </a:lnTo>
                <a:lnTo>
                  <a:pt x="11697" y="1841"/>
                </a:lnTo>
                <a:lnTo>
                  <a:pt x="11676" y="1779"/>
                </a:lnTo>
                <a:lnTo>
                  <a:pt x="11613" y="1779"/>
                </a:lnTo>
                <a:lnTo>
                  <a:pt x="11550" y="1820"/>
                </a:lnTo>
                <a:lnTo>
                  <a:pt x="11487" y="1883"/>
                </a:lnTo>
                <a:lnTo>
                  <a:pt x="11383" y="1862"/>
                </a:lnTo>
                <a:lnTo>
                  <a:pt x="11299" y="1779"/>
                </a:lnTo>
                <a:lnTo>
                  <a:pt x="11299" y="1737"/>
                </a:lnTo>
                <a:lnTo>
                  <a:pt x="11278" y="1716"/>
                </a:lnTo>
                <a:lnTo>
                  <a:pt x="11257" y="1611"/>
                </a:lnTo>
                <a:lnTo>
                  <a:pt x="11236" y="1548"/>
                </a:lnTo>
                <a:lnTo>
                  <a:pt x="11153" y="1528"/>
                </a:lnTo>
                <a:lnTo>
                  <a:pt x="11048" y="1423"/>
                </a:lnTo>
                <a:lnTo>
                  <a:pt x="10881" y="1423"/>
                </a:lnTo>
                <a:lnTo>
                  <a:pt x="10776" y="1465"/>
                </a:lnTo>
                <a:lnTo>
                  <a:pt x="10546" y="1465"/>
                </a:lnTo>
                <a:lnTo>
                  <a:pt x="10420" y="1444"/>
                </a:lnTo>
                <a:lnTo>
                  <a:pt x="10316" y="1528"/>
                </a:lnTo>
                <a:lnTo>
                  <a:pt x="10295" y="1632"/>
                </a:lnTo>
                <a:lnTo>
                  <a:pt x="10399" y="1737"/>
                </a:lnTo>
                <a:lnTo>
                  <a:pt x="10420" y="1820"/>
                </a:lnTo>
                <a:lnTo>
                  <a:pt x="10462" y="1946"/>
                </a:lnTo>
                <a:lnTo>
                  <a:pt x="10441" y="1988"/>
                </a:lnTo>
                <a:lnTo>
                  <a:pt x="10337" y="1988"/>
                </a:lnTo>
                <a:lnTo>
                  <a:pt x="10190" y="1946"/>
                </a:lnTo>
                <a:lnTo>
                  <a:pt x="10148" y="1925"/>
                </a:lnTo>
                <a:lnTo>
                  <a:pt x="9918" y="1925"/>
                </a:lnTo>
                <a:lnTo>
                  <a:pt x="9814" y="1946"/>
                </a:lnTo>
                <a:lnTo>
                  <a:pt x="9772" y="1883"/>
                </a:lnTo>
                <a:lnTo>
                  <a:pt x="9604" y="1883"/>
                </a:lnTo>
                <a:lnTo>
                  <a:pt x="9479" y="1946"/>
                </a:lnTo>
                <a:lnTo>
                  <a:pt x="9395" y="2134"/>
                </a:lnTo>
                <a:lnTo>
                  <a:pt x="9165" y="2134"/>
                </a:lnTo>
                <a:lnTo>
                  <a:pt x="9039" y="2155"/>
                </a:lnTo>
                <a:lnTo>
                  <a:pt x="8998" y="2197"/>
                </a:lnTo>
                <a:lnTo>
                  <a:pt x="8935" y="2302"/>
                </a:lnTo>
                <a:lnTo>
                  <a:pt x="8788" y="2302"/>
                </a:lnTo>
                <a:lnTo>
                  <a:pt x="8767" y="2281"/>
                </a:lnTo>
                <a:lnTo>
                  <a:pt x="8684" y="2302"/>
                </a:lnTo>
                <a:lnTo>
                  <a:pt x="8621" y="2385"/>
                </a:lnTo>
                <a:lnTo>
                  <a:pt x="8537" y="2364"/>
                </a:lnTo>
                <a:lnTo>
                  <a:pt x="8307" y="2176"/>
                </a:lnTo>
                <a:lnTo>
                  <a:pt x="8223" y="2072"/>
                </a:lnTo>
                <a:lnTo>
                  <a:pt x="8223" y="1988"/>
                </a:lnTo>
                <a:lnTo>
                  <a:pt x="8098" y="1862"/>
                </a:lnTo>
                <a:lnTo>
                  <a:pt x="7993" y="1758"/>
                </a:lnTo>
                <a:lnTo>
                  <a:pt x="7993" y="1653"/>
                </a:lnTo>
                <a:lnTo>
                  <a:pt x="8014" y="1569"/>
                </a:lnTo>
                <a:lnTo>
                  <a:pt x="7993" y="1528"/>
                </a:lnTo>
                <a:lnTo>
                  <a:pt x="8014" y="1423"/>
                </a:lnTo>
                <a:lnTo>
                  <a:pt x="8056" y="1339"/>
                </a:lnTo>
                <a:lnTo>
                  <a:pt x="8056" y="1214"/>
                </a:lnTo>
                <a:lnTo>
                  <a:pt x="8161" y="1025"/>
                </a:lnTo>
                <a:lnTo>
                  <a:pt x="8202" y="879"/>
                </a:lnTo>
                <a:lnTo>
                  <a:pt x="8307" y="732"/>
                </a:lnTo>
                <a:lnTo>
                  <a:pt x="8307" y="691"/>
                </a:lnTo>
                <a:lnTo>
                  <a:pt x="8202" y="691"/>
                </a:lnTo>
                <a:lnTo>
                  <a:pt x="8140" y="607"/>
                </a:lnTo>
                <a:lnTo>
                  <a:pt x="8119" y="523"/>
                </a:lnTo>
                <a:lnTo>
                  <a:pt x="7993" y="523"/>
                </a:lnTo>
                <a:lnTo>
                  <a:pt x="7889" y="481"/>
                </a:lnTo>
                <a:lnTo>
                  <a:pt x="7930" y="398"/>
                </a:lnTo>
                <a:lnTo>
                  <a:pt x="8014" y="293"/>
                </a:lnTo>
                <a:lnTo>
                  <a:pt x="8014" y="147"/>
                </a:lnTo>
                <a:lnTo>
                  <a:pt x="7910" y="0"/>
                </a:lnTo>
                <a:lnTo>
                  <a:pt x="7784" y="0"/>
                </a:lnTo>
                <a:lnTo>
                  <a:pt x="7721" y="63"/>
                </a:lnTo>
                <a:lnTo>
                  <a:pt x="7679" y="0"/>
                </a:lnTo>
                <a:close/>
              </a:path>
            </a:pathLst>
          </a:custGeom>
          <a:solidFill>
            <a:srgbClr val="28396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6B65"/>
              </a:solidFill>
            </a:endParaRPr>
          </a:p>
        </p:txBody>
      </p:sp>
      <p:sp>
        <p:nvSpPr>
          <p:cNvPr id="50" name="Espaço Reservado para Número de Slide 49">
            <a:extLst>
              <a:ext uri="{FF2B5EF4-FFF2-40B4-BE49-F238E27FC236}">
                <a16:creationId xmlns:a16="http://schemas.microsoft.com/office/drawing/2014/main" id="{22015DF2-CB5B-A32E-C172-933B0CAC0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903301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99D2E8-49EA-141E-03A5-60E3FE50DF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7545" y="123558"/>
            <a:ext cx="5636455" cy="333422"/>
          </a:xfrm>
        </p:spPr>
        <p:txBody>
          <a:bodyPr>
            <a:normAutofit fontScale="90000"/>
          </a:bodyPr>
          <a:lstStyle/>
          <a:p>
            <a:r>
              <a:rPr lang="pt-BR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Ciclo de Crédito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C268067-3A12-D500-E4B6-BE78DF6C98FE}"/>
              </a:ext>
            </a:extLst>
          </p:cNvPr>
          <p:cNvSpPr/>
          <p:nvPr/>
        </p:nvSpPr>
        <p:spPr>
          <a:xfrm>
            <a:off x="1756662" y="1557348"/>
            <a:ext cx="2574388" cy="102694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1) Captação</a:t>
            </a:r>
            <a:r>
              <a:rPr lang="pt-BR" dirty="0">
                <a:solidFill>
                  <a:srgbClr val="C00000"/>
                </a:solidFill>
              </a:rPr>
              <a:t> </a:t>
            </a:r>
            <a:endParaRPr lang="pt-BR" dirty="0">
              <a:solidFill>
                <a:srgbClr val="EC0000"/>
              </a:solidFill>
            </a:endParaRP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71946176-A0D6-E626-0F36-DF82547CD96E}"/>
              </a:ext>
            </a:extLst>
          </p:cNvPr>
          <p:cNvSpPr/>
          <p:nvPr/>
        </p:nvSpPr>
        <p:spPr>
          <a:xfrm>
            <a:off x="5005753" y="530407"/>
            <a:ext cx="2574388" cy="102694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2) Segmentação</a:t>
            </a:r>
            <a:r>
              <a:rPr lang="pt-BR" dirty="0">
                <a:solidFill>
                  <a:srgbClr val="C00000"/>
                </a:solidFill>
              </a:rPr>
              <a:t> </a:t>
            </a:r>
            <a:endParaRPr lang="pt-BR" dirty="0">
              <a:solidFill>
                <a:srgbClr val="EC0000"/>
              </a:solidFill>
            </a:endParaRP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1A20793B-0663-2C79-A9B8-E4834D080B16}"/>
              </a:ext>
            </a:extLst>
          </p:cNvPr>
          <p:cNvSpPr/>
          <p:nvPr/>
        </p:nvSpPr>
        <p:spPr>
          <a:xfrm>
            <a:off x="8154596" y="1557348"/>
            <a:ext cx="2574388" cy="102694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3) Valoração</a:t>
            </a:r>
            <a:r>
              <a:rPr lang="pt-BR" dirty="0">
                <a:solidFill>
                  <a:srgbClr val="C00000"/>
                </a:solidFill>
              </a:rPr>
              <a:t> </a:t>
            </a:r>
            <a:endParaRPr lang="pt-BR" dirty="0">
              <a:solidFill>
                <a:srgbClr val="EC0000"/>
              </a:solidFill>
            </a:endParaRP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7B44CAC2-894D-208A-F18C-1906D5821EC5}"/>
              </a:ext>
            </a:extLst>
          </p:cNvPr>
          <p:cNvSpPr/>
          <p:nvPr/>
        </p:nvSpPr>
        <p:spPr>
          <a:xfrm>
            <a:off x="8154596" y="4243662"/>
            <a:ext cx="2574388" cy="102694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4) Manutenção</a:t>
            </a:r>
            <a:r>
              <a:rPr lang="pt-BR" dirty="0">
                <a:solidFill>
                  <a:srgbClr val="C00000"/>
                </a:solidFill>
              </a:rPr>
              <a:t> </a:t>
            </a:r>
            <a:endParaRPr lang="pt-BR" dirty="0">
              <a:solidFill>
                <a:srgbClr val="EC0000"/>
              </a:solidFill>
            </a:endParaRP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B5CD6366-2CC0-CC1B-4847-9A877C4FFDE7}"/>
              </a:ext>
            </a:extLst>
          </p:cNvPr>
          <p:cNvSpPr/>
          <p:nvPr/>
        </p:nvSpPr>
        <p:spPr>
          <a:xfrm>
            <a:off x="1756662" y="4270944"/>
            <a:ext cx="2574388" cy="102694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6) Recuperação</a:t>
            </a:r>
            <a:r>
              <a:rPr lang="pt-BR" dirty="0">
                <a:solidFill>
                  <a:srgbClr val="C00000"/>
                </a:solidFill>
              </a:rPr>
              <a:t> </a:t>
            </a:r>
            <a:endParaRPr lang="pt-BR" dirty="0">
              <a:solidFill>
                <a:srgbClr val="EC0000"/>
              </a:solidFill>
            </a:endParaRP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B925D99B-1CF7-F679-E480-9A94715216CF}"/>
              </a:ext>
            </a:extLst>
          </p:cNvPr>
          <p:cNvSpPr/>
          <p:nvPr/>
        </p:nvSpPr>
        <p:spPr>
          <a:xfrm>
            <a:off x="5038578" y="2915529"/>
            <a:ext cx="2574388" cy="102694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Gestão de Riscos</a:t>
            </a:r>
            <a:r>
              <a:rPr lang="pt-BR" dirty="0">
                <a:solidFill>
                  <a:srgbClr val="C00000"/>
                </a:solidFill>
              </a:rPr>
              <a:t> </a:t>
            </a:r>
            <a:endParaRPr lang="pt-BR" dirty="0">
              <a:solidFill>
                <a:srgbClr val="EC0000"/>
              </a:solidFill>
            </a:endParaRP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294D2C39-40B8-288C-9ACF-D1984CD2BBC2}"/>
              </a:ext>
            </a:extLst>
          </p:cNvPr>
          <p:cNvSpPr/>
          <p:nvPr/>
        </p:nvSpPr>
        <p:spPr>
          <a:xfrm>
            <a:off x="4955629" y="5200230"/>
            <a:ext cx="2574388" cy="102694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5) Cobrança</a:t>
            </a:r>
            <a:endParaRPr lang="pt-BR" dirty="0">
              <a:solidFill>
                <a:srgbClr val="EC0000"/>
              </a:solidFill>
            </a:endParaRPr>
          </a:p>
        </p:txBody>
      </p:sp>
      <p:sp>
        <p:nvSpPr>
          <p:cNvPr id="22" name="Seta: para Baixo 21">
            <a:extLst>
              <a:ext uri="{FF2B5EF4-FFF2-40B4-BE49-F238E27FC236}">
                <a16:creationId xmlns:a16="http://schemas.microsoft.com/office/drawing/2014/main" id="{D5ED0A32-4382-9E5F-3C47-C0B79E509ADC}"/>
              </a:ext>
            </a:extLst>
          </p:cNvPr>
          <p:cNvSpPr/>
          <p:nvPr/>
        </p:nvSpPr>
        <p:spPr>
          <a:xfrm>
            <a:off x="9441790" y="2915529"/>
            <a:ext cx="323647" cy="1026941"/>
          </a:xfrm>
          <a:prstGeom prst="downArrow">
            <a:avLst/>
          </a:prstGeom>
          <a:ln w="57150"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Seta: para Baixo 22">
            <a:extLst>
              <a:ext uri="{FF2B5EF4-FFF2-40B4-BE49-F238E27FC236}">
                <a16:creationId xmlns:a16="http://schemas.microsoft.com/office/drawing/2014/main" id="{C84A582A-2AF7-9885-37E3-99EB36ED96B5}"/>
              </a:ext>
            </a:extLst>
          </p:cNvPr>
          <p:cNvSpPr/>
          <p:nvPr/>
        </p:nvSpPr>
        <p:spPr>
          <a:xfrm flipV="1">
            <a:off x="2776063" y="2915527"/>
            <a:ext cx="339999" cy="1026941"/>
          </a:xfrm>
          <a:prstGeom prst="downArrow">
            <a:avLst/>
          </a:prstGeom>
          <a:ln w="57150"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Seta: Dobrada 23">
            <a:extLst>
              <a:ext uri="{FF2B5EF4-FFF2-40B4-BE49-F238E27FC236}">
                <a16:creationId xmlns:a16="http://schemas.microsoft.com/office/drawing/2014/main" id="{6AE69DD7-EF3A-2C33-AE49-77224DCD9848}"/>
              </a:ext>
            </a:extLst>
          </p:cNvPr>
          <p:cNvSpPr/>
          <p:nvPr/>
        </p:nvSpPr>
        <p:spPr>
          <a:xfrm>
            <a:off x="2961931" y="858881"/>
            <a:ext cx="1537416" cy="469082"/>
          </a:xfrm>
          <a:prstGeom prst="bentArrow">
            <a:avLst>
              <a:gd name="adj1" fmla="val 25000"/>
              <a:gd name="adj2" fmla="val 23437"/>
              <a:gd name="adj3" fmla="val 25000"/>
              <a:gd name="adj4" fmla="val 43750"/>
            </a:avLst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28" name="Seta: Dobrada 27">
            <a:extLst>
              <a:ext uri="{FF2B5EF4-FFF2-40B4-BE49-F238E27FC236}">
                <a16:creationId xmlns:a16="http://schemas.microsoft.com/office/drawing/2014/main" id="{949559AE-2141-1728-566A-2830DA4E3482}"/>
              </a:ext>
            </a:extLst>
          </p:cNvPr>
          <p:cNvSpPr/>
          <p:nvPr/>
        </p:nvSpPr>
        <p:spPr>
          <a:xfrm rot="5400000">
            <a:off x="8672264" y="387535"/>
            <a:ext cx="486525" cy="1521862"/>
          </a:xfrm>
          <a:prstGeom prst="bentArrow">
            <a:avLst>
              <a:gd name="adj1" fmla="val 25000"/>
              <a:gd name="adj2" fmla="val 23437"/>
              <a:gd name="adj3" fmla="val 25000"/>
              <a:gd name="adj4" fmla="val 51300"/>
            </a:avLst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29" name="Seta: Dobrada 28">
            <a:extLst>
              <a:ext uri="{FF2B5EF4-FFF2-40B4-BE49-F238E27FC236}">
                <a16:creationId xmlns:a16="http://schemas.microsoft.com/office/drawing/2014/main" id="{E4E10592-37BA-59B6-72EA-2C2A3F6383B3}"/>
              </a:ext>
            </a:extLst>
          </p:cNvPr>
          <p:cNvSpPr/>
          <p:nvPr/>
        </p:nvSpPr>
        <p:spPr>
          <a:xfrm rot="10800000">
            <a:off x="8083777" y="5424440"/>
            <a:ext cx="1521862" cy="578519"/>
          </a:xfrm>
          <a:prstGeom prst="bentArrow">
            <a:avLst>
              <a:gd name="adj1" fmla="val 25000"/>
              <a:gd name="adj2" fmla="val 23437"/>
              <a:gd name="adj3" fmla="val 25000"/>
              <a:gd name="adj4" fmla="val 51300"/>
            </a:avLst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30" name="Seta: Dobrada 29">
            <a:extLst>
              <a:ext uri="{FF2B5EF4-FFF2-40B4-BE49-F238E27FC236}">
                <a16:creationId xmlns:a16="http://schemas.microsoft.com/office/drawing/2014/main" id="{CBF58254-4AA3-74D1-A1DF-69251CC151B8}"/>
              </a:ext>
            </a:extLst>
          </p:cNvPr>
          <p:cNvSpPr/>
          <p:nvPr/>
        </p:nvSpPr>
        <p:spPr>
          <a:xfrm rot="16200000">
            <a:off x="3314090" y="4773513"/>
            <a:ext cx="645966" cy="1724549"/>
          </a:xfrm>
          <a:prstGeom prst="bentArrow">
            <a:avLst>
              <a:gd name="adj1" fmla="val 25000"/>
              <a:gd name="adj2" fmla="val 23437"/>
              <a:gd name="adj3" fmla="val 25000"/>
              <a:gd name="adj4" fmla="val 51300"/>
            </a:avLst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08855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E007C4E4-7E6E-4A63-A907-E4F8D4628E27}"/>
              </a:ext>
            </a:extLst>
          </p:cNvPr>
          <p:cNvSpPr/>
          <p:nvPr/>
        </p:nvSpPr>
        <p:spPr>
          <a:xfrm>
            <a:off x="5263905" y="2944478"/>
            <a:ext cx="2889768" cy="31766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5E08EC6-451C-3BCE-2C14-590C9271A538}"/>
              </a:ext>
            </a:extLst>
          </p:cNvPr>
          <p:cNvSpPr/>
          <p:nvPr/>
        </p:nvSpPr>
        <p:spPr>
          <a:xfrm>
            <a:off x="5263904" y="2326000"/>
            <a:ext cx="2889769" cy="31766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F0F6E4B0-33A8-4CE9-E142-589FD87725C6}"/>
              </a:ext>
            </a:extLst>
          </p:cNvPr>
          <p:cNvSpPr/>
          <p:nvPr/>
        </p:nvSpPr>
        <p:spPr>
          <a:xfrm>
            <a:off x="5263905" y="1780380"/>
            <a:ext cx="2889768" cy="31766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AF65A36-E1C0-8B96-461A-6A50C450225C}"/>
              </a:ext>
            </a:extLst>
          </p:cNvPr>
          <p:cNvSpPr/>
          <p:nvPr/>
        </p:nvSpPr>
        <p:spPr>
          <a:xfrm>
            <a:off x="5263905" y="1132917"/>
            <a:ext cx="2875610" cy="31766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5187868C-AB35-524B-5264-DFA8509632FD}"/>
              </a:ext>
            </a:extLst>
          </p:cNvPr>
          <p:cNvSpPr/>
          <p:nvPr/>
        </p:nvSpPr>
        <p:spPr>
          <a:xfrm>
            <a:off x="1929264" y="2689835"/>
            <a:ext cx="1384663" cy="31766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B6C05E66-3736-BDD6-4E82-52DC1CECB361}"/>
              </a:ext>
            </a:extLst>
          </p:cNvPr>
          <p:cNvSpPr/>
          <p:nvPr/>
        </p:nvSpPr>
        <p:spPr>
          <a:xfrm>
            <a:off x="1916198" y="1516436"/>
            <a:ext cx="1384663" cy="31766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Fluxograma: Conector 1">
            <a:extLst>
              <a:ext uri="{FF2B5EF4-FFF2-40B4-BE49-F238E27FC236}">
                <a16:creationId xmlns:a16="http://schemas.microsoft.com/office/drawing/2014/main" id="{D14A5DA1-A975-F22A-4D3A-735B54BA73BC}"/>
              </a:ext>
            </a:extLst>
          </p:cNvPr>
          <p:cNvSpPr/>
          <p:nvPr/>
        </p:nvSpPr>
        <p:spPr>
          <a:xfrm>
            <a:off x="571130" y="2279363"/>
            <a:ext cx="97654" cy="124288"/>
          </a:xfrm>
          <a:prstGeom prst="flowChartConnector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Fluxograma: Conector 2">
            <a:extLst>
              <a:ext uri="{FF2B5EF4-FFF2-40B4-BE49-F238E27FC236}">
                <a16:creationId xmlns:a16="http://schemas.microsoft.com/office/drawing/2014/main" id="{2675201D-D04E-B285-95F4-26EA4827B5A9}"/>
              </a:ext>
            </a:extLst>
          </p:cNvPr>
          <p:cNvSpPr/>
          <p:nvPr/>
        </p:nvSpPr>
        <p:spPr>
          <a:xfrm>
            <a:off x="1728186" y="1607619"/>
            <a:ext cx="97654" cy="124288"/>
          </a:xfrm>
          <a:prstGeom prst="flowChartConnector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Fluxograma: Conector 3">
            <a:extLst>
              <a:ext uri="{FF2B5EF4-FFF2-40B4-BE49-F238E27FC236}">
                <a16:creationId xmlns:a16="http://schemas.microsoft.com/office/drawing/2014/main" id="{B65DE420-AE6A-53F4-847A-6B10077FF578}"/>
              </a:ext>
            </a:extLst>
          </p:cNvPr>
          <p:cNvSpPr/>
          <p:nvPr/>
        </p:nvSpPr>
        <p:spPr>
          <a:xfrm>
            <a:off x="1728186" y="2742481"/>
            <a:ext cx="97654" cy="124288"/>
          </a:xfrm>
          <a:prstGeom prst="flowChartConnector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E8C415A0-2703-59A6-2267-497895DC8E27}"/>
              </a:ext>
            </a:extLst>
          </p:cNvPr>
          <p:cNvCxnSpPr>
            <a:cxnSpLocks/>
          </p:cNvCxnSpPr>
          <p:nvPr/>
        </p:nvCxnSpPr>
        <p:spPr>
          <a:xfrm flipV="1">
            <a:off x="759040" y="1731907"/>
            <a:ext cx="878890" cy="548935"/>
          </a:xfrm>
          <a:prstGeom prst="straightConnector1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BDB10EB2-0A74-F8FB-0564-27AC074B241A}"/>
              </a:ext>
            </a:extLst>
          </p:cNvPr>
          <p:cNvCxnSpPr/>
          <p:nvPr/>
        </p:nvCxnSpPr>
        <p:spPr>
          <a:xfrm>
            <a:off x="759040" y="2403651"/>
            <a:ext cx="878890" cy="400974"/>
          </a:xfrm>
          <a:prstGeom prst="straightConnector1">
            <a:avLst/>
          </a:prstGeom>
          <a:ln w="25400">
            <a:solidFill>
              <a:srgbClr val="EC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4843DC38-A94A-73E6-431E-D7904D452291}"/>
              </a:ext>
            </a:extLst>
          </p:cNvPr>
          <p:cNvCxnSpPr/>
          <p:nvPr/>
        </p:nvCxnSpPr>
        <p:spPr>
          <a:xfrm flipV="1">
            <a:off x="3417351" y="1286348"/>
            <a:ext cx="1544714" cy="328474"/>
          </a:xfrm>
          <a:prstGeom prst="straightConnector1">
            <a:avLst/>
          </a:prstGeom>
          <a:ln w="25400">
            <a:solidFill>
              <a:srgbClr val="EC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Fluxograma: Conector 24">
            <a:extLst>
              <a:ext uri="{FF2B5EF4-FFF2-40B4-BE49-F238E27FC236}">
                <a16:creationId xmlns:a16="http://schemas.microsoft.com/office/drawing/2014/main" id="{98841046-1B22-027C-A7FF-18D922CB1B95}"/>
              </a:ext>
            </a:extLst>
          </p:cNvPr>
          <p:cNvSpPr/>
          <p:nvPr/>
        </p:nvSpPr>
        <p:spPr>
          <a:xfrm>
            <a:off x="5064158" y="1224204"/>
            <a:ext cx="97654" cy="124288"/>
          </a:xfrm>
          <a:prstGeom prst="flowChartConnector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173F9C0B-9F57-F8F9-C371-850E3919CF32}"/>
              </a:ext>
            </a:extLst>
          </p:cNvPr>
          <p:cNvCxnSpPr/>
          <p:nvPr/>
        </p:nvCxnSpPr>
        <p:spPr>
          <a:xfrm>
            <a:off x="3417351" y="1813090"/>
            <a:ext cx="1544714" cy="112451"/>
          </a:xfrm>
          <a:prstGeom prst="straightConnector1">
            <a:avLst/>
          </a:prstGeom>
          <a:ln w="25400">
            <a:solidFill>
              <a:srgbClr val="EC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Fluxograma: Conector 27">
            <a:extLst>
              <a:ext uri="{FF2B5EF4-FFF2-40B4-BE49-F238E27FC236}">
                <a16:creationId xmlns:a16="http://schemas.microsoft.com/office/drawing/2014/main" id="{6A3B4971-7EAD-E1FF-C643-D8CC9A449466}"/>
              </a:ext>
            </a:extLst>
          </p:cNvPr>
          <p:cNvSpPr/>
          <p:nvPr/>
        </p:nvSpPr>
        <p:spPr>
          <a:xfrm>
            <a:off x="5064158" y="1842682"/>
            <a:ext cx="97654" cy="124288"/>
          </a:xfrm>
          <a:prstGeom prst="flowChartConnector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9" name="Conector de Seta Reta 28">
            <a:extLst>
              <a:ext uri="{FF2B5EF4-FFF2-40B4-BE49-F238E27FC236}">
                <a16:creationId xmlns:a16="http://schemas.microsoft.com/office/drawing/2014/main" id="{AC2323C8-DC1A-4D6C-9A51-F676EB743BC9}"/>
              </a:ext>
            </a:extLst>
          </p:cNvPr>
          <p:cNvCxnSpPr/>
          <p:nvPr/>
        </p:nvCxnSpPr>
        <p:spPr>
          <a:xfrm flipV="1">
            <a:off x="3417351" y="2422690"/>
            <a:ext cx="1544714" cy="328474"/>
          </a:xfrm>
          <a:prstGeom prst="straightConnector1">
            <a:avLst/>
          </a:prstGeom>
          <a:ln w="25400">
            <a:solidFill>
              <a:srgbClr val="EC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luxograma: Conector 29">
            <a:extLst>
              <a:ext uri="{FF2B5EF4-FFF2-40B4-BE49-F238E27FC236}">
                <a16:creationId xmlns:a16="http://schemas.microsoft.com/office/drawing/2014/main" id="{5F51317A-FA79-AD31-157D-6609481679EA}"/>
              </a:ext>
            </a:extLst>
          </p:cNvPr>
          <p:cNvSpPr/>
          <p:nvPr/>
        </p:nvSpPr>
        <p:spPr>
          <a:xfrm>
            <a:off x="5064158" y="2360546"/>
            <a:ext cx="97654" cy="124288"/>
          </a:xfrm>
          <a:prstGeom prst="flowChartConnector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31" name="Conector de Seta Reta 30">
            <a:extLst>
              <a:ext uri="{FF2B5EF4-FFF2-40B4-BE49-F238E27FC236}">
                <a16:creationId xmlns:a16="http://schemas.microsoft.com/office/drawing/2014/main" id="{1AC4E4DE-3149-EC5C-AA53-929396476E87}"/>
              </a:ext>
            </a:extLst>
          </p:cNvPr>
          <p:cNvCxnSpPr/>
          <p:nvPr/>
        </p:nvCxnSpPr>
        <p:spPr>
          <a:xfrm>
            <a:off x="3417351" y="2949432"/>
            <a:ext cx="1544714" cy="112451"/>
          </a:xfrm>
          <a:prstGeom prst="straightConnector1">
            <a:avLst/>
          </a:prstGeom>
          <a:ln w="25400">
            <a:solidFill>
              <a:srgbClr val="EC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Fluxograma: Conector 31">
            <a:extLst>
              <a:ext uri="{FF2B5EF4-FFF2-40B4-BE49-F238E27FC236}">
                <a16:creationId xmlns:a16="http://schemas.microsoft.com/office/drawing/2014/main" id="{768018DF-E0E5-4782-2FF3-6AC9DBD965E6}"/>
              </a:ext>
            </a:extLst>
          </p:cNvPr>
          <p:cNvSpPr/>
          <p:nvPr/>
        </p:nvSpPr>
        <p:spPr>
          <a:xfrm>
            <a:off x="5064158" y="2979024"/>
            <a:ext cx="97654" cy="124288"/>
          </a:xfrm>
          <a:prstGeom prst="flowChartConnector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B636F1D3-2CE5-7494-9EAA-F2B6201DAB03}"/>
              </a:ext>
            </a:extLst>
          </p:cNvPr>
          <p:cNvSpPr txBox="1"/>
          <p:nvPr/>
        </p:nvSpPr>
        <p:spPr>
          <a:xfrm>
            <a:off x="82856" y="2203241"/>
            <a:ext cx="4882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P(D)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8E60A582-09D6-5EB4-627D-1EE0C77A01DA}"/>
                  </a:ext>
                </a:extLst>
              </p:cNvPr>
              <p:cNvSpPr txBox="1"/>
              <p:nvPr/>
            </p:nvSpPr>
            <p:spPr>
              <a:xfrm>
                <a:off x="1620106" y="1547428"/>
                <a:ext cx="197684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𝑫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𝑰𝒅𝒂𝒅𝒆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𝟑𝟎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b="1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8E60A582-09D6-5EB4-627D-1EE0C77A01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0106" y="1547428"/>
                <a:ext cx="1976846" cy="276999"/>
              </a:xfrm>
              <a:prstGeom prst="rect">
                <a:avLst/>
              </a:prstGeom>
              <a:blipFill>
                <a:blip r:embed="rId2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C4E8EE24-733A-A507-CCC3-23E43BF6A35A}"/>
                  </a:ext>
                </a:extLst>
              </p:cNvPr>
              <p:cNvSpPr txBox="1"/>
              <p:nvPr/>
            </p:nvSpPr>
            <p:spPr>
              <a:xfrm>
                <a:off x="1613751" y="2719847"/>
                <a:ext cx="1959022" cy="28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𝑫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𝑰𝒅𝒂𝒅𝒆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𝟑𝟎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b="1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C4E8EE24-733A-A507-CCC3-23E43BF6A3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3751" y="2719847"/>
                <a:ext cx="1959022" cy="287656"/>
              </a:xfrm>
              <a:prstGeom prst="rect">
                <a:avLst/>
              </a:prstGeom>
              <a:blipFill>
                <a:blip r:embed="rId3"/>
                <a:stretch>
                  <a:fillRect b="-42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BF3E34DD-08C4-CE30-C6E4-FCC4806EEE2F}"/>
                  </a:ext>
                </a:extLst>
              </p:cNvPr>
              <p:cNvSpPr txBox="1"/>
              <p:nvPr/>
            </p:nvSpPr>
            <p:spPr>
              <a:xfrm>
                <a:off x="5181173" y="1149063"/>
                <a:ext cx="258581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𝑫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𝑰𝒅𝒂𝒅𝒆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𝟑𝟎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 , 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𝑫𝒆𝒖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𝑨𝒕𝒓𝒂𝒔𝒐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…)</m:t>
                      </m:r>
                    </m:oMath>
                  </m:oMathPara>
                </a14:m>
                <a:endParaRPr lang="pt-BR" sz="1200" b="1" dirty="0"/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BF3E34DD-08C4-CE30-C6E4-FCC4806EE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1173" y="1149063"/>
                <a:ext cx="2585815" cy="276999"/>
              </a:xfrm>
              <a:prstGeom prst="rect">
                <a:avLst/>
              </a:prstGeom>
              <a:blipFill>
                <a:blip r:embed="rId4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5EB42C02-73D4-C4E8-D843-8CC145843897}"/>
                  </a:ext>
                </a:extLst>
              </p:cNvPr>
              <p:cNvSpPr txBox="1"/>
              <p:nvPr/>
            </p:nvSpPr>
            <p:spPr>
              <a:xfrm>
                <a:off x="5162107" y="1821049"/>
                <a:ext cx="302653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𝑫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𝑰𝒅𝒂𝒅𝒆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𝟑𝟎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𝑵𝒖𝒏𝒄𝒂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𝑫𝒆𝒖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𝑨𝒕𝒓𝒂𝒔𝒐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…)</m:t>
                      </m:r>
                    </m:oMath>
                  </m:oMathPara>
                </a14:m>
                <a:endParaRPr lang="pt-BR" sz="1200" b="1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5EB42C02-73D4-C4E8-D843-8CC145843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2107" y="1821049"/>
                <a:ext cx="3026530" cy="276999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05A33377-F994-A39A-161D-07444ADF2DE7}"/>
                  </a:ext>
                </a:extLst>
              </p:cNvPr>
              <p:cNvSpPr txBox="1"/>
              <p:nvPr/>
            </p:nvSpPr>
            <p:spPr>
              <a:xfrm>
                <a:off x="5112985" y="2371922"/>
                <a:ext cx="302653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𝑫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𝑰𝒅𝒂𝒅𝒆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𝟑𝟎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𝑱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á 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𝑫𝒆𝒖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𝑨𝑻𝒓𝒂𝒔𝒐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…)</m:t>
                      </m:r>
                    </m:oMath>
                  </m:oMathPara>
                </a14:m>
                <a:endParaRPr lang="pt-BR" sz="1200" b="1" dirty="0"/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05A33377-F994-A39A-161D-07444ADF2D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2985" y="2371922"/>
                <a:ext cx="3026530" cy="276999"/>
              </a:xfrm>
              <a:prstGeom prst="rect">
                <a:avLst/>
              </a:prstGeom>
              <a:blipFill>
                <a:blip r:embed="rId6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F461818F-146E-A20C-172D-2F059050163E}"/>
                  </a:ext>
                </a:extLst>
              </p:cNvPr>
              <p:cNvSpPr txBox="1"/>
              <p:nvPr/>
            </p:nvSpPr>
            <p:spPr>
              <a:xfrm>
                <a:off x="5180154" y="2949432"/>
                <a:ext cx="304944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𝑫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𝑰𝒅𝒂𝒅𝒆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𝟑𝟎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𝑵𝒖𝒏𝒄𝒂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𝑫𝒆𝒖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𝑨𝒕𝒓𝒂𝒔𝒐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…)</m:t>
                      </m:r>
                    </m:oMath>
                  </m:oMathPara>
                </a14:m>
                <a:endParaRPr lang="pt-BR" sz="1200" b="1" dirty="0"/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F461818F-146E-A20C-172D-2F0590501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0154" y="2949432"/>
                <a:ext cx="3049445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A249EA1-20C6-34FE-86F7-B31061BD4A66}"/>
              </a:ext>
            </a:extLst>
          </p:cNvPr>
          <p:cNvCxnSpPr/>
          <p:nvPr/>
        </p:nvCxnSpPr>
        <p:spPr>
          <a:xfrm>
            <a:off x="8229600" y="1286348"/>
            <a:ext cx="609600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DC61559C-F14B-2CDF-4B87-F4866AB49C4F}"/>
              </a:ext>
            </a:extLst>
          </p:cNvPr>
          <p:cNvCxnSpPr/>
          <p:nvPr/>
        </p:nvCxnSpPr>
        <p:spPr>
          <a:xfrm>
            <a:off x="8229600" y="1929343"/>
            <a:ext cx="609600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81D08788-3528-1A18-26B0-A72A8F3A5CEB}"/>
              </a:ext>
            </a:extLst>
          </p:cNvPr>
          <p:cNvCxnSpPr/>
          <p:nvPr/>
        </p:nvCxnSpPr>
        <p:spPr>
          <a:xfrm>
            <a:off x="8229600" y="2464851"/>
            <a:ext cx="609600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ED0B6D74-0EE5-4B0A-64B8-DB07492EE0E9}"/>
              </a:ext>
            </a:extLst>
          </p:cNvPr>
          <p:cNvCxnSpPr/>
          <p:nvPr/>
        </p:nvCxnSpPr>
        <p:spPr>
          <a:xfrm>
            <a:off x="8229600" y="3084735"/>
            <a:ext cx="609600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7F896B6A-86AB-C025-A199-12B9B1BB096F}"/>
              </a:ext>
            </a:extLst>
          </p:cNvPr>
          <p:cNvSpPr/>
          <p:nvPr/>
        </p:nvSpPr>
        <p:spPr>
          <a:xfrm>
            <a:off x="9111322" y="2940376"/>
            <a:ext cx="2791524" cy="31766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901BAF1A-0F6D-C2F1-D305-B8AAC1F6BF8C}"/>
              </a:ext>
            </a:extLst>
          </p:cNvPr>
          <p:cNvSpPr/>
          <p:nvPr/>
        </p:nvSpPr>
        <p:spPr>
          <a:xfrm>
            <a:off x="9111322" y="2321898"/>
            <a:ext cx="2791524" cy="31766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537A5243-86A8-B364-6F33-A939A5DE4500}"/>
              </a:ext>
            </a:extLst>
          </p:cNvPr>
          <p:cNvSpPr/>
          <p:nvPr/>
        </p:nvSpPr>
        <p:spPr>
          <a:xfrm>
            <a:off x="9111322" y="1776278"/>
            <a:ext cx="2791524" cy="31766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1109D608-86A8-AAAF-7DF9-3B13ECFC02D7}"/>
              </a:ext>
            </a:extLst>
          </p:cNvPr>
          <p:cNvSpPr/>
          <p:nvPr/>
        </p:nvSpPr>
        <p:spPr>
          <a:xfrm>
            <a:off x="9111322" y="1128815"/>
            <a:ext cx="2791524" cy="31766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Fluxograma: Conector 42">
            <a:extLst>
              <a:ext uri="{FF2B5EF4-FFF2-40B4-BE49-F238E27FC236}">
                <a16:creationId xmlns:a16="http://schemas.microsoft.com/office/drawing/2014/main" id="{8EBE0BA2-3327-2272-3F4D-9C9241B0B285}"/>
              </a:ext>
            </a:extLst>
          </p:cNvPr>
          <p:cNvSpPr/>
          <p:nvPr/>
        </p:nvSpPr>
        <p:spPr>
          <a:xfrm>
            <a:off x="8911575" y="1220102"/>
            <a:ext cx="97654" cy="124288"/>
          </a:xfrm>
          <a:prstGeom prst="flowChartConnector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Fluxograma: Conector 43">
            <a:extLst>
              <a:ext uri="{FF2B5EF4-FFF2-40B4-BE49-F238E27FC236}">
                <a16:creationId xmlns:a16="http://schemas.microsoft.com/office/drawing/2014/main" id="{02D2D150-611B-8586-E532-507AC347E794}"/>
              </a:ext>
            </a:extLst>
          </p:cNvPr>
          <p:cNvSpPr/>
          <p:nvPr/>
        </p:nvSpPr>
        <p:spPr>
          <a:xfrm>
            <a:off x="8911575" y="1838580"/>
            <a:ext cx="97654" cy="124288"/>
          </a:xfrm>
          <a:prstGeom prst="flowChartConnector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Fluxograma: Conector 44">
            <a:extLst>
              <a:ext uri="{FF2B5EF4-FFF2-40B4-BE49-F238E27FC236}">
                <a16:creationId xmlns:a16="http://schemas.microsoft.com/office/drawing/2014/main" id="{5F34518E-2C7A-FE55-A6CD-0378C5DF5699}"/>
              </a:ext>
            </a:extLst>
          </p:cNvPr>
          <p:cNvSpPr/>
          <p:nvPr/>
        </p:nvSpPr>
        <p:spPr>
          <a:xfrm>
            <a:off x="8911575" y="2356444"/>
            <a:ext cx="97654" cy="124288"/>
          </a:xfrm>
          <a:prstGeom prst="flowChartConnector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Fluxograma: Conector 45">
            <a:extLst>
              <a:ext uri="{FF2B5EF4-FFF2-40B4-BE49-F238E27FC236}">
                <a16:creationId xmlns:a16="http://schemas.microsoft.com/office/drawing/2014/main" id="{CD0B2A57-2EF0-BCF1-064B-815561FAF9D6}"/>
              </a:ext>
            </a:extLst>
          </p:cNvPr>
          <p:cNvSpPr/>
          <p:nvPr/>
        </p:nvSpPr>
        <p:spPr>
          <a:xfrm>
            <a:off x="8911575" y="2974922"/>
            <a:ext cx="97654" cy="124288"/>
          </a:xfrm>
          <a:prstGeom prst="flowChartConnector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9468933B-78DC-9829-2531-38D8CC082585}"/>
              </a:ext>
            </a:extLst>
          </p:cNvPr>
          <p:cNvSpPr txBox="1"/>
          <p:nvPr/>
        </p:nvSpPr>
        <p:spPr>
          <a:xfrm>
            <a:off x="9214176" y="1173586"/>
            <a:ext cx="25858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Mau Pagador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6BB7652D-1A48-59DF-F20A-5CBBE01703FA}"/>
                  </a:ext>
                </a:extLst>
              </p:cNvPr>
              <p:cNvSpPr txBox="1"/>
              <p:nvPr/>
            </p:nvSpPr>
            <p:spPr>
              <a:xfrm>
                <a:off x="9009524" y="1816947"/>
                <a:ext cx="299511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𝑩𝒐𝒎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𝑷𝒂𝒈𝒂𝒅𝒐𝒓</m:t>
                      </m:r>
                    </m:oMath>
                  </m:oMathPara>
                </a14:m>
                <a:endParaRPr lang="pt-BR" sz="1200" b="1" dirty="0"/>
              </a:p>
            </p:txBody>
          </p:sp>
        </mc:Choice>
        <mc:Fallback xmlns="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6BB7652D-1A48-59DF-F20A-5CBBE0170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9524" y="1816947"/>
                <a:ext cx="2995118" cy="276999"/>
              </a:xfrm>
              <a:prstGeom prst="rect">
                <a:avLst/>
              </a:prstGeom>
              <a:blipFill>
                <a:blip r:embed="rId8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CaixaDeTexto 48">
                <a:extLst>
                  <a:ext uri="{FF2B5EF4-FFF2-40B4-BE49-F238E27FC236}">
                    <a16:creationId xmlns:a16="http://schemas.microsoft.com/office/drawing/2014/main" id="{CBDAECC0-56B0-0266-40FB-0CC8260D8470}"/>
                  </a:ext>
                </a:extLst>
              </p:cNvPr>
              <p:cNvSpPr txBox="1"/>
              <p:nvPr/>
            </p:nvSpPr>
            <p:spPr>
              <a:xfrm>
                <a:off x="9099314" y="2356444"/>
                <a:ext cx="281553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𝑴𝒂𝒖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𝑷𝒂𝒈𝒂𝒅𝒐𝒓</m:t>
                      </m:r>
                    </m:oMath>
                  </m:oMathPara>
                </a14:m>
                <a:endParaRPr lang="pt-BR" sz="1200" b="1" dirty="0"/>
              </a:p>
            </p:txBody>
          </p:sp>
        </mc:Choice>
        <mc:Fallback xmlns="">
          <p:sp>
            <p:nvSpPr>
              <p:cNvPr id="49" name="CaixaDeTexto 48">
                <a:extLst>
                  <a:ext uri="{FF2B5EF4-FFF2-40B4-BE49-F238E27FC236}">
                    <a16:creationId xmlns:a16="http://schemas.microsoft.com/office/drawing/2014/main" id="{CBDAECC0-56B0-0266-40FB-0CC8260D8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9314" y="2356444"/>
                <a:ext cx="2815537" cy="276999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1E8860A3-B6C8-4213-D75E-6D7004CBFA23}"/>
                  </a:ext>
                </a:extLst>
              </p:cNvPr>
              <p:cNvSpPr txBox="1"/>
              <p:nvPr/>
            </p:nvSpPr>
            <p:spPr>
              <a:xfrm>
                <a:off x="9027572" y="2945330"/>
                <a:ext cx="297707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𝑩𝒐𝒎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𝑷𝒂𝒈𝒂𝒅𝒐𝒓</m:t>
                      </m:r>
                    </m:oMath>
                  </m:oMathPara>
                </a14:m>
                <a:endParaRPr lang="pt-BR" sz="1200" b="1" dirty="0"/>
              </a:p>
            </p:txBody>
          </p:sp>
        </mc:Choice>
        <mc:Fallback xmlns="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1E8860A3-B6C8-4213-D75E-6D7004CBFA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7572" y="2945330"/>
                <a:ext cx="2977070" cy="276999"/>
              </a:xfrm>
              <a:prstGeom prst="rect">
                <a:avLst/>
              </a:prstGeom>
              <a:blipFill>
                <a:blip r:embed="rId1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Espaço Reservado para Número de Slide 32">
            <a:extLst>
              <a:ext uri="{FF2B5EF4-FFF2-40B4-BE49-F238E27FC236}">
                <a16:creationId xmlns:a16="http://schemas.microsoft.com/office/drawing/2014/main" id="{E8AD2B66-7CD6-9095-5D30-BD765DC8F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22314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ta: de Cima para Baixo 4">
            <a:extLst>
              <a:ext uri="{FF2B5EF4-FFF2-40B4-BE49-F238E27FC236}">
                <a16:creationId xmlns:a16="http://schemas.microsoft.com/office/drawing/2014/main" id="{15BBDD42-1F94-E7FC-185D-46C9A20B68C3}"/>
              </a:ext>
            </a:extLst>
          </p:cNvPr>
          <p:cNvSpPr/>
          <p:nvPr/>
        </p:nvSpPr>
        <p:spPr>
          <a:xfrm>
            <a:off x="5167618" y="1333850"/>
            <a:ext cx="352338" cy="2869034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Seta: de Cima para Baixo 5">
            <a:extLst>
              <a:ext uri="{FF2B5EF4-FFF2-40B4-BE49-F238E27FC236}">
                <a16:creationId xmlns:a16="http://schemas.microsoft.com/office/drawing/2014/main" id="{E6B3187B-7260-DCE5-BD08-3B606D402F6E}"/>
              </a:ext>
            </a:extLst>
          </p:cNvPr>
          <p:cNvSpPr/>
          <p:nvPr/>
        </p:nvSpPr>
        <p:spPr>
          <a:xfrm rot="5400000">
            <a:off x="5167618" y="1333850"/>
            <a:ext cx="352338" cy="2869034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35E1FBA0-FABE-032C-43CC-E671887F115E}"/>
              </a:ext>
            </a:extLst>
          </p:cNvPr>
          <p:cNvSpPr/>
          <p:nvPr/>
        </p:nvSpPr>
        <p:spPr>
          <a:xfrm>
            <a:off x="3439486" y="1753298"/>
            <a:ext cx="1644242" cy="73823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Decisão Correta </a:t>
            </a:r>
            <a:r>
              <a:rPr lang="pt-BR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(1-</a:t>
            </a:r>
            <a:r>
              <a:rPr lang="el-GR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α</a:t>
            </a:r>
            <a:r>
              <a:rPr lang="pt-BR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71E6B39-F40F-505F-2032-9C6E8AB64857}"/>
              </a:ext>
            </a:extLst>
          </p:cNvPr>
          <p:cNvSpPr/>
          <p:nvPr/>
        </p:nvSpPr>
        <p:spPr>
          <a:xfrm>
            <a:off x="5849925" y="1753296"/>
            <a:ext cx="1644242" cy="73823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 Tipo II</a:t>
            </a:r>
          </a:p>
          <a:p>
            <a:pPr algn="ctr"/>
            <a:r>
              <a:rPr lang="pt-BR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(β)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D0D04B60-9339-CE6C-98EB-9AE6998B76BB}"/>
              </a:ext>
            </a:extLst>
          </p:cNvPr>
          <p:cNvSpPr/>
          <p:nvPr/>
        </p:nvSpPr>
        <p:spPr>
          <a:xfrm>
            <a:off x="1585520" y="1832992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Não Rejeitar </a:t>
            </a:r>
            <a:r>
              <a:rPr lang="pt-BR" sz="14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H0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66363B61-C21C-831A-4882-2C8DF6A06B61}"/>
              </a:ext>
            </a:extLst>
          </p:cNvPr>
          <p:cNvSpPr/>
          <p:nvPr/>
        </p:nvSpPr>
        <p:spPr>
          <a:xfrm>
            <a:off x="1585520" y="3284288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Rejeitar </a:t>
            </a:r>
            <a:r>
              <a:rPr lang="pt-BR" sz="14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H0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EF5B7E8E-8220-FD4F-89AC-A00FB5E4FBE6}"/>
              </a:ext>
            </a:extLst>
          </p:cNvPr>
          <p:cNvSpPr/>
          <p:nvPr/>
        </p:nvSpPr>
        <p:spPr>
          <a:xfrm>
            <a:off x="3523375" y="892023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H0 </a:t>
            </a: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 verdadeira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BBED27DC-2534-264E-19ED-9F285D0B1D39}"/>
              </a:ext>
            </a:extLst>
          </p:cNvPr>
          <p:cNvSpPr/>
          <p:nvPr/>
        </p:nvSpPr>
        <p:spPr>
          <a:xfrm>
            <a:off x="5891870" y="889223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H0 </a:t>
            </a: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 falsa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06975C0B-3F90-6E04-0897-5E5F7B65B81E}"/>
              </a:ext>
            </a:extLst>
          </p:cNvPr>
          <p:cNvSpPr/>
          <p:nvPr/>
        </p:nvSpPr>
        <p:spPr>
          <a:xfrm>
            <a:off x="3439485" y="3204594"/>
            <a:ext cx="1644242" cy="73823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 Tipo I</a:t>
            </a:r>
          </a:p>
          <a:p>
            <a:pPr algn="ctr"/>
            <a:r>
              <a:rPr lang="pt-BR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l-GR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pt-BR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FA358A3F-B6E9-4677-29A0-433809E85C4A}"/>
              </a:ext>
            </a:extLst>
          </p:cNvPr>
          <p:cNvSpPr/>
          <p:nvPr/>
        </p:nvSpPr>
        <p:spPr>
          <a:xfrm>
            <a:off x="5849925" y="3204594"/>
            <a:ext cx="1644242" cy="73823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Decisão Correta </a:t>
            </a:r>
            <a:r>
              <a:rPr lang="pt-BR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(1-</a:t>
            </a:r>
            <a:r>
              <a:rPr lang="el-GR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β)</a:t>
            </a:r>
          </a:p>
        </p:txBody>
      </p:sp>
      <p:sp>
        <p:nvSpPr>
          <p:cNvPr id="16" name="Espaço Reservado para Número de Slide 15">
            <a:extLst>
              <a:ext uri="{FF2B5EF4-FFF2-40B4-BE49-F238E27FC236}">
                <a16:creationId xmlns:a16="http://schemas.microsoft.com/office/drawing/2014/main" id="{BC16F51B-1A10-FD28-6993-01CFAB0EA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24</a:t>
            </a:fld>
            <a:endParaRPr lang="pt-BR"/>
          </a:p>
        </p:txBody>
      </p:sp>
      <p:sp>
        <p:nvSpPr>
          <p:cNvPr id="3" name="Forma Livre: Forma 2">
            <a:extLst>
              <a:ext uri="{FF2B5EF4-FFF2-40B4-BE49-F238E27FC236}">
                <a16:creationId xmlns:a16="http://schemas.microsoft.com/office/drawing/2014/main" id="{B92693D7-8639-C075-5C19-3937A53450BA}"/>
              </a:ext>
            </a:extLst>
          </p:cNvPr>
          <p:cNvSpPr/>
          <p:nvPr/>
        </p:nvSpPr>
        <p:spPr>
          <a:xfrm>
            <a:off x="981512" y="4735584"/>
            <a:ext cx="2248249" cy="1333173"/>
          </a:xfrm>
          <a:custGeom>
            <a:avLst/>
            <a:gdLst>
              <a:gd name="connsiteX0" fmla="*/ 0 w 2248249"/>
              <a:gd name="connsiteY0" fmla="*/ 1015085 h 1333173"/>
              <a:gd name="connsiteX1" fmla="*/ 595618 w 2248249"/>
              <a:gd name="connsiteY1" fmla="*/ 1258366 h 1333173"/>
              <a:gd name="connsiteX2" fmla="*/ 1073791 w 2248249"/>
              <a:gd name="connsiteY2" fmla="*/ 142630 h 1333173"/>
              <a:gd name="connsiteX3" fmla="*/ 1384183 w 2248249"/>
              <a:gd name="connsiteY3" fmla="*/ 142630 h 1333173"/>
              <a:gd name="connsiteX4" fmla="*/ 1736521 w 2248249"/>
              <a:gd name="connsiteY4" fmla="*/ 1308700 h 1333173"/>
              <a:gd name="connsiteX5" fmla="*/ 2248249 w 2248249"/>
              <a:gd name="connsiteY5" fmla="*/ 822138 h 1333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8249" h="1333173">
                <a:moveTo>
                  <a:pt x="0" y="1015085"/>
                </a:moveTo>
                <a:cubicBezTo>
                  <a:pt x="208326" y="1209430"/>
                  <a:pt x="416653" y="1403775"/>
                  <a:pt x="595618" y="1258366"/>
                </a:cubicBezTo>
                <a:cubicBezTo>
                  <a:pt x="774583" y="1112957"/>
                  <a:pt x="942364" y="328586"/>
                  <a:pt x="1073791" y="142630"/>
                </a:cubicBezTo>
                <a:cubicBezTo>
                  <a:pt x="1205218" y="-43326"/>
                  <a:pt x="1273728" y="-51715"/>
                  <a:pt x="1384183" y="142630"/>
                </a:cubicBezTo>
                <a:cubicBezTo>
                  <a:pt x="1494638" y="336975"/>
                  <a:pt x="1592510" y="1195449"/>
                  <a:pt x="1736521" y="1308700"/>
                </a:cubicBezTo>
                <a:cubicBezTo>
                  <a:pt x="1880532" y="1421951"/>
                  <a:pt x="2064390" y="1122044"/>
                  <a:pt x="2248249" y="82213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Forma Livre: Forma 3">
            <a:extLst>
              <a:ext uri="{FF2B5EF4-FFF2-40B4-BE49-F238E27FC236}">
                <a16:creationId xmlns:a16="http://schemas.microsoft.com/office/drawing/2014/main" id="{75FE11B1-1004-4628-D658-080FDE5564F5}"/>
              </a:ext>
            </a:extLst>
          </p:cNvPr>
          <p:cNvSpPr/>
          <p:nvPr/>
        </p:nvSpPr>
        <p:spPr>
          <a:xfrm>
            <a:off x="2013357" y="4735583"/>
            <a:ext cx="2248249" cy="1333173"/>
          </a:xfrm>
          <a:custGeom>
            <a:avLst/>
            <a:gdLst>
              <a:gd name="connsiteX0" fmla="*/ 0 w 2248249"/>
              <a:gd name="connsiteY0" fmla="*/ 1015085 h 1333173"/>
              <a:gd name="connsiteX1" fmla="*/ 595618 w 2248249"/>
              <a:gd name="connsiteY1" fmla="*/ 1258366 h 1333173"/>
              <a:gd name="connsiteX2" fmla="*/ 1073791 w 2248249"/>
              <a:gd name="connsiteY2" fmla="*/ 142630 h 1333173"/>
              <a:gd name="connsiteX3" fmla="*/ 1384183 w 2248249"/>
              <a:gd name="connsiteY3" fmla="*/ 142630 h 1333173"/>
              <a:gd name="connsiteX4" fmla="*/ 1736521 w 2248249"/>
              <a:gd name="connsiteY4" fmla="*/ 1308700 h 1333173"/>
              <a:gd name="connsiteX5" fmla="*/ 2248249 w 2248249"/>
              <a:gd name="connsiteY5" fmla="*/ 822138 h 1333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8249" h="1333173">
                <a:moveTo>
                  <a:pt x="0" y="1015085"/>
                </a:moveTo>
                <a:cubicBezTo>
                  <a:pt x="208326" y="1209430"/>
                  <a:pt x="416653" y="1403775"/>
                  <a:pt x="595618" y="1258366"/>
                </a:cubicBezTo>
                <a:cubicBezTo>
                  <a:pt x="774583" y="1112957"/>
                  <a:pt x="942364" y="328586"/>
                  <a:pt x="1073791" y="142630"/>
                </a:cubicBezTo>
                <a:cubicBezTo>
                  <a:pt x="1205218" y="-43326"/>
                  <a:pt x="1273728" y="-51715"/>
                  <a:pt x="1384183" y="142630"/>
                </a:cubicBezTo>
                <a:cubicBezTo>
                  <a:pt x="1494638" y="336975"/>
                  <a:pt x="1592510" y="1195449"/>
                  <a:pt x="1736521" y="1308700"/>
                </a:cubicBezTo>
                <a:cubicBezTo>
                  <a:pt x="1880532" y="1421951"/>
                  <a:pt x="2064390" y="1122044"/>
                  <a:pt x="2248249" y="82213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Forma Livre: Forma 17">
            <a:extLst>
              <a:ext uri="{FF2B5EF4-FFF2-40B4-BE49-F238E27FC236}">
                <a16:creationId xmlns:a16="http://schemas.microsoft.com/office/drawing/2014/main" id="{B633C366-05E5-5DFB-09AA-A34EB47C3F59}"/>
              </a:ext>
            </a:extLst>
          </p:cNvPr>
          <p:cNvSpPr/>
          <p:nvPr/>
        </p:nvSpPr>
        <p:spPr>
          <a:xfrm>
            <a:off x="6444142" y="4762563"/>
            <a:ext cx="1409350" cy="1421995"/>
          </a:xfrm>
          <a:custGeom>
            <a:avLst/>
            <a:gdLst>
              <a:gd name="connsiteX0" fmla="*/ 0 w 1409350"/>
              <a:gd name="connsiteY0" fmla="*/ 1191408 h 1421995"/>
              <a:gd name="connsiteX1" fmla="*/ 176169 w 1409350"/>
              <a:gd name="connsiteY1" fmla="*/ 1199797 h 1421995"/>
              <a:gd name="connsiteX2" fmla="*/ 713064 w 1409350"/>
              <a:gd name="connsiteY2" fmla="*/ 172 h 1421995"/>
              <a:gd name="connsiteX3" fmla="*/ 1233182 w 1409350"/>
              <a:gd name="connsiteY3" fmla="*/ 1292076 h 1421995"/>
              <a:gd name="connsiteX4" fmla="*/ 1409350 w 1409350"/>
              <a:gd name="connsiteY4" fmla="*/ 1308854 h 1421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350" h="1421995">
                <a:moveTo>
                  <a:pt x="0" y="1191408"/>
                </a:moveTo>
                <a:cubicBezTo>
                  <a:pt x="28662" y="1294872"/>
                  <a:pt x="57325" y="1398336"/>
                  <a:pt x="176169" y="1199797"/>
                </a:cubicBezTo>
                <a:cubicBezTo>
                  <a:pt x="295013" y="1001258"/>
                  <a:pt x="536895" y="-15208"/>
                  <a:pt x="713064" y="172"/>
                </a:cubicBezTo>
                <a:cubicBezTo>
                  <a:pt x="889233" y="15552"/>
                  <a:pt x="1117134" y="1073962"/>
                  <a:pt x="1233182" y="1292076"/>
                </a:cubicBezTo>
                <a:cubicBezTo>
                  <a:pt x="1349230" y="1510190"/>
                  <a:pt x="1379290" y="1409522"/>
                  <a:pt x="1409350" y="1308854"/>
                </a:cubicBezTo>
              </a:path>
            </a:pathLst>
          </a:custGeom>
          <a:noFill/>
          <a:ln>
            <a:solidFill>
              <a:srgbClr val="99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62FB58BF-66F5-0665-FA53-A2F908958C3E}"/>
              </a:ext>
            </a:extLst>
          </p:cNvPr>
          <p:cNvSpPr/>
          <p:nvPr/>
        </p:nvSpPr>
        <p:spPr>
          <a:xfrm>
            <a:off x="5739467" y="4760638"/>
            <a:ext cx="1409350" cy="1421995"/>
          </a:xfrm>
          <a:custGeom>
            <a:avLst/>
            <a:gdLst>
              <a:gd name="connsiteX0" fmla="*/ 0 w 1409350"/>
              <a:gd name="connsiteY0" fmla="*/ 1191408 h 1421995"/>
              <a:gd name="connsiteX1" fmla="*/ 176169 w 1409350"/>
              <a:gd name="connsiteY1" fmla="*/ 1199797 h 1421995"/>
              <a:gd name="connsiteX2" fmla="*/ 713064 w 1409350"/>
              <a:gd name="connsiteY2" fmla="*/ 172 h 1421995"/>
              <a:gd name="connsiteX3" fmla="*/ 1233182 w 1409350"/>
              <a:gd name="connsiteY3" fmla="*/ 1292076 h 1421995"/>
              <a:gd name="connsiteX4" fmla="*/ 1409350 w 1409350"/>
              <a:gd name="connsiteY4" fmla="*/ 1308854 h 1421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350" h="1421995">
                <a:moveTo>
                  <a:pt x="0" y="1191408"/>
                </a:moveTo>
                <a:cubicBezTo>
                  <a:pt x="28662" y="1294872"/>
                  <a:pt x="57325" y="1398336"/>
                  <a:pt x="176169" y="1199797"/>
                </a:cubicBezTo>
                <a:cubicBezTo>
                  <a:pt x="295013" y="1001258"/>
                  <a:pt x="536895" y="-15208"/>
                  <a:pt x="713064" y="172"/>
                </a:cubicBezTo>
                <a:cubicBezTo>
                  <a:pt x="889233" y="15552"/>
                  <a:pt x="1117134" y="1073962"/>
                  <a:pt x="1233182" y="1292076"/>
                </a:cubicBezTo>
                <a:cubicBezTo>
                  <a:pt x="1349230" y="1510190"/>
                  <a:pt x="1379290" y="1409522"/>
                  <a:pt x="1409350" y="1308854"/>
                </a:cubicBezTo>
              </a:path>
            </a:pathLst>
          </a:custGeom>
          <a:noFill/>
          <a:ln>
            <a:solidFill>
              <a:srgbClr val="1B7B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64849A64-1093-D0AA-6F3B-E7290456A670}"/>
              </a:ext>
            </a:extLst>
          </p:cNvPr>
          <p:cNvCxnSpPr/>
          <p:nvPr/>
        </p:nvCxnSpPr>
        <p:spPr>
          <a:xfrm>
            <a:off x="5216556" y="6211936"/>
            <a:ext cx="291098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tângulo 21">
            <a:extLst>
              <a:ext uri="{FF2B5EF4-FFF2-40B4-BE49-F238E27FC236}">
                <a16:creationId xmlns:a16="http://schemas.microsoft.com/office/drawing/2014/main" id="{5CC979C2-014A-A778-F321-3842FD6B5714}"/>
              </a:ext>
            </a:extLst>
          </p:cNvPr>
          <p:cNvSpPr/>
          <p:nvPr/>
        </p:nvSpPr>
        <p:spPr>
          <a:xfrm>
            <a:off x="4932723" y="4455488"/>
            <a:ext cx="1248560" cy="320649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Adimplentes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0D2D2592-5D77-8665-BF0A-FD8709A1BF18}"/>
              </a:ext>
            </a:extLst>
          </p:cNvPr>
          <p:cNvSpPr/>
          <p:nvPr/>
        </p:nvSpPr>
        <p:spPr>
          <a:xfrm>
            <a:off x="7378118" y="4455488"/>
            <a:ext cx="1248560" cy="320649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Inadimplentes</a:t>
            </a:r>
          </a:p>
        </p:txBody>
      </p:sp>
      <p:cxnSp>
        <p:nvCxnSpPr>
          <p:cNvPr id="27" name="Conector reto 26">
            <a:extLst>
              <a:ext uri="{FF2B5EF4-FFF2-40B4-BE49-F238E27FC236}">
                <a16:creationId xmlns:a16="http://schemas.microsoft.com/office/drawing/2014/main" id="{9A078F66-615F-2EEE-2E31-2C37B1DBB762}"/>
              </a:ext>
            </a:extLst>
          </p:cNvPr>
          <p:cNvCxnSpPr>
            <a:cxnSpLocks/>
          </p:cNvCxnSpPr>
          <p:nvPr/>
        </p:nvCxnSpPr>
        <p:spPr>
          <a:xfrm>
            <a:off x="6630101" y="5018629"/>
            <a:ext cx="0" cy="1193307"/>
          </a:xfrm>
          <a:prstGeom prst="line">
            <a:avLst/>
          </a:prstGeom>
          <a:ln w="127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riângulo Retângulo 30">
            <a:extLst>
              <a:ext uri="{FF2B5EF4-FFF2-40B4-BE49-F238E27FC236}">
                <a16:creationId xmlns:a16="http://schemas.microsoft.com/office/drawing/2014/main" id="{593F2AC6-F71B-B7BC-D470-B2A81F0C3584}"/>
              </a:ext>
            </a:extLst>
          </p:cNvPr>
          <p:cNvSpPr/>
          <p:nvPr/>
        </p:nvSpPr>
        <p:spPr>
          <a:xfrm rot="16200000">
            <a:off x="6350699" y="5916835"/>
            <a:ext cx="186885" cy="365125"/>
          </a:xfrm>
          <a:prstGeom prst="rtTriangl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33" name="Conector reto 32">
            <a:extLst>
              <a:ext uri="{FF2B5EF4-FFF2-40B4-BE49-F238E27FC236}">
                <a16:creationId xmlns:a16="http://schemas.microsoft.com/office/drawing/2014/main" id="{AB7DB62F-BD61-991E-8877-D6A928DC9C6B}"/>
              </a:ext>
            </a:extLst>
          </p:cNvPr>
          <p:cNvCxnSpPr/>
          <p:nvPr/>
        </p:nvCxnSpPr>
        <p:spPr>
          <a:xfrm>
            <a:off x="6410587" y="4772773"/>
            <a:ext cx="176169" cy="234891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to 33">
            <a:extLst>
              <a:ext uri="{FF2B5EF4-FFF2-40B4-BE49-F238E27FC236}">
                <a16:creationId xmlns:a16="http://schemas.microsoft.com/office/drawing/2014/main" id="{E60A624B-22AD-35F7-6EE1-22907DB3C1FC}"/>
              </a:ext>
            </a:extLst>
          </p:cNvPr>
          <p:cNvCxnSpPr>
            <a:cxnSpLocks/>
          </p:cNvCxnSpPr>
          <p:nvPr/>
        </p:nvCxnSpPr>
        <p:spPr>
          <a:xfrm>
            <a:off x="6371440" y="4858310"/>
            <a:ext cx="219514" cy="278789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to 34">
            <a:extLst>
              <a:ext uri="{FF2B5EF4-FFF2-40B4-BE49-F238E27FC236}">
                <a16:creationId xmlns:a16="http://schemas.microsoft.com/office/drawing/2014/main" id="{8937F023-E442-7406-0190-A00D3FBB04EA}"/>
              </a:ext>
            </a:extLst>
          </p:cNvPr>
          <p:cNvCxnSpPr>
            <a:cxnSpLocks/>
          </p:cNvCxnSpPr>
          <p:nvPr/>
        </p:nvCxnSpPr>
        <p:spPr>
          <a:xfrm>
            <a:off x="6335090" y="4942764"/>
            <a:ext cx="278232" cy="347501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A4C033DD-A4C2-DBE7-9D06-7CFF8DF328F7}"/>
              </a:ext>
            </a:extLst>
          </p:cNvPr>
          <p:cNvCxnSpPr>
            <a:cxnSpLocks/>
          </p:cNvCxnSpPr>
          <p:nvPr/>
        </p:nvCxnSpPr>
        <p:spPr>
          <a:xfrm>
            <a:off x="6302929" y="5006316"/>
            <a:ext cx="293418" cy="393960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FBFEB36C-A7A7-9A32-2403-E8D9818D892A}"/>
              </a:ext>
            </a:extLst>
          </p:cNvPr>
          <p:cNvCxnSpPr>
            <a:cxnSpLocks/>
          </p:cNvCxnSpPr>
          <p:nvPr/>
        </p:nvCxnSpPr>
        <p:spPr>
          <a:xfrm>
            <a:off x="6256091" y="5091986"/>
            <a:ext cx="318084" cy="416242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7708A4EC-5596-3ED2-E677-F01F4AB9AAC2}"/>
              </a:ext>
            </a:extLst>
          </p:cNvPr>
          <p:cNvCxnSpPr>
            <a:cxnSpLocks/>
          </p:cNvCxnSpPr>
          <p:nvPr/>
        </p:nvCxnSpPr>
        <p:spPr>
          <a:xfrm>
            <a:off x="6219741" y="5157881"/>
            <a:ext cx="343251" cy="457401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to 41">
            <a:extLst>
              <a:ext uri="{FF2B5EF4-FFF2-40B4-BE49-F238E27FC236}">
                <a16:creationId xmlns:a16="http://schemas.microsoft.com/office/drawing/2014/main" id="{3F133247-80F1-5FBE-921C-4838F4BEE63A}"/>
              </a:ext>
            </a:extLst>
          </p:cNvPr>
          <p:cNvCxnSpPr>
            <a:cxnSpLocks/>
          </p:cNvCxnSpPr>
          <p:nvPr/>
        </p:nvCxnSpPr>
        <p:spPr>
          <a:xfrm>
            <a:off x="5942800" y="5888509"/>
            <a:ext cx="214917" cy="332064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to 42">
            <a:extLst>
              <a:ext uri="{FF2B5EF4-FFF2-40B4-BE49-F238E27FC236}">
                <a16:creationId xmlns:a16="http://schemas.microsoft.com/office/drawing/2014/main" id="{81DC99DC-AAC2-BE20-83DC-36148CCEC519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6007915" y="5800680"/>
            <a:ext cx="253664" cy="392160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reto 43">
            <a:extLst>
              <a:ext uri="{FF2B5EF4-FFF2-40B4-BE49-F238E27FC236}">
                <a16:creationId xmlns:a16="http://schemas.microsoft.com/office/drawing/2014/main" id="{96F5331B-A35A-903E-7259-B169C872B406}"/>
              </a:ext>
            </a:extLst>
          </p:cNvPr>
          <p:cNvCxnSpPr>
            <a:cxnSpLocks/>
            <a:endCxn id="31" idx="5"/>
          </p:cNvCxnSpPr>
          <p:nvPr/>
        </p:nvCxnSpPr>
        <p:spPr>
          <a:xfrm>
            <a:off x="6096001" y="5664010"/>
            <a:ext cx="348141" cy="435387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ector reto 44">
            <a:extLst>
              <a:ext uri="{FF2B5EF4-FFF2-40B4-BE49-F238E27FC236}">
                <a16:creationId xmlns:a16="http://schemas.microsoft.com/office/drawing/2014/main" id="{CD6FF71B-6C88-5355-56FA-2BA4A9C6FEC9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6097999" y="5556956"/>
            <a:ext cx="346143" cy="397015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reto 45">
            <a:extLst>
              <a:ext uri="{FF2B5EF4-FFF2-40B4-BE49-F238E27FC236}">
                <a16:creationId xmlns:a16="http://schemas.microsoft.com/office/drawing/2014/main" id="{CF9FE25B-E99C-931C-984E-1496F598D58E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6144835" y="5482805"/>
            <a:ext cx="475476" cy="479555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to 46">
            <a:extLst>
              <a:ext uri="{FF2B5EF4-FFF2-40B4-BE49-F238E27FC236}">
                <a16:creationId xmlns:a16="http://schemas.microsoft.com/office/drawing/2014/main" id="{45B4023F-F418-9B1E-2EF3-4D96F6BA80FF}"/>
              </a:ext>
            </a:extLst>
          </p:cNvPr>
          <p:cNvCxnSpPr>
            <a:cxnSpLocks/>
          </p:cNvCxnSpPr>
          <p:nvPr/>
        </p:nvCxnSpPr>
        <p:spPr>
          <a:xfrm>
            <a:off x="6144835" y="5376186"/>
            <a:ext cx="441722" cy="388171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to 56">
            <a:extLst>
              <a:ext uri="{FF2B5EF4-FFF2-40B4-BE49-F238E27FC236}">
                <a16:creationId xmlns:a16="http://schemas.microsoft.com/office/drawing/2014/main" id="{94D0E453-52AD-6452-9CAA-6262FF762F6E}"/>
              </a:ext>
            </a:extLst>
          </p:cNvPr>
          <p:cNvCxnSpPr>
            <a:cxnSpLocks/>
          </p:cNvCxnSpPr>
          <p:nvPr/>
        </p:nvCxnSpPr>
        <p:spPr>
          <a:xfrm>
            <a:off x="6210646" y="5285741"/>
            <a:ext cx="385701" cy="403257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A9601A15-4007-04EC-3632-B97AEBC52E44}"/>
              </a:ext>
            </a:extLst>
          </p:cNvPr>
          <p:cNvSpPr txBox="1"/>
          <p:nvPr/>
        </p:nvSpPr>
        <p:spPr>
          <a:xfrm>
            <a:off x="6067237" y="6196822"/>
            <a:ext cx="3603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µ0</a:t>
            </a:r>
          </a:p>
        </p:txBody>
      </p: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ED675ACE-C14C-3B5A-39E9-DD4C415BB767}"/>
              </a:ext>
            </a:extLst>
          </p:cNvPr>
          <p:cNvSpPr txBox="1"/>
          <p:nvPr/>
        </p:nvSpPr>
        <p:spPr>
          <a:xfrm>
            <a:off x="7017789" y="6216568"/>
            <a:ext cx="3603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µ1</a:t>
            </a:r>
          </a:p>
        </p:txBody>
      </p:sp>
      <p:cxnSp>
        <p:nvCxnSpPr>
          <p:cNvPr id="65" name="Conector de Seta Reta 64">
            <a:extLst>
              <a:ext uri="{FF2B5EF4-FFF2-40B4-BE49-F238E27FC236}">
                <a16:creationId xmlns:a16="http://schemas.microsoft.com/office/drawing/2014/main" id="{6A3E5E32-8D67-1C15-5AB8-F3A2745CC397}"/>
              </a:ext>
            </a:extLst>
          </p:cNvPr>
          <p:cNvCxnSpPr>
            <a:cxnSpLocks/>
            <a:stCxn id="31" idx="1"/>
          </p:cNvCxnSpPr>
          <p:nvPr/>
        </p:nvCxnSpPr>
        <p:spPr>
          <a:xfrm flipH="1">
            <a:off x="6444141" y="6192840"/>
            <a:ext cx="1" cy="346072"/>
          </a:xfrm>
          <a:prstGeom prst="straightConnector1">
            <a:avLst/>
          </a:prstGeom>
          <a:ln w="28575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C7379306-C842-766B-47B9-0B531B3CEE86}"/>
              </a:ext>
            </a:extLst>
          </p:cNvPr>
          <p:cNvSpPr txBox="1"/>
          <p:nvPr/>
        </p:nvSpPr>
        <p:spPr>
          <a:xfrm>
            <a:off x="6318506" y="6550375"/>
            <a:ext cx="3603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endParaRPr lang="pt-BR" sz="1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0" name="Conector de Seta Reta 69">
            <a:extLst>
              <a:ext uri="{FF2B5EF4-FFF2-40B4-BE49-F238E27FC236}">
                <a16:creationId xmlns:a16="http://schemas.microsoft.com/office/drawing/2014/main" id="{FB59BF5B-9685-A377-ABF9-B3E839D397E8}"/>
              </a:ext>
            </a:extLst>
          </p:cNvPr>
          <p:cNvCxnSpPr>
            <a:cxnSpLocks/>
          </p:cNvCxnSpPr>
          <p:nvPr/>
        </p:nvCxnSpPr>
        <p:spPr>
          <a:xfrm rot="5400000" flipH="1">
            <a:off x="6020634" y="5201158"/>
            <a:ext cx="1" cy="346072"/>
          </a:xfrm>
          <a:prstGeom prst="straightConnector1">
            <a:avLst/>
          </a:prstGeom>
          <a:ln w="28575">
            <a:solidFill>
              <a:srgbClr val="1B7B5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DA2A397C-52CD-33B6-63C6-FA23AB9EF5C9}"/>
              </a:ext>
            </a:extLst>
          </p:cNvPr>
          <p:cNvSpPr txBox="1"/>
          <p:nvPr/>
        </p:nvSpPr>
        <p:spPr>
          <a:xfrm>
            <a:off x="5459912" y="5232426"/>
            <a:ext cx="4983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1 - </a:t>
            </a:r>
            <a:r>
              <a:rPr lang="el-G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endParaRPr lang="pt-BR" sz="1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CaixaDeTexto 71">
            <a:extLst>
              <a:ext uri="{FF2B5EF4-FFF2-40B4-BE49-F238E27FC236}">
                <a16:creationId xmlns:a16="http://schemas.microsoft.com/office/drawing/2014/main" id="{5F370E77-0534-2128-3974-42FA8E0AC247}"/>
              </a:ext>
            </a:extLst>
          </p:cNvPr>
          <p:cNvSpPr txBox="1"/>
          <p:nvPr/>
        </p:nvSpPr>
        <p:spPr>
          <a:xfrm>
            <a:off x="6651402" y="5750898"/>
            <a:ext cx="2855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endParaRPr lang="pt-BR" sz="1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63F7D9F3-7ACB-8397-D668-9A38E9B0BBC4}"/>
              </a:ext>
            </a:extLst>
          </p:cNvPr>
          <p:cNvSpPr txBox="1"/>
          <p:nvPr/>
        </p:nvSpPr>
        <p:spPr>
          <a:xfrm>
            <a:off x="7749400" y="5232426"/>
            <a:ext cx="479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1 - </a:t>
            </a:r>
            <a:r>
              <a:rPr lang="el-G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endParaRPr lang="pt-BR" sz="1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6" name="Conector reto 75">
            <a:extLst>
              <a:ext uri="{FF2B5EF4-FFF2-40B4-BE49-F238E27FC236}">
                <a16:creationId xmlns:a16="http://schemas.microsoft.com/office/drawing/2014/main" id="{3341CCC7-7160-BD10-9319-B1E31925F67F}"/>
              </a:ext>
            </a:extLst>
          </p:cNvPr>
          <p:cNvCxnSpPr>
            <a:cxnSpLocks/>
          </p:cNvCxnSpPr>
          <p:nvPr/>
        </p:nvCxnSpPr>
        <p:spPr>
          <a:xfrm>
            <a:off x="7103378" y="4813197"/>
            <a:ext cx="344746" cy="708664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ector reto 76">
            <a:extLst>
              <a:ext uri="{FF2B5EF4-FFF2-40B4-BE49-F238E27FC236}">
                <a16:creationId xmlns:a16="http://schemas.microsoft.com/office/drawing/2014/main" id="{21949529-EABF-968E-BD8D-CFD657050A37}"/>
              </a:ext>
            </a:extLst>
          </p:cNvPr>
          <p:cNvCxnSpPr>
            <a:cxnSpLocks/>
          </p:cNvCxnSpPr>
          <p:nvPr/>
        </p:nvCxnSpPr>
        <p:spPr>
          <a:xfrm>
            <a:off x="7063875" y="4904759"/>
            <a:ext cx="452933" cy="859598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ector reto 77">
            <a:extLst>
              <a:ext uri="{FF2B5EF4-FFF2-40B4-BE49-F238E27FC236}">
                <a16:creationId xmlns:a16="http://schemas.microsoft.com/office/drawing/2014/main" id="{741ABDD3-1EBA-6B31-215B-D6AD4D9AE8A3}"/>
              </a:ext>
            </a:extLst>
          </p:cNvPr>
          <p:cNvCxnSpPr>
            <a:cxnSpLocks/>
          </p:cNvCxnSpPr>
          <p:nvPr/>
        </p:nvCxnSpPr>
        <p:spPr>
          <a:xfrm>
            <a:off x="7020187" y="4997704"/>
            <a:ext cx="559616" cy="977469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ector reto 78">
            <a:extLst>
              <a:ext uri="{FF2B5EF4-FFF2-40B4-BE49-F238E27FC236}">
                <a16:creationId xmlns:a16="http://schemas.microsoft.com/office/drawing/2014/main" id="{87960192-796D-AD81-0AFA-B8040B2A8F1D}"/>
              </a:ext>
            </a:extLst>
          </p:cNvPr>
          <p:cNvCxnSpPr>
            <a:cxnSpLocks/>
          </p:cNvCxnSpPr>
          <p:nvPr/>
        </p:nvCxnSpPr>
        <p:spPr>
          <a:xfrm>
            <a:off x="6988726" y="5107792"/>
            <a:ext cx="557522" cy="958268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ector reto 79">
            <a:extLst>
              <a:ext uri="{FF2B5EF4-FFF2-40B4-BE49-F238E27FC236}">
                <a16:creationId xmlns:a16="http://schemas.microsoft.com/office/drawing/2014/main" id="{9D058D94-E910-C708-9600-50E036A7548F}"/>
              </a:ext>
            </a:extLst>
          </p:cNvPr>
          <p:cNvCxnSpPr>
            <a:cxnSpLocks/>
          </p:cNvCxnSpPr>
          <p:nvPr/>
        </p:nvCxnSpPr>
        <p:spPr>
          <a:xfrm>
            <a:off x="6995114" y="5249988"/>
            <a:ext cx="497850" cy="854493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ector reto 80">
            <a:extLst>
              <a:ext uri="{FF2B5EF4-FFF2-40B4-BE49-F238E27FC236}">
                <a16:creationId xmlns:a16="http://schemas.microsoft.com/office/drawing/2014/main" id="{E719A41D-6356-E300-FB0C-E1E1F7076F5A}"/>
              </a:ext>
            </a:extLst>
          </p:cNvPr>
          <p:cNvCxnSpPr>
            <a:cxnSpLocks/>
          </p:cNvCxnSpPr>
          <p:nvPr/>
        </p:nvCxnSpPr>
        <p:spPr>
          <a:xfrm>
            <a:off x="6901389" y="5318285"/>
            <a:ext cx="537640" cy="806369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ector reto 81">
            <a:extLst>
              <a:ext uri="{FF2B5EF4-FFF2-40B4-BE49-F238E27FC236}">
                <a16:creationId xmlns:a16="http://schemas.microsoft.com/office/drawing/2014/main" id="{1931DA8D-390D-14EF-26DD-50579112C11A}"/>
              </a:ext>
            </a:extLst>
          </p:cNvPr>
          <p:cNvCxnSpPr>
            <a:cxnSpLocks/>
          </p:cNvCxnSpPr>
          <p:nvPr/>
        </p:nvCxnSpPr>
        <p:spPr>
          <a:xfrm>
            <a:off x="6827936" y="5400571"/>
            <a:ext cx="531778" cy="710093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ector reto 82">
            <a:extLst>
              <a:ext uri="{FF2B5EF4-FFF2-40B4-BE49-F238E27FC236}">
                <a16:creationId xmlns:a16="http://schemas.microsoft.com/office/drawing/2014/main" id="{5843D592-5F53-B63F-8049-A02C44663999}"/>
              </a:ext>
            </a:extLst>
          </p:cNvPr>
          <p:cNvCxnSpPr>
            <a:cxnSpLocks/>
          </p:cNvCxnSpPr>
          <p:nvPr/>
        </p:nvCxnSpPr>
        <p:spPr>
          <a:xfrm>
            <a:off x="6862299" y="5559061"/>
            <a:ext cx="409552" cy="588297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ector reto 83">
            <a:extLst>
              <a:ext uri="{FF2B5EF4-FFF2-40B4-BE49-F238E27FC236}">
                <a16:creationId xmlns:a16="http://schemas.microsoft.com/office/drawing/2014/main" id="{D9A8827A-15B5-7324-6528-38A956CA6D56}"/>
              </a:ext>
            </a:extLst>
          </p:cNvPr>
          <p:cNvCxnSpPr>
            <a:cxnSpLocks/>
            <a:endCxn id="63" idx="0"/>
          </p:cNvCxnSpPr>
          <p:nvPr/>
        </p:nvCxnSpPr>
        <p:spPr>
          <a:xfrm>
            <a:off x="6885403" y="5737015"/>
            <a:ext cx="312551" cy="479553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ector reto 93">
            <a:extLst>
              <a:ext uri="{FF2B5EF4-FFF2-40B4-BE49-F238E27FC236}">
                <a16:creationId xmlns:a16="http://schemas.microsoft.com/office/drawing/2014/main" id="{86B647AD-5F24-0936-890C-663D44541FB6}"/>
              </a:ext>
            </a:extLst>
          </p:cNvPr>
          <p:cNvCxnSpPr>
            <a:cxnSpLocks/>
          </p:cNvCxnSpPr>
          <p:nvPr/>
        </p:nvCxnSpPr>
        <p:spPr>
          <a:xfrm>
            <a:off x="7172062" y="4838491"/>
            <a:ext cx="218591" cy="450176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ector de Seta Reta 96">
            <a:extLst>
              <a:ext uri="{FF2B5EF4-FFF2-40B4-BE49-F238E27FC236}">
                <a16:creationId xmlns:a16="http://schemas.microsoft.com/office/drawing/2014/main" id="{BBAE8C0E-3455-EE08-EDC1-45959AC9BA4F}"/>
              </a:ext>
            </a:extLst>
          </p:cNvPr>
          <p:cNvCxnSpPr>
            <a:cxnSpLocks/>
          </p:cNvCxnSpPr>
          <p:nvPr/>
        </p:nvCxnSpPr>
        <p:spPr>
          <a:xfrm rot="16200000">
            <a:off x="7568173" y="5189354"/>
            <a:ext cx="1" cy="346072"/>
          </a:xfrm>
          <a:prstGeom prst="straightConnector1">
            <a:avLst/>
          </a:prstGeom>
          <a:ln w="28575">
            <a:solidFill>
              <a:srgbClr val="9933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11279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Retângulo 1090">
            <a:extLst>
              <a:ext uri="{FF2B5EF4-FFF2-40B4-BE49-F238E27FC236}">
                <a16:creationId xmlns:a16="http://schemas.microsoft.com/office/drawing/2014/main" id="{A607DEB9-2668-12F3-6146-582090DB042C}"/>
              </a:ext>
            </a:extLst>
          </p:cNvPr>
          <p:cNvSpPr/>
          <p:nvPr/>
        </p:nvSpPr>
        <p:spPr>
          <a:xfrm>
            <a:off x="478310" y="336328"/>
            <a:ext cx="10595158" cy="442913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Seta: de Cima para Baixo 4">
            <a:extLst>
              <a:ext uri="{FF2B5EF4-FFF2-40B4-BE49-F238E27FC236}">
                <a16:creationId xmlns:a16="http://schemas.microsoft.com/office/drawing/2014/main" id="{15BBDD42-1F94-E7FC-185D-46C9A20B68C3}"/>
              </a:ext>
            </a:extLst>
          </p:cNvPr>
          <p:cNvSpPr/>
          <p:nvPr/>
        </p:nvSpPr>
        <p:spPr>
          <a:xfrm>
            <a:off x="3649213" y="977215"/>
            <a:ext cx="352338" cy="149937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eta: de Cima para Baixo 5">
            <a:extLst>
              <a:ext uri="{FF2B5EF4-FFF2-40B4-BE49-F238E27FC236}">
                <a16:creationId xmlns:a16="http://schemas.microsoft.com/office/drawing/2014/main" id="{E6B3187B-7260-DCE5-BD08-3B606D402F6E}"/>
              </a:ext>
            </a:extLst>
          </p:cNvPr>
          <p:cNvSpPr/>
          <p:nvPr/>
        </p:nvSpPr>
        <p:spPr>
          <a:xfrm rot="5400000">
            <a:off x="3617057" y="771689"/>
            <a:ext cx="352338" cy="188752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35E1FBA0-FABE-032C-43CC-E671887F115E}"/>
              </a:ext>
            </a:extLst>
          </p:cNvPr>
          <p:cNvSpPr/>
          <p:nvPr/>
        </p:nvSpPr>
        <p:spPr>
          <a:xfrm>
            <a:off x="2108433" y="960439"/>
            <a:ext cx="1585518" cy="57884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Decisão Correta (1-</a:t>
            </a:r>
            <a:r>
              <a:rPr lang="el-G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α</a:t>
            </a:r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71E6B39-F40F-505F-2032-9C6E8AB64857}"/>
              </a:ext>
            </a:extLst>
          </p:cNvPr>
          <p:cNvSpPr/>
          <p:nvPr/>
        </p:nvSpPr>
        <p:spPr>
          <a:xfrm>
            <a:off x="3956810" y="960439"/>
            <a:ext cx="1560352" cy="57884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 Tipo I (</a:t>
            </a:r>
            <a:r>
              <a:rPr lang="el-G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D0D04B60-9339-CE6C-98EB-9AE6998B76BB}"/>
              </a:ext>
            </a:extLst>
          </p:cNvPr>
          <p:cNvSpPr/>
          <p:nvPr/>
        </p:nvSpPr>
        <p:spPr>
          <a:xfrm>
            <a:off x="508937" y="960438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H0 é Verdadeira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66363B61-C21C-831A-4882-2C8DF6A06B61}"/>
              </a:ext>
            </a:extLst>
          </p:cNvPr>
          <p:cNvSpPr/>
          <p:nvPr/>
        </p:nvSpPr>
        <p:spPr>
          <a:xfrm>
            <a:off x="500542" y="1916783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H0 é Falsa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EF5B7E8E-8220-FD4F-89AC-A00FB5E4FBE6}"/>
              </a:ext>
            </a:extLst>
          </p:cNvPr>
          <p:cNvSpPr/>
          <p:nvPr/>
        </p:nvSpPr>
        <p:spPr>
          <a:xfrm>
            <a:off x="2088861" y="339651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Não Rejeitar H0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BBED27DC-2534-264E-19ED-9F285D0B1D39}"/>
              </a:ext>
            </a:extLst>
          </p:cNvPr>
          <p:cNvSpPr/>
          <p:nvPr/>
        </p:nvSpPr>
        <p:spPr>
          <a:xfrm>
            <a:off x="3993858" y="339651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Rejeitar H0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06975C0B-3F90-6E04-0897-5E5F7B65B81E}"/>
              </a:ext>
            </a:extLst>
          </p:cNvPr>
          <p:cNvSpPr/>
          <p:nvPr/>
        </p:nvSpPr>
        <p:spPr>
          <a:xfrm>
            <a:off x="2108433" y="1933565"/>
            <a:ext cx="1585518" cy="54528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 Tipo II (β)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FA358A3F-B6E9-4677-29A0-433809E85C4A}"/>
              </a:ext>
            </a:extLst>
          </p:cNvPr>
          <p:cNvSpPr/>
          <p:nvPr/>
        </p:nvSpPr>
        <p:spPr>
          <a:xfrm>
            <a:off x="3966596" y="1933564"/>
            <a:ext cx="1540780" cy="54528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Decisão Correta (1-</a:t>
            </a:r>
            <a:r>
              <a:rPr lang="el-G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β)</a:t>
            </a:r>
          </a:p>
        </p:txBody>
      </p:sp>
      <p:sp>
        <p:nvSpPr>
          <p:cNvPr id="44" name="Seta: de Cima para Baixo 43">
            <a:extLst>
              <a:ext uri="{FF2B5EF4-FFF2-40B4-BE49-F238E27FC236}">
                <a16:creationId xmlns:a16="http://schemas.microsoft.com/office/drawing/2014/main" id="{F30C0EE7-B696-13DF-7894-7929D2548078}"/>
              </a:ext>
            </a:extLst>
          </p:cNvPr>
          <p:cNvSpPr/>
          <p:nvPr/>
        </p:nvSpPr>
        <p:spPr>
          <a:xfrm>
            <a:off x="8854668" y="1017628"/>
            <a:ext cx="352338" cy="1458958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Seta: de Cima para Baixo 44">
            <a:extLst>
              <a:ext uri="{FF2B5EF4-FFF2-40B4-BE49-F238E27FC236}">
                <a16:creationId xmlns:a16="http://schemas.microsoft.com/office/drawing/2014/main" id="{D755E265-9A9B-BB67-EAB8-0BC8FEA86038}"/>
              </a:ext>
            </a:extLst>
          </p:cNvPr>
          <p:cNvSpPr/>
          <p:nvPr/>
        </p:nvSpPr>
        <p:spPr>
          <a:xfrm rot="5400000">
            <a:off x="8822512" y="771689"/>
            <a:ext cx="352338" cy="188752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471C301A-CA22-F873-5962-F35187EB193A}"/>
              </a:ext>
            </a:extLst>
          </p:cNvPr>
          <p:cNvSpPr/>
          <p:nvPr/>
        </p:nvSpPr>
        <p:spPr>
          <a:xfrm>
            <a:off x="7313888" y="960439"/>
            <a:ext cx="1585518" cy="57884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VN</a:t>
            </a:r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BAA2D601-FE30-29EE-5B17-4E97928614F7}"/>
              </a:ext>
            </a:extLst>
          </p:cNvPr>
          <p:cNvSpPr/>
          <p:nvPr/>
        </p:nvSpPr>
        <p:spPr>
          <a:xfrm>
            <a:off x="9162265" y="960439"/>
            <a:ext cx="1560352" cy="57884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</a:t>
            </a:r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B87F605D-0A36-2C6A-BEA7-3F8953E87B59}"/>
              </a:ext>
            </a:extLst>
          </p:cNvPr>
          <p:cNvSpPr/>
          <p:nvPr/>
        </p:nvSpPr>
        <p:spPr>
          <a:xfrm>
            <a:off x="5714392" y="960438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Negativo</a:t>
            </a:r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89E943F8-6C28-C693-E234-0FFEB927B434}"/>
              </a:ext>
            </a:extLst>
          </p:cNvPr>
          <p:cNvSpPr/>
          <p:nvPr/>
        </p:nvSpPr>
        <p:spPr>
          <a:xfrm>
            <a:off x="5705997" y="1916783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Positivo</a:t>
            </a:r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34663E70-1189-6666-3246-46778F9D526C}"/>
              </a:ext>
            </a:extLst>
          </p:cNvPr>
          <p:cNvSpPr/>
          <p:nvPr/>
        </p:nvSpPr>
        <p:spPr>
          <a:xfrm>
            <a:off x="7294316" y="339651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Negativo</a:t>
            </a:r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E0443E74-67A1-F4E5-7420-422420E0C502}"/>
              </a:ext>
            </a:extLst>
          </p:cNvPr>
          <p:cNvSpPr/>
          <p:nvPr/>
        </p:nvSpPr>
        <p:spPr>
          <a:xfrm>
            <a:off x="9199313" y="339651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Positivo</a:t>
            </a:r>
          </a:p>
        </p:txBody>
      </p:sp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20374B25-AD45-C529-565D-E25D0937C948}"/>
              </a:ext>
            </a:extLst>
          </p:cNvPr>
          <p:cNvSpPr/>
          <p:nvPr/>
        </p:nvSpPr>
        <p:spPr>
          <a:xfrm>
            <a:off x="7313888" y="1933565"/>
            <a:ext cx="1585518" cy="54528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FN</a:t>
            </a:r>
          </a:p>
        </p:txBody>
      </p:sp>
      <p:sp>
        <p:nvSpPr>
          <p:cNvPr id="53" name="Retângulo: Cantos Arredondados 52">
            <a:extLst>
              <a:ext uri="{FF2B5EF4-FFF2-40B4-BE49-F238E27FC236}">
                <a16:creationId xmlns:a16="http://schemas.microsoft.com/office/drawing/2014/main" id="{FD955590-F2B7-AB53-32E5-24FE0AD1C5FC}"/>
              </a:ext>
            </a:extLst>
          </p:cNvPr>
          <p:cNvSpPr/>
          <p:nvPr/>
        </p:nvSpPr>
        <p:spPr>
          <a:xfrm>
            <a:off x="9172051" y="1933564"/>
            <a:ext cx="1540780" cy="54528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VP</a:t>
            </a:r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29D9672D-F0C9-30FE-A775-E07FF5A085B4}"/>
              </a:ext>
            </a:extLst>
          </p:cNvPr>
          <p:cNvSpPr/>
          <p:nvPr/>
        </p:nvSpPr>
        <p:spPr>
          <a:xfrm rot="16200000">
            <a:off x="-487952" y="1530890"/>
            <a:ext cx="1577132" cy="35233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VALOR REAL</a:t>
            </a:r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9B3038AF-68B0-6045-4542-0FA29A30F56E}"/>
              </a:ext>
            </a:extLst>
          </p:cNvPr>
          <p:cNvSpPr/>
          <p:nvPr/>
        </p:nvSpPr>
        <p:spPr>
          <a:xfrm>
            <a:off x="4549452" y="32275"/>
            <a:ext cx="3093095" cy="30340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VALOR PREDITO</a:t>
            </a:r>
          </a:p>
        </p:txBody>
      </p:sp>
      <p:sp>
        <p:nvSpPr>
          <p:cNvPr id="1046" name="Seta: de Cima para Baixo 1045">
            <a:extLst>
              <a:ext uri="{FF2B5EF4-FFF2-40B4-BE49-F238E27FC236}">
                <a16:creationId xmlns:a16="http://schemas.microsoft.com/office/drawing/2014/main" id="{0C3267AE-76B8-C91A-5F32-6EAC8C58BD92}"/>
              </a:ext>
            </a:extLst>
          </p:cNvPr>
          <p:cNvSpPr/>
          <p:nvPr/>
        </p:nvSpPr>
        <p:spPr>
          <a:xfrm>
            <a:off x="3661064" y="3175133"/>
            <a:ext cx="352338" cy="1560354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7" name="Seta: de Cima para Baixo 1046">
            <a:extLst>
              <a:ext uri="{FF2B5EF4-FFF2-40B4-BE49-F238E27FC236}">
                <a16:creationId xmlns:a16="http://schemas.microsoft.com/office/drawing/2014/main" id="{B0948A10-86B7-1EDF-1461-71A8A27E1C80}"/>
              </a:ext>
            </a:extLst>
          </p:cNvPr>
          <p:cNvSpPr/>
          <p:nvPr/>
        </p:nvSpPr>
        <p:spPr>
          <a:xfrm rot="5400000">
            <a:off x="3628908" y="2969607"/>
            <a:ext cx="352338" cy="188752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8" name="Retângulo: Cantos Arredondados 1047">
            <a:extLst>
              <a:ext uri="{FF2B5EF4-FFF2-40B4-BE49-F238E27FC236}">
                <a16:creationId xmlns:a16="http://schemas.microsoft.com/office/drawing/2014/main" id="{D93AB318-37B1-7A66-BDFE-CB23F7E9B1EF}"/>
              </a:ext>
            </a:extLst>
          </p:cNvPr>
          <p:cNvSpPr/>
          <p:nvPr/>
        </p:nvSpPr>
        <p:spPr>
          <a:xfrm>
            <a:off x="2120284" y="3158357"/>
            <a:ext cx="1585518" cy="57884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Decisão Correta (1-</a:t>
            </a:r>
            <a:r>
              <a:rPr lang="el-G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α</a:t>
            </a:r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49" name="Retângulo: Cantos Arredondados 1048">
            <a:extLst>
              <a:ext uri="{FF2B5EF4-FFF2-40B4-BE49-F238E27FC236}">
                <a16:creationId xmlns:a16="http://schemas.microsoft.com/office/drawing/2014/main" id="{E1BFF80F-DB7F-8BFA-BF70-E0D0D68C06F9}"/>
              </a:ext>
            </a:extLst>
          </p:cNvPr>
          <p:cNvSpPr/>
          <p:nvPr/>
        </p:nvSpPr>
        <p:spPr>
          <a:xfrm>
            <a:off x="3968661" y="3158357"/>
            <a:ext cx="1560352" cy="57884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 Tipo I (</a:t>
            </a:r>
            <a:r>
              <a:rPr lang="el-G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50" name="Retângulo 1049">
            <a:extLst>
              <a:ext uri="{FF2B5EF4-FFF2-40B4-BE49-F238E27FC236}">
                <a16:creationId xmlns:a16="http://schemas.microsoft.com/office/drawing/2014/main" id="{8C7F0D20-6DB7-6F01-1F3B-B9386D3FE5A8}"/>
              </a:ext>
            </a:extLst>
          </p:cNvPr>
          <p:cNvSpPr/>
          <p:nvPr/>
        </p:nvSpPr>
        <p:spPr>
          <a:xfrm>
            <a:off x="520788" y="3158356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 é realmente adimplente</a:t>
            </a:r>
          </a:p>
        </p:txBody>
      </p:sp>
      <p:sp>
        <p:nvSpPr>
          <p:cNvPr id="1051" name="Retângulo 1050">
            <a:extLst>
              <a:ext uri="{FF2B5EF4-FFF2-40B4-BE49-F238E27FC236}">
                <a16:creationId xmlns:a16="http://schemas.microsoft.com/office/drawing/2014/main" id="{126A8701-FD9A-AE6D-8724-9A7EEB0259EC}"/>
              </a:ext>
            </a:extLst>
          </p:cNvPr>
          <p:cNvSpPr/>
          <p:nvPr/>
        </p:nvSpPr>
        <p:spPr>
          <a:xfrm>
            <a:off x="512393" y="4114701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 é realmente inadimplente</a:t>
            </a:r>
          </a:p>
        </p:txBody>
      </p:sp>
      <p:sp>
        <p:nvSpPr>
          <p:cNvPr id="1052" name="Retângulo 1051">
            <a:extLst>
              <a:ext uri="{FF2B5EF4-FFF2-40B4-BE49-F238E27FC236}">
                <a16:creationId xmlns:a16="http://schemas.microsoft.com/office/drawing/2014/main" id="{3A04E49F-34E7-31BC-2349-DE0D18BFB967}"/>
              </a:ext>
            </a:extLst>
          </p:cNvPr>
          <p:cNvSpPr/>
          <p:nvPr/>
        </p:nvSpPr>
        <p:spPr>
          <a:xfrm>
            <a:off x="2100712" y="2537569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Não rejeitar que ele é adimplente</a:t>
            </a:r>
          </a:p>
        </p:txBody>
      </p:sp>
      <p:sp>
        <p:nvSpPr>
          <p:cNvPr id="1053" name="Retângulo 1052">
            <a:extLst>
              <a:ext uri="{FF2B5EF4-FFF2-40B4-BE49-F238E27FC236}">
                <a16:creationId xmlns:a16="http://schemas.microsoft.com/office/drawing/2014/main" id="{C1FC3A02-3D57-D2AC-B80B-51B353B711E7}"/>
              </a:ext>
            </a:extLst>
          </p:cNvPr>
          <p:cNvSpPr/>
          <p:nvPr/>
        </p:nvSpPr>
        <p:spPr>
          <a:xfrm>
            <a:off x="4005709" y="2537569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Rejeitar que ele é adimplente</a:t>
            </a:r>
          </a:p>
        </p:txBody>
      </p:sp>
      <p:sp>
        <p:nvSpPr>
          <p:cNvPr id="1054" name="Retângulo: Cantos Arredondados 1053">
            <a:extLst>
              <a:ext uri="{FF2B5EF4-FFF2-40B4-BE49-F238E27FC236}">
                <a16:creationId xmlns:a16="http://schemas.microsoft.com/office/drawing/2014/main" id="{EA26EA5B-DE56-C9E5-97FF-B1F4590171E1}"/>
              </a:ext>
            </a:extLst>
          </p:cNvPr>
          <p:cNvSpPr/>
          <p:nvPr/>
        </p:nvSpPr>
        <p:spPr>
          <a:xfrm>
            <a:off x="2120284" y="4131483"/>
            <a:ext cx="1585518" cy="54528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 Tipo II (β)</a:t>
            </a:r>
          </a:p>
        </p:txBody>
      </p:sp>
      <p:sp>
        <p:nvSpPr>
          <p:cNvPr id="1055" name="Retângulo: Cantos Arredondados 1054">
            <a:extLst>
              <a:ext uri="{FF2B5EF4-FFF2-40B4-BE49-F238E27FC236}">
                <a16:creationId xmlns:a16="http://schemas.microsoft.com/office/drawing/2014/main" id="{78CDC0BB-5F56-71B4-555F-A1F87D8457D0}"/>
              </a:ext>
            </a:extLst>
          </p:cNvPr>
          <p:cNvSpPr/>
          <p:nvPr/>
        </p:nvSpPr>
        <p:spPr>
          <a:xfrm>
            <a:off x="3978447" y="4131482"/>
            <a:ext cx="1540780" cy="54528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Decisão Correta (1-</a:t>
            </a:r>
            <a:r>
              <a:rPr lang="el-G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β)</a:t>
            </a:r>
          </a:p>
        </p:txBody>
      </p:sp>
      <p:sp>
        <p:nvSpPr>
          <p:cNvPr id="1056" name="Seta: de Cima para Baixo 1055">
            <a:extLst>
              <a:ext uri="{FF2B5EF4-FFF2-40B4-BE49-F238E27FC236}">
                <a16:creationId xmlns:a16="http://schemas.microsoft.com/office/drawing/2014/main" id="{C5CCE349-A6A1-5730-DB46-0F5F8BF19584}"/>
              </a:ext>
            </a:extLst>
          </p:cNvPr>
          <p:cNvSpPr/>
          <p:nvPr/>
        </p:nvSpPr>
        <p:spPr>
          <a:xfrm>
            <a:off x="8874240" y="3203881"/>
            <a:ext cx="352338" cy="153160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7" name="Seta: de Cima para Baixo 1056">
            <a:extLst>
              <a:ext uri="{FF2B5EF4-FFF2-40B4-BE49-F238E27FC236}">
                <a16:creationId xmlns:a16="http://schemas.microsoft.com/office/drawing/2014/main" id="{DB630546-8098-EB2C-3E3A-4ADE1AF9FBA8}"/>
              </a:ext>
            </a:extLst>
          </p:cNvPr>
          <p:cNvSpPr/>
          <p:nvPr/>
        </p:nvSpPr>
        <p:spPr>
          <a:xfrm rot="5400000">
            <a:off x="8842084" y="2983981"/>
            <a:ext cx="352338" cy="188752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8" name="Retângulo: Cantos Arredondados 1057">
            <a:extLst>
              <a:ext uri="{FF2B5EF4-FFF2-40B4-BE49-F238E27FC236}">
                <a16:creationId xmlns:a16="http://schemas.microsoft.com/office/drawing/2014/main" id="{3B5104FA-64AF-F6A9-4BF8-98E2F2F1816D}"/>
              </a:ext>
            </a:extLst>
          </p:cNvPr>
          <p:cNvSpPr/>
          <p:nvPr/>
        </p:nvSpPr>
        <p:spPr>
          <a:xfrm>
            <a:off x="7333460" y="3172731"/>
            <a:ext cx="1585518" cy="57884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Adimplente</a:t>
            </a:r>
          </a:p>
        </p:txBody>
      </p:sp>
      <p:sp>
        <p:nvSpPr>
          <p:cNvPr id="1059" name="Retângulo: Cantos Arredondados 1058">
            <a:extLst>
              <a:ext uri="{FF2B5EF4-FFF2-40B4-BE49-F238E27FC236}">
                <a16:creationId xmlns:a16="http://schemas.microsoft.com/office/drawing/2014/main" id="{7515AD5B-97DA-FAA9-D094-7AE354FD8C95}"/>
              </a:ext>
            </a:extLst>
          </p:cNvPr>
          <p:cNvSpPr/>
          <p:nvPr/>
        </p:nvSpPr>
        <p:spPr>
          <a:xfrm>
            <a:off x="9181837" y="3172731"/>
            <a:ext cx="1560352" cy="57884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Falo que é Inadimplente quando é Adimplente</a:t>
            </a:r>
          </a:p>
        </p:txBody>
      </p:sp>
      <p:sp>
        <p:nvSpPr>
          <p:cNvPr id="1060" name="Retângulo 1059">
            <a:extLst>
              <a:ext uri="{FF2B5EF4-FFF2-40B4-BE49-F238E27FC236}">
                <a16:creationId xmlns:a16="http://schemas.microsoft.com/office/drawing/2014/main" id="{D813D70F-4D7A-67BE-6F68-F9107A5082F9}"/>
              </a:ext>
            </a:extLst>
          </p:cNvPr>
          <p:cNvSpPr/>
          <p:nvPr/>
        </p:nvSpPr>
        <p:spPr>
          <a:xfrm>
            <a:off x="5733964" y="3172730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Adimplente</a:t>
            </a:r>
          </a:p>
        </p:txBody>
      </p:sp>
      <p:sp>
        <p:nvSpPr>
          <p:cNvPr id="1061" name="Retângulo 1060">
            <a:extLst>
              <a:ext uri="{FF2B5EF4-FFF2-40B4-BE49-F238E27FC236}">
                <a16:creationId xmlns:a16="http://schemas.microsoft.com/office/drawing/2014/main" id="{750F4BC6-3089-2423-98B2-90BBE5F3365E}"/>
              </a:ext>
            </a:extLst>
          </p:cNvPr>
          <p:cNvSpPr/>
          <p:nvPr/>
        </p:nvSpPr>
        <p:spPr>
          <a:xfrm>
            <a:off x="5725569" y="4129075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Inadimplente</a:t>
            </a:r>
          </a:p>
        </p:txBody>
      </p:sp>
      <p:sp>
        <p:nvSpPr>
          <p:cNvPr id="1062" name="Retângulo 1061">
            <a:extLst>
              <a:ext uri="{FF2B5EF4-FFF2-40B4-BE49-F238E27FC236}">
                <a16:creationId xmlns:a16="http://schemas.microsoft.com/office/drawing/2014/main" id="{6F272AF7-4BC9-7239-4DCD-C29A7669622A}"/>
              </a:ext>
            </a:extLst>
          </p:cNvPr>
          <p:cNvSpPr/>
          <p:nvPr/>
        </p:nvSpPr>
        <p:spPr>
          <a:xfrm>
            <a:off x="7313888" y="2551943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Adimplente</a:t>
            </a:r>
          </a:p>
        </p:txBody>
      </p:sp>
      <p:sp>
        <p:nvSpPr>
          <p:cNvPr id="1063" name="Retângulo 1062">
            <a:extLst>
              <a:ext uri="{FF2B5EF4-FFF2-40B4-BE49-F238E27FC236}">
                <a16:creationId xmlns:a16="http://schemas.microsoft.com/office/drawing/2014/main" id="{3119CD82-F559-C046-67F6-F3432EF4A699}"/>
              </a:ext>
            </a:extLst>
          </p:cNvPr>
          <p:cNvSpPr/>
          <p:nvPr/>
        </p:nvSpPr>
        <p:spPr>
          <a:xfrm>
            <a:off x="9218885" y="2551943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Inadimplente</a:t>
            </a:r>
          </a:p>
        </p:txBody>
      </p:sp>
      <p:sp>
        <p:nvSpPr>
          <p:cNvPr id="1064" name="Retângulo: Cantos Arredondados 1063">
            <a:extLst>
              <a:ext uri="{FF2B5EF4-FFF2-40B4-BE49-F238E27FC236}">
                <a16:creationId xmlns:a16="http://schemas.microsoft.com/office/drawing/2014/main" id="{1066E43E-B14E-4364-C05D-4702C62D9B3C}"/>
              </a:ext>
            </a:extLst>
          </p:cNvPr>
          <p:cNvSpPr/>
          <p:nvPr/>
        </p:nvSpPr>
        <p:spPr>
          <a:xfrm>
            <a:off x="7333460" y="4145857"/>
            <a:ext cx="1585518" cy="54528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Falo que é Adimplente quando é Inadimplente</a:t>
            </a:r>
          </a:p>
        </p:txBody>
      </p:sp>
      <p:sp>
        <p:nvSpPr>
          <p:cNvPr id="1065" name="Retângulo: Cantos Arredondados 1064">
            <a:extLst>
              <a:ext uri="{FF2B5EF4-FFF2-40B4-BE49-F238E27FC236}">
                <a16:creationId xmlns:a16="http://schemas.microsoft.com/office/drawing/2014/main" id="{1AB0DBAC-A165-89BF-B82D-FD964D158870}"/>
              </a:ext>
            </a:extLst>
          </p:cNvPr>
          <p:cNvSpPr/>
          <p:nvPr/>
        </p:nvSpPr>
        <p:spPr>
          <a:xfrm>
            <a:off x="9191623" y="4145856"/>
            <a:ext cx="1540780" cy="54528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Inadimplente</a:t>
            </a:r>
          </a:p>
        </p:txBody>
      </p:sp>
      <p:sp>
        <p:nvSpPr>
          <p:cNvPr id="1066" name="Retângulo 1065">
            <a:extLst>
              <a:ext uri="{FF2B5EF4-FFF2-40B4-BE49-F238E27FC236}">
                <a16:creationId xmlns:a16="http://schemas.microsoft.com/office/drawing/2014/main" id="{650E4641-3CD2-C67A-71F1-50703ADE2E5E}"/>
              </a:ext>
            </a:extLst>
          </p:cNvPr>
          <p:cNvSpPr/>
          <p:nvPr/>
        </p:nvSpPr>
        <p:spPr>
          <a:xfrm rot="16200000">
            <a:off x="-512999" y="3798248"/>
            <a:ext cx="1603372" cy="35233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BOM E MAU PAGADOR</a:t>
            </a:r>
          </a:p>
        </p:txBody>
      </p:sp>
      <p:sp>
        <p:nvSpPr>
          <p:cNvPr id="1026" name="Forma Livre: Forma 1025">
            <a:extLst>
              <a:ext uri="{FF2B5EF4-FFF2-40B4-BE49-F238E27FC236}">
                <a16:creationId xmlns:a16="http://schemas.microsoft.com/office/drawing/2014/main" id="{E3AF7640-089E-86A9-D3A2-DDD4D77599C1}"/>
              </a:ext>
            </a:extLst>
          </p:cNvPr>
          <p:cNvSpPr/>
          <p:nvPr/>
        </p:nvSpPr>
        <p:spPr>
          <a:xfrm>
            <a:off x="5716488" y="5103076"/>
            <a:ext cx="1409350" cy="1421995"/>
          </a:xfrm>
          <a:custGeom>
            <a:avLst/>
            <a:gdLst>
              <a:gd name="connsiteX0" fmla="*/ 0 w 1409350"/>
              <a:gd name="connsiteY0" fmla="*/ 1191408 h 1421995"/>
              <a:gd name="connsiteX1" fmla="*/ 176169 w 1409350"/>
              <a:gd name="connsiteY1" fmla="*/ 1199797 h 1421995"/>
              <a:gd name="connsiteX2" fmla="*/ 713064 w 1409350"/>
              <a:gd name="connsiteY2" fmla="*/ 172 h 1421995"/>
              <a:gd name="connsiteX3" fmla="*/ 1233182 w 1409350"/>
              <a:gd name="connsiteY3" fmla="*/ 1292076 h 1421995"/>
              <a:gd name="connsiteX4" fmla="*/ 1409350 w 1409350"/>
              <a:gd name="connsiteY4" fmla="*/ 1308854 h 1421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350" h="1421995">
                <a:moveTo>
                  <a:pt x="0" y="1191408"/>
                </a:moveTo>
                <a:cubicBezTo>
                  <a:pt x="28662" y="1294872"/>
                  <a:pt x="57325" y="1398336"/>
                  <a:pt x="176169" y="1199797"/>
                </a:cubicBezTo>
                <a:cubicBezTo>
                  <a:pt x="295013" y="1001258"/>
                  <a:pt x="536895" y="-15208"/>
                  <a:pt x="713064" y="172"/>
                </a:cubicBezTo>
                <a:cubicBezTo>
                  <a:pt x="889233" y="15552"/>
                  <a:pt x="1117134" y="1073962"/>
                  <a:pt x="1233182" y="1292076"/>
                </a:cubicBezTo>
                <a:cubicBezTo>
                  <a:pt x="1349230" y="1510190"/>
                  <a:pt x="1379290" y="1409522"/>
                  <a:pt x="1409350" y="1308854"/>
                </a:cubicBezTo>
              </a:path>
            </a:pathLst>
          </a:custGeom>
          <a:noFill/>
          <a:ln>
            <a:solidFill>
              <a:srgbClr val="99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27" name="Forma Livre: Forma 1026">
            <a:extLst>
              <a:ext uri="{FF2B5EF4-FFF2-40B4-BE49-F238E27FC236}">
                <a16:creationId xmlns:a16="http://schemas.microsoft.com/office/drawing/2014/main" id="{D1BA6F1F-F30D-6735-177D-297E8325B851}"/>
              </a:ext>
            </a:extLst>
          </p:cNvPr>
          <p:cNvSpPr/>
          <p:nvPr/>
        </p:nvSpPr>
        <p:spPr>
          <a:xfrm>
            <a:off x="5011813" y="5101151"/>
            <a:ext cx="1409350" cy="1421995"/>
          </a:xfrm>
          <a:custGeom>
            <a:avLst/>
            <a:gdLst>
              <a:gd name="connsiteX0" fmla="*/ 0 w 1409350"/>
              <a:gd name="connsiteY0" fmla="*/ 1191408 h 1421995"/>
              <a:gd name="connsiteX1" fmla="*/ 176169 w 1409350"/>
              <a:gd name="connsiteY1" fmla="*/ 1199797 h 1421995"/>
              <a:gd name="connsiteX2" fmla="*/ 713064 w 1409350"/>
              <a:gd name="connsiteY2" fmla="*/ 172 h 1421995"/>
              <a:gd name="connsiteX3" fmla="*/ 1233182 w 1409350"/>
              <a:gd name="connsiteY3" fmla="*/ 1292076 h 1421995"/>
              <a:gd name="connsiteX4" fmla="*/ 1409350 w 1409350"/>
              <a:gd name="connsiteY4" fmla="*/ 1308854 h 1421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350" h="1421995">
                <a:moveTo>
                  <a:pt x="0" y="1191408"/>
                </a:moveTo>
                <a:cubicBezTo>
                  <a:pt x="28662" y="1294872"/>
                  <a:pt x="57325" y="1398336"/>
                  <a:pt x="176169" y="1199797"/>
                </a:cubicBezTo>
                <a:cubicBezTo>
                  <a:pt x="295013" y="1001258"/>
                  <a:pt x="536895" y="-15208"/>
                  <a:pt x="713064" y="172"/>
                </a:cubicBezTo>
                <a:cubicBezTo>
                  <a:pt x="889233" y="15552"/>
                  <a:pt x="1117134" y="1073962"/>
                  <a:pt x="1233182" y="1292076"/>
                </a:cubicBezTo>
                <a:cubicBezTo>
                  <a:pt x="1349230" y="1510190"/>
                  <a:pt x="1379290" y="1409522"/>
                  <a:pt x="1409350" y="1308854"/>
                </a:cubicBezTo>
              </a:path>
            </a:pathLst>
          </a:custGeom>
          <a:noFill/>
          <a:ln>
            <a:solidFill>
              <a:srgbClr val="1B7B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028" name="Conector reto 1027">
            <a:extLst>
              <a:ext uri="{FF2B5EF4-FFF2-40B4-BE49-F238E27FC236}">
                <a16:creationId xmlns:a16="http://schemas.microsoft.com/office/drawing/2014/main" id="{128FE59E-2A56-EBE0-E152-9F5133FB4F7C}"/>
              </a:ext>
            </a:extLst>
          </p:cNvPr>
          <p:cNvCxnSpPr/>
          <p:nvPr/>
        </p:nvCxnSpPr>
        <p:spPr>
          <a:xfrm>
            <a:off x="4488902" y="6552449"/>
            <a:ext cx="291098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Retângulo 1028">
            <a:extLst>
              <a:ext uri="{FF2B5EF4-FFF2-40B4-BE49-F238E27FC236}">
                <a16:creationId xmlns:a16="http://schemas.microsoft.com/office/drawing/2014/main" id="{3B0FC4EE-CF4D-39B5-A902-6D9563D38C1D}"/>
              </a:ext>
            </a:extLst>
          </p:cNvPr>
          <p:cNvSpPr/>
          <p:nvPr/>
        </p:nvSpPr>
        <p:spPr>
          <a:xfrm>
            <a:off x="4196622" y="4947058"/>
            <a:ext cx="1248560" cy="320649"/>
          </a:xfrm>
          <a:prstGeom prst="rect">
            <a:avLst/>
          </a:prstGeom>
          <a:solidFill>
            <a:srgbClr val="1B7B56"/>
          </a:solidFill>
          <a:ln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Adimplentes</a:t>
            </a:r>
          </a:p>
        </p:txBody>
      </p:sp>
      <p:sp>
        <p:nvSpPr>
          <p:cNvPr id="1030" name="Retângulo 1029">
            <a:extLst>
              <a:ext uri="{FF2B5EF4-FFF2-40B4-BE49-F238E27FC236}">
                <a16:creationId xmlns:a16="http://schemas.microsoft.com/office/drawing/2014/main" id="{14411766-340A-0B70-F0BB-2E59C80202D9}"/>
              </a:ext>
            </a:extLst>
          </p:cNvPr>
          <p:cNvSpPr/>
          <p:nvPr/>
        </p:nvSpPr>
        <p:spPr>
          <a:xfrm>
            <a:off x="6700718" y="4940826"/>
            <a:ext cx="1248560" cy="320649"/>
          </a:xfrm>
          <a:prstGeom prst="rect">
            <a:avLst/>
          </a:prstGeom>
          <a:solidFill>
            <a:srgbClr val="993300"/>
          </a:solidFill>
          <a:ln>
            <a:solidFill>
              <a:srgbClr val="9933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Inadimplentes</a:t>
            </a:r>
          </a:p>
        </p:txBody>
      </p:sp>
      <p:cxnSp>
        <p:nvCxnSpPr>
          <p:cNvPr id="1031" name="Conector reto 1030">
            <a:extLst>
              <a:ext uri="{FF2B5EF4-FFF2-40B4-BE49-F238E27FC236}">
                <a16:creationId xmlns:a16="http://schemas.microsoft.com/office/drawing/2014/main" id="{9E00BE48-1D46-CEB5-DC25-0D8E73DC3E24}"/>
              </a:ext>
            </a:extLst>
          </p:cNvPr>
          <p:cNvCxnSpPr>
            <a:cxnSpLocks/>
          </p:cNvCxnSpPr>
          <p:nvPr/>
        </p:nvCxnSpPr>
        <p:spPr>
          <a:xfrm>
            <a:off x="5902447" y="5359142"/>
            <a:ext cx="0" cy="1193307"/>
          </a:xfrm>
          <a:prstGeom prst="line">
            <a:avLst/>
          </a:prstGeom>
          <a:ln w="127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2" name="Triângulo Retângulo 1031">
            <a:extLst>
              <a:ext uri="{FF2B5EF4-FFF2-40B4-BE49-F238E27FC236}">
                <a16:creationId xmlns:a16="http://schemas.microsoft.com/office/drawing/2014/main" id="{4AEAC060-F6F3-13DB-4FFB-367706A3F3FF}"/>
              </a:ext>
            </a:extLst>
          </p:cNvPr>
          <p:cNvSpPr/>
          <p:nvPr/>
        </p:nvSpPr>
        <p:spPr>
          <a:xfrm rot="16200000">
            <a:off x="5623045" y="6257348"/>
            <a:ext cx="186885" cy="365125"/>
          </a:xfrm>
          <a:prstGeom prst="rtTriangl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033" name="Conector reto 1032">
            <a:extLst>
              <a:ext uri="{FF2B5EF4-FFF2-40B4-BE49-F238E27FC236}">
                <a16:creationId xmlns:a16="http://schemas.microsoft.com/office/drawing/2014/main" id="{563485FC-F393-C027-6732-81AC8B91C635}"/>
              </a:ext>
            </a:extLst>
          </p:cNvPr>
          <p:cNvCxnSpPr/>
          <p:nvPr/>
        </p:nvCxnSpPr>
        <p:spPr>
          <a:xfrm>
            <a:off x="5682933" y="5113286"/>
            <a:ext cx="176169" cy="234891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Conector reto 1033">
            <a:extLst>
              <a:ext uri="{FF2B5EF4-FFF2-40B4-BE49-F238E27FC236}">
                <a16:creationId xmlns:a16="http://schemas.microsoft.com/office/drawing/2014/main" id="{331EE7E9-FD04-2511-1EA5-38FCF9B6D602}"/>
              </a:ext>
            </a:extLst>
          </p:cNvPr>
          <p:cNvCxnSpPr>
            <a:cxnSpLocks/>
          </p:cNvCxnSpPr>
          <p:nvPr/>
        </p:nvCxnSpPr>
        <p:spPr>
          <a:xfrm>
            <a:off x="5643786" y="5198823"/>
            <a:ext cx="219514" cy="278789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5" name="Conector reto 1034">
            <a:extLst>
              <a:ext uri="{FF2B5EF4-FFF2-40B4-BE49-F238E27FC236}">
                <a16:creationId xmlns:a16="http://schemas.microsoft.com/office/drawing/2014/main" id="{B4BCAD2E-3F6C-E5CD-86DE-274251ACDB69}"/>
              </a:ext>
            </a:extLst>
          </p:cNvPr>
          <p:cNvCxnSpPr>
            <a:cxnSpLocks/>
          </p:cNvCxnSpPr>
          <p:nvPr/>
        </p:nvCxnSpPr>
        <p:spPr>
          <a:xfrm>
            <a:off x="5607436" y="5283277"/>
            <a:ext cx="278232" cy="347501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6" name="Conector reto 1035">
            <a:extLst>
              <a:ext uri="{FF2B5EF4-FFF2-40B4-BE49-F238E27FC236}">
                <a16:creationId xmlns:a16="http://schemas.microsoft.com/office/drawing/2014/main" id="{E3F1CD28-36CC-991D-0ED0-3080589AA45B}"/>
              </a:ext>
            </a:extLst>
          </p:cNvPr>
          <p:cNvCxnSpPr>
            <a:cxnSpLocks/>
          </p:cNvCxnSpPr>
          <p:nvPr/>
        </p:nvCxnSpPr>
        <p:spPr>
          <a:xfrm>
            <a:off x="5575275" y="5346829"/>
            <a:ext cx="293418" cy="393960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7" name="Conector reto 1036">
            <a:extLst>
              <a:ext uri="{FF2B5EF4-FFF2-40B4-BE49-F238E27FC236}">
                <a16:creationId xmlns:a16="http://schemas.microsoft.com/office/drawing/2014/main" id="{DA01EF7A-F9E4-B2F3-DEBC-C0674273A1AA}"/>
              </a:ext>
            </a:extLst>
          </p:cNvPr>
          <p:cNvCxnSpPr>
            <a:cxnSpLocks/>
          </p:cNvCxnSpPr>
          <p:nvPr/>
        </p:nvCxnSpPr>
        <p:spPr>
          <a:xfrm>
            <a:off x="5528437" y="5432499"/>
            <a:ext cx="318084" cy="416242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8" name="Conector reto 1037">
            <a:extLst>
              <a:ext uri="{FF2B5EF4-FFF2-40B4-BE49-F238E27FC236}">
                <a16:creationId xmlns:a16="http://schemas.microsoft.com/office/drawing/2014/main" id="{2C4F2276-8D45-177D-6CA0-144D9E08C7C2}"/>
              </a:ext>
            </a:extLst>
          </p:cNvPr>
          <p:cNvCxnSpPr>
            <a:cxnSpLocks/>
          </p:cNvCxnSpPr>
          <p:nvPr/>
        </p:nvCxnSpPr>
        <p:spPr>
          <a:xfrm>
            <a:off x="5492087" y="5498394"/>
            <a:ext cx="343251" cy="457401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Conector reto 1038">
            <a:extLst>
              <a:ext uri="{FF2B5EF4-FFF2-40B4-BE49-F238E27FC236}">
                <a16:creationId xmlns:a16="http://schemas.microsoft.com/office/drawing/2014/main" id="{507501A6-8C55-74FC-C3D9-0A43E6C41E86}"/>
              </a:ext>
            </a:extLst>
          </p:cNvPr>
          <p:cNvCxnSpPr>
            <a:cxnSpLocks/>
          </p:cNvCxnSpPr>
          <p:nvPr/>
        </p:nvCxnSpPr>
        <p:spPr>
          <a:xfrm>
            <a:off x="5215146" y="6229022"/>
            <a:ext cx="214917" cy="332064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0" name="Conector reto 1039">
            <a:extLst>
              <a:ext uri="{FF2B5EF4-FFF2-40B4-BE49-F238E27FC236}">
                <a16:creationId xmlns:a16="http://schemas.microsoft.com/office/drawing/2014/main" id="{84EBE5ED-E106-C982-5D44-BB46425AA589}"/>
              </a:ext>
            </a:extLst>
          </p:cNvPr>
          <p:cNvCxnSpPr>
            <a:cxnSpLocks/>
            <a:endCxn id="1032" idx="0"/>
          </p:cNvCxnSpPr>
          <p:nvPr/>
        </p:nvCxnSpPr>
        <p:spPr>
          <a:xfrm>
            <a:off x="5280261" y="6141193"/>
            <a:ext cx="253664" cy="392160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1" name="Conector reto 1040">
            <a:extLst>
              <a:ext uri="{FF2B5EF4-FFF2-40B4-BE49-F238E27FC236}">
                <a16:creationId xmlns:a16="http://schemas.microsoft.com/office/drawing/2014/main" id="{70E96386-0E32-E2AD-5FF8-195B71CE021D}"/>
              </a:ext>
            </a:extLst>
          </p:cNvPr>
          <p:cNvCxnSpPr>
            <a:cxnSpLocks/>
            <a:endCxn id="1032" idx="5"/>
          </p:cNvCxnSpPr>
          <p:nvPr/>
        </p:nvCxnSpPr>
        <p:spPr>
          <a:xfrm>
            <a:off x="5368347" y="6004523"/>
            <a:ext cx="348141" cy="435387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2" name="Conector reto 1041">
            <a:extLst>
              <a:ext uri="{FF2B5EF4-FFF2-40B4-BE49-F238E27FC236}">
                <a16:creationId xmlns:a16="http://schemas.microsoft.com/office/drawing/2014/main" id="{DEE6DE35-73A6-05A0-B962-2C9309CD4DDF}"/>
              </a:ext>
            </a:extLst>
          </p:cNvPr>
          <p:cNvCxnSpPr>
            <a:cxnSpLocks/>
            <a:endCxn id="1026" idx="0"/>
          </p:cNvCxnSpPr>
          <p:nvPr/>
        </p:nvCxnSpPr>
        <p:spPr>
          <a:xfrm>
            <a:off x="5370345" y="5897469"/>
            <a:ext cx="346143" cy="397015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3" name="Conector reto 1042">
            <a:extLst>
              <a:ext uri="{FF2B5EF4-FFF2-40B4-BE49-F238E27FC236}">
                <a16:creationId xmlns:a16="http://schemas.microsoft.com/office/drawing/2014/main" id="{E2392E88-B305-5D9D-F43A-EB7F9C187983}"/>
              </a:ext>
            </a:extLst>
          </p:cNvPr>
          <p:cNvCxnSpPr>
            <a:cxnSpLocks/>
            <a:endCxn id="1026" idx="1"/>
          </p:cNvCxnSpPr>
          <p:nvPr/>
        </p:nvCxnSpPr>
        <p:spPr>
          <a:xfrm>
            <a:off x="5417181" y="5823318"/>
            <a:ext cx="475476" cy="479555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Conector reto 1043">
            <a:extLst>
              <a:ext uri="{FF2B5EF4-FFF2-40B4-BE49-F238E27FC236}">
                <a16:creationId xmlns:a16="http://schemas.microsoft.com/office/drawing/2014/main" id="{804170F4-9727-003D-8CE0-3FB90B2F1D46}"/>
              </a:ext>
            </a:extLst>
          </p:cNvPr>
          <p:cNvCxnSpPr>
            <a:cxnSpLocks/>
          </p:cNvCxnSpPr>
          <p:nvPr/>
        </p:nvCxnSpPr>
        <p:spPr>
          <a:xfrm>
            <a:off x="5417181" y="5716699"/>
            <a:ext cx="441722" cy="388171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5" name="Conector reto 1044">
            <a:extLst>
              <a:ext uri="{FF2B5EF4-FFF2-40B4-BE49-F238E27FC236}">
                <a16:creationId xmlns:a16="http://schemas.microsoft.com/office/drawing/2014/main" id="{9AED2EF5-BC50-9F69-6619-207FC3461D33}"/>
              </a:ext>
            </a:extLst>
          </p:cNvPr>
          <p:cNvCxnSpPr>
            <a:cxnSpLocks/>
          </p:cNvCxnSpPr>
          <p:nvPr/>
        </p:nvCxnSpPr>
        <p:spPr>
          <a:xfrm>
            <a:off x="5482992" y="5626254"/>
            <a:ext cx="385701" cy="403257"/>
          </a:xfrm>
          <a:prstGeom prst="line">
            <a:avLst/>
          </a:prstGeom>
          <a:ln w="38100">
            <a:solidFill>
              <a:srgbClr val="1B7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7" name="CaixaDeTexto 1066">
            <a:extLst>
              <a:ext uri="{FF2B5EF4-FFF2-40B4-BE49-F238E27FC236}">
                <a16:creationId xmlns:a16="http://schemas.microsoft.com/office/drawing/2014/main" id="{BADDC162-50B0-03DD-14BC-4720216E635A}"/>
              </a:ext>
            </a:extLst>
          </p:cNvPr>
          <p:cNvSpPr txBox="1"/>
          <p:nvPr/>
        </p:nvSpPr>
        <p:spPr>
          <a:xfrm>
            <a:off x="5540791" y="4818759"/>
            <a:ext cx="3603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µ0</a:t>
            </a:r>
          </a:p>
        </p:txBody>
      </p:sp>
      <p:sp>
        <p:nvSpPr>
          <p:cNvPr id="1070" name="CaixaDeTexto 1069">
            <a:extLst>
              <a:ext uri="{FF2B5EF4-FFF2-40B4-BE49-F238E27FC236}">
                <a16:creationId xmlns:a16="http://schemas.microsoft.com/office/drawing/2014/main" id="{012BB932-E3B1-49F1-C48E-696A3159E18B}"/>
              </a:ext>
            </a:extLst>
          </p:cNvPr>
          <p:cNvSpPr txBox="1"/>
          <p:nvPr/>
        </p:nvSpPr>
        <p:spPr>
          <a:xfrm>
            <a:off x="6264749" y="4840816"/>
            <a:ext cx="3603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µ1</a:t>
            </a:r>
          </a:p>
        </p:txBody>
      </p:sp>
      <p:cxnSp>
        <p:nvCxnSpPr>
          <p:cNvPr id="1071" name="Conector de Seta Reta 1070">
            <a:extLst>
              <a:ext uri="{FF2B5EF4-FFF2-40B4-BE49-F238E27FC236}">
                <a16:creationId xmlns:a16="http://schemas.microsoft.com/office/drawing/2014/main" id="{4680D172-F042-80F3-EF94-809270F0556A}"/>
              </a:ext>
            </a:extLst>
          </p:cNvPr>
          <p:cNvCxnSpPr>
            <a:cxnSpLocks/>
          </p:cNvCxnSpPr>
          <p:nvPr/>
        </p:nvCxnSpPr>
        <p:spPr>
          <a:xfrm flipH="1">
            <a:off x="5595190" y="6447506"/>
            <a:ext cx="251530" cy="192844"/>
          </a:xfrm>
          <a:prstGeom prst="straightConnector1">
            <a:avLst/>
          </a:prstGeom>
          <a:ln w="28575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2" name="CaixaDeTexto 1071">
            <a:extLst>
              <a:ext uri="{FF2B5EF4-FFF2-40B4-BE49-F238E27FC236}">
                <a16:creationId xmlns:a16="http://schemas.microsoft.com/office/drawing/2014/main" id="{65B5E54A-8A21-ACDD-064A-631685D8B599}"/>
              </a:ext>
            </a:extLst>
          </p:cNvPr>
          <p:cNvSpPr txBox="1"/>
          <p:nvPr/>
        </p:nvSpPr>
        <p:spPr>
          <a:xfrm>
            <a:off x="5380332" y="6589920"/>
            <a:ext cx="3603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endParaRPr lang="pt-BR" sz="1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73" name="Conector de Seta Reta 1072">
            <a:extLst>
              <a:ext uri="{FF2B5EF4-FFF2-40B4-BE49-F238E27FC236}">
                <a16:creationId xmlns:a16="http://schemas.microsoft.com/office/drawing/2014/main" id="{D090908E-0FDA-07FF-D7DD-F8131F6F13EE}"/>
              </a:ext>
            </a:extLst>
          </p:cNvPr>
          <p:cNvCxnSpPr>
            <a:cxnSpLocks/>
          </p:cNvCxnSpPr>
          <p:nvPr/>
        </p:nvCxnSpPr>
        <p:spPr>
          <a:xfrm rot="5400000" flipH="1">
            <a:off x="5292980" y="5541671"/>
            <a:ext cx="1" cy="346072"/>
          </a:xfrm>
          <a:prstGeom prst="straightConnector1">
            <a:avLst/>
          </a:prstGeom>
          <a:ln w="28575">
            <a:solidFill>
              <a:srgbClr val="1B7B5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4" name="CaixaDeTexto 1073">
            <a:extLst>
              <a:ext uri="{FF2B5EF4-FFF2-40B4-BE49-F238E27FC236}">
                <a16:creationId xmlns:a16="http://schemas.microsoft.com/office/drawing/2014/main" id="{A6FEA132-9E44-C1C2-AEE7-72F629424A4A}"/>
              </a:ext>
            </a:extLst>
          </p:cNvPr>
          <p:cNvSpPr txBox="1"/>
          <p:nvPr/>
        </p:nvSpPr>
        <p:spPr>
          <a:xfrm>
            <a:off x="4732258" y="5572939"/>
            <a:ext cx="4983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1 - </a:t>
            </a:r>
            <a:r>
              <a:rPr lang="el-G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endParaRPr lang="pt-BR" sz="1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5" name="CaixaDeTexto 1074">
            <a:extLst>
              <a:ext uri="{FF2B5EF4-FFF2-40B4-BE49-F238E27FC236}">
                <a16:creationId xmlns:a16="http://schemas.microsoft.com/office/drawing/2014/main" id="{3B1F2B4B-BD86-E55E-7227-A990500843B4}"/>
              </a:ext>
            </a:extLst>
          </p:cNvPr>
          <p:cNvSpPr txBox="1"/>
          <p:nvPr/>
        </p:nvSpPr>
        <p:spPr>
          <a:xfrm>
            <a:off x="5923748" y="6091411"/>
            <a:ext cx="2855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endParaRPr lang="pt-BR" sz="1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6" name="CaixaDeTexto 1075">
            <a:extLst>
              <a:ext uri="{FF2B5EF4-FFF2-40B4-BE49-F238E27FC236}">
                <a16:creationId xmlns:a16="http://schemas.microsoft.com/office/drawing/2014/main" id="{40DB433B-9C50-E52C-F894-59A5FE512AD8}"/>
              </a:ext>
            </a:extLst>
          </p:cNvPr>
          <p:cNvSpPr txBox="1"/>
          <p:nvPr/>
        </p:nvSpPr>
        <p:spPr>
          <a:xfrm>
            <a:off x="7021746" y="5572939"/>
            <a:ext cx="479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1 - </a:t>
            </a:r>
            <a:r>
              <a:rPr lang="el-GR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endParaRPr lang="pt-BR" sz="1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77" name="Conector reto 1076">
            <a:extLst>
              <a:ext uri="{FF2B5EF4-FFF2-40B4-BE49-F238E27FC236}">
                <a16:creationId xmlns:a16="http://schemas.microsoft.com/office/drawing/2014/main" id="{D3BB60C6-0C38-344F-2648-C420F8329D99}"/>
              </a:ext>
            </a:extLst>
          </p:cNvPr>
          <p:cNvCxnSpPr>
            <a:cxnSpLocks/>
          </p:cNvCxnSpPr>
          <p:nvPr/>
        </p:nvCxnSpPr>
        <p:spPr>
          <a:xfrm>
            <a:off x="6375724" y="5153710"/>
            <a:ext cx="344746" cy="708664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8" name="Conector reto 1077">
            <a:extLst>
              <a:ext uri="{FF2B5EF4-FFF2-40B4-BE49-F238E27FC236}">
                <a16:creationId xmlns:a16="http://schemas.microsoft.com/office/drawing/2014/main" id="{B1019D75-7538-6831-AFB6-C17F1285134F}"/>
              </a:ext>
            </a:extLst>
          </p:cNvPr>
          <p:cNvCxnSpPr>
            <a:cxnSpLocks/>
          </p:cNvCxnSpPr>
          <p:nvPr/>
        </p:nvCxnSpPr>
        <p:spPr>
          <a:xfrm>
            <a:off x="6336221" y="5245272"/>
            <a:ext cx="452933" cy="859598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9" name="Conector reto 1078">
            <a:extLst>
              <a:ext uri="{FF2B5EF4-FFF2-40B4-BE49-F238E27FC236}">
                <a16:creationId xmlns:a16="http://schemas.microsoft.com/office/drawing/2014/main" id="{E6D5DF30-5A76-C0EC-F521-2EAB96A35BF8}"/>
              </a:ext>
            </a:extLst>
          </p:cNvPr>
          <p:cNvCxnSpPr>
            <a:cxnSpLocks/>
          </p:cNvCxnSpPr>
          <p:nvPr/>
        </p:nvCxnSpPr>
        <p:spPr>
          <a:xfrm>
            <a:off x="6292533" y="5338217"/>
            <a:ext cx="559616" cy="977469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0" name="Conector reto 1079">
            <a:extLst>
              <a:ext uri="{FF2B5EF4-FFF2-40B4-BE49-F238E27FC236}">
                <a16:creationId xmlns:a16="http://schemas.microsoft.com/office/drawing/2014/main" id="{7AE20325-BF85-A664-E770-C17752850653}"/>
              </a:ext>
            </a:extLst>
          </p:cNvPr>
          <p:cNvCxnSpPr>
            <a:cxnSpLocks/>
          </p:cNvCxnSpPr>
          <p:nvPr/>
        </p:nvCxnSpPr>
        <p:spPr>
          <a:xfrm>
            <a:off x="6261072" y="5448305"/>
            <a:ext cx="557522" cy="958268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1" name="Conector reto 1080">
            <a:extLst>
              <a:ext uri="{FF2B5EF4-FFF2-40B4-BE49-F238E27FC236}">
                <a16:creationId xmlns:a16="http://schemas.microsoft.com/office/drawing/2014/main" id="{8D2B85B6-C4E4-4056-0FBF-3FA5FAD97D15}"/>
              </a:ext>
            </a:extLst>
          </p:cNvPr>
          <p:cNvCxnSpPr>
            <a:cxnSpLocks/>
          </p:cNvCxnSpPr>
          <p:nvPr/>
        </p:nvCxnSpPr>
        <p:spPr>
          <a:xfrm>
            <a:off x="6267460" y="5590501"/>
            <a:ext cx="497850" cy="854493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2" name="Conector reto 1081">
            <a:extLst>
              <a:ext uri="{FF2B5EF4-FFF2-40B4-BE49-F238E27FC236}">
                <a16:creationId xmlns:a16="http://schemas.microsoft.com/office/drawing/2014/main" id="{03C4BBBA-959E-6D09-337C-506F1849EAA0}"/>
              </a:ext>
            </a:extLst>
          </p:cNvPr>
          <p:cNvCxnSpPr>
            <a:cxnSpLocks/>
          </p:cNvCxnSpPr>
          <p:nvPr/>
        </p:nvCxnSpPr>
        <p:spPr>
          <a:xfrm>
            <a:off x="6173735" y="5658798"/>
            <a:ext cx="537640" cy="806369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3" name="Conector reto 1082">
            <a:extLst>
              <a:ext uri="{FF2B5EF4-FFF2-40B4-BE49-F238E27FC236}">
                <a16:creationId xmlns:a16="http://schemas.microsoft.com/office/drawing/2014/main" id="{31A23855-D4B5-21CF-5A69-2D645A18BDC3}"/>
              </a:ext>
            </a:extLst>
          </p:cNvPr>
          <p:cNvCxnSpPr>
            <a:cxnSpLocks/>
          </p:cNvCxnSpPr>
          <p:nvPr/>
        </p:nvCxnSpPr>
        <p:spPr>
          <a:xfrm>
            <a:off x="6100282" y="5741084"/>
            <a:ext cx="531778" cy="710093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4" name="Conector reto 1083">
            <a:extLst>
              <a:ext uri="{FF2B5EF4-FFF2-40B4-BE49-F238E27FC236}">
                <a16:creationId xmlns:a16="http://schemas.microsoft.com/office/drawing/2014/main" id="{8B6C63A4-773C-82AE-2F5E-7DA4BB9B9FD0}"/>
              </a:ext>
            </a:extLst>
          </p:cNvPr>
          <p:cNvCxnSpPr>
            <a:cxnSpLocks/>
          </p:cNvCxnSpPr>
          <p:nvPr/>
        </p:nvCxnSpPr>
        <p:spPr>
          <a:xfrm>
            <a:off x="6134645" y="5899574"/>
            <a:ext cx="409552" cy="588297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5" name="Conector reto 1084">
            <a:extLst>
              <a:ext uri="{FF2B5EF4-FFF2-40B4-BE49-F238E27FC236}">
                <a16:creationId xmlns:a16="http://schemas.microsoft.com/office/drawing/2014/main" id="{BB6BA68D-973A-AF52-69A0-AC3890D92C8B}"/>
              </a:ext>
            </a:extLst>
          </p:cNvPr>
          <p:cNvCxnSpPr>
            <a:cxnSpLocks/>
          </p:cNvCxnSpPr>
          <p:nvPr/>
        </p:nvCxnSpPr>
        <p:spPr>
          <a:xfrm>
            <a:off x="6125391" y="6021598"/>
            <a:ext cx="312551" cy="479553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6" name="Conector reto 1085">
            <a:extLst>
              <a:ext uri="{FF2B5EF4-FFF2-40B4-BE49-F238E27FC236}">
                <a16:creationId xmlns:a16="http://schemas.microsoft.com/office/drawing/2014/main" id="{047D345C-FA39-4FA8-8CB1-24BEDB140C9C}"/>
              </a:ext>
            </a:extLst>
          </p:cNvPr>
          <p:cNvCxnSpPr>
            <a:cxnSpLocks/>
          </p:cNvCxnSpPr>
          <p:nvPr/>
        </p:nvCxnSpPr>
        <p:spPr>
          <a:xfrm>
            <a:off x="6444408" y="5179004"/>
            <a:ext cx="218591" cy="450176"/>
          </a:xfrm>
          <a:prstGeom prst="line">
            <a:avLst/>
          </a:prstGeom>
          <a:ln w="38100">
            <a:solidFill>
              <a:srgbClr val="99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7" name="Conector de Seta Reta 1086">
            <a:extLst>
              <a:ext uri="{FF2B5EF4-FFF2-40B4-BE49-F238E27FC236}">
                <a16:creationId xmlns:a16="http://schemas.microsoft.com/office/drawing/2014/main" id="{D95BC599-F4BE-A38B-165E-59FF544A1FE9}"/>
              </a:ext>
            </a:extLst>
          </p:cNvPr>
          <p:cNvCxnSpPr>
            <a:cxnSpLocks/>
          </p:cNvCxnSpPr>
          <p:nvPr/>
        </p:nvCxnSpPr>
        <p:spPr>
          <a:xfrm rot="16200000">
            <a:off x="6840519" y="5529867"/>
            <a:ext cx="1" cy="346072"/>
          </a:xfrm>
          <a:prstGeom prst="straightConnector1">
            <a:avLst/>
          </a:prstGeom>
          <a:ln w="28575">
            <a:solidFill>
              <a:srgbClr val="9933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04831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ta: de Cima para Baixo 4">
            <a:extLst>
              <a:ext uri="{FF2B5EF4-FFF2-40B4-BE49-F238E27FC236}">
                <a16:creationId xmlns:a16="http://schemas.microsoft.com/office/drawing/2014/main" id="{15BBDD42-1F94-E7FC-185D-46C9A20B68C3}"/>
              </a:ext>
            </a:extLst>
          </p:cNvPr>
          <p:cNvSpPr/>
          <p:nvPr/>
        </p:nvSpPr>
        <p:spPr>
          <a:xfrm>
            <a:off x="3577165" y="1250781"/>
            <a:ext cx="352338" cy="188752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eta: de Cima para Baixo 5">
            <a:extLst>
              <a:ext uri="{FF2B5EF4-FFF2-40B4-BE49-F238E27FC236}">
                <a16:creationId xmlns:a16="http://schemas.microsoft.com/office/drawing/2014/main" id="{E6B3187B-7260-DCE5-BD08-3B606D402F6E}"/>
              </a:ext>
            </a:extLst>
          </p:cNvPr>
          <p:cNvSpPr/>
          <p:nvPr/>
        </p:nvSpPr>
        <p:spPr>
          <a:xfrm rot="5400000">
            <a:off x="3545009" y="1213032"/>
            <a:ext cx="352338" cy="188752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35E1FBA0-FABE-032C-43CC-E671887F115E}"/>
              </a:ext>
            </a:extLst>
          </p:cNvPr>
          <p:cNvSpPr/>
          <p:nvPr/>
        </p:nvSpPr>
        <p:spPr>
          <a:xfrm>
            <a:off x="2036385" y="1401782"/>
            <a:ext cx="1585518" cy="57884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Decisão Correta (1-</a:t>
            </a:r>
            <a:r>
              <a:rPr lang="el-G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α</a:t>
            </a:r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71E6B39-F40F-505F-2032-9C6E8AB64857}"/>
              </a:ext>
            </a:extLst>
          </p:cNvPr>
          <p:cNvSpPr/>
          <p:nvPr/>
        </p:nvSpPr>
        <p:spPr>
          <a:xfrm>
            <a:off x="3884762" y="1401782"/>
            <a:ext cx="1560352" cy="57884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 Tipo II (β)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D0D04B60-9339-CE6C-98EB-9AE6998B76BB}"/>
              </a:ext>
            </a:extLst>
          </p:cNvPr>
          <p:cNvSpPr/>
          <p:nvPr/>
        </p:nvSpPr>
        <p:spPr>
          <a:xfrm>
            <a:off x="436889" y="1401781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Não Rejeitar H0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66363B61-C21C-831A-4882-2C8DF6A06B61}"/>
              </a:ext>
            </a:extLst>
          </p:cNvPr>
          <p:cNvSpPr/>
          <p:nvPr/>
        </p:nvSpPr>
        <p:spPr>
          <a:xfrm>
            <a:off x="428494" y="2358126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Rejeitar H0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EF5B7E8E-8220-FD4F-89AC-A00FB5E4FBE6}"/>
              </a:ext>
            </a:extLst>
          </p:cNvPr>
          <p:cNvSpPr/>
          <p:nvPr/>
        </p:nvSpPr>
        <p:spPr>
          <a:xfrm>
            <a:off x="2016813" y="780994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H0 é verdadeira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BBED27DC-2534-264E-19ED-9F285D0B1D39}"/>
              </a:ext>
            </a:extLst>
          </p:cNvPr>
          <p:cNvSpPr/>
          <p:nvPr/>
        </p:nvSpPr>
        <p:spPr>
          <a:xfrm>
            <a:off x="3921810" y="780994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H0 é falsa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06975C0B-3F90-6E04-0897-5E5F7B65B81E}"/>
              </a:ext>
            </a:extLst>
          </p:cNvPr>
          <p:cNvSpPr/>
          <p:nvPr/>
        </p:nvSpPr>
        <p:spPr>
          <a:xfrm>
            <a:off x="2036385" y="2374908"/>
            <a:ext cx="1585518" cy="54528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 Tipo I (</a:t>
            </a:r>
            <a:r>
              <a:rPr lang="el-G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FA358A3F-B6E9-4677-29A0-433809E85C4A}"/>
              </a:ext>
            </a:extLst>
          </p:cNvPr>
          <p:cNvSpPr/>
          <p:nvPr/>
        </p:nvSpPr>
        <p:spPr>
          <a:xfrm>
            <a:off x="3894548" y="2374907"/>
            <a:ext cx="1540780" cy="54528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Decisão Correta (1-</a:t>
            </a:r>
            <a:r>
              <a:rPr lang="el-G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β)</a:t>
            </a:r>
          </a:p>
        </p:txBody>
      </p:sp>
      <p:sp>
        <p:nvSpPr>
          <p:cNvPr id="16" name="Espaço Reservado para Número de Slide 15">
            <a:extLst>
              <a:ext uri="{FF2B5EF4-FFF2-40B4-BE49-F238E27FC236}">
                <a16:creationId xmlns:a16="http://schemas.microsoft.com/office/drawing/2014/main" id="{BC16F51B-1A10-FD28-6993-01CFAB0EA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26</a:t>
            </a:fld>
            <a:endParaRPr lang="pt-BR"/>
          </a:p>
        </p:txBody>
      </p:sp>
      <p:sp>
        <p:nvSpPr>
          <p:cNvPr id="44" name="Seta: de Cima para Baixo 43">
            <a:extLst>
              <a:ext uri="{FF2B5EF4-FFF2-40B4-BE49-F238E27FC236}">
                <a16:creationId xmlns:a16="http://schemas.microsoft.com/office/drawing/2014/main" id="{F30C0EE7-B696-13DF-7894-7929D2548078}"/>
              </a:ext>
            </a:extLst>
          </p:cNvPr>
          <p:cNvSpPr/>
          <p:nvPr/>
        </p:nvSpPr>
        <p:spPr>
          <a:xfrm>
            <a:off x="9279264" y="1243869"/>
            <a:ext cx="352338" cy="188752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Seta: de Cima para Baixo 44">
            <a:extLst>
              <a:ext uri="{FF2B5EF4-FFF2-40B4-BE49-F238E27FC236}">
                <a16:creationId xmlns:a16="http://schemas.microsoft.com/office/drawing/2014/main" id="{D755E265-9A9B-BB67-EAB8-0BC8FEA86038}"/>
              </a:ext>
            </a:extLst>
          </p:cNvPr>
          <p:cNvSpPr/>
          <p:nvPr/>
        </p:nvSpPr>
        <p:spPr>
          <a:xfrm rot="5400000">
            <a:off x="9247108" y="1206120"/>
            <a:ext cx="352338" cy="188752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471C301A-CA22-F873-5962-F35187EB193A}"/>
              </a:ext>
            </a:extLst>
          </p:cNvPr>
          <p:cNvSpPr/>
          <p:nvPr/>
        </p:nvSpPr>
        <p:spPr>
          <a:xfrm>
            <a:off x="7738484" y="1394870"/>
            <a:ext cx="1585518" cy="57884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VN</a:t>
            </a:r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BAA2D601-FE30-29EE-5B17-4E97928614F7}"/>
              </a:ext>
            </a:extLst>
          </p:cNvPr>
          <p:cNvSpPr/>
          <p:nvPr/>
        </p:nvSpPr>
        <p:spPr>
          <a:xfrm>
            <a:off x="9586861" y="1394870"/>
            <a:ext cx="1560352" cy="57884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</a:t>
            </a:r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B87F605D-0A36-2C6A-BEA7-3F8953E87B59}"/>
              </a:ext>
            </a:extLst>
          </p:cNvPr>
          <p:cNvSpPr/>
          <p:nvPr/>
        </p:nvSpPr>
        <p:spPr>
          <a:xfrm>
            <a:off x="6138988" y="1394869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Negativo</a:t>
            </a:r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89E943F8-6C28-C693-E234-0FFEB927B434}"/>
              </a:ext>
            </a:extLst>
          </p:cNvPr>
          <p:cNvSpPr/>
          <p:nvPr/>
        </p:nvSpPr>
        <p:spPr>
          <a:xfrm>
            <a:off x="6130593" y="2351214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Positivo</a:t>
            </a:r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34663E70-1189-6666-3246-46778F9D526C}"/>
              </a:ext>
            </a:extLst>
          </p:cNvPr>
          <p:cNvSpPr/>
          <p:nvPr/>
        </p:nvSpPr>
        <p:spPr>
          <a:xfrm>
            <a:off x="7718912" y="774082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Negativo</a:t>
            </a:r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E0443E74-67A1-F4E5-7420-422420E0C502}"/>
              </a:ext>
            </a:extLst>
          </p:cNvPr>
          <p:cNvSpPr/>
          <p:nvPr/>
        </p:nvSpPr>
        <p:spPr>
          <a:xfrm>
            <a:off x="9623909" y="774082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Positivo</a:t>
            </a:r>
          </a:p>
        </p:txBody>
      </p:sp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20374B25-AD45-C529-565D-E25D0937C948}"/>
              </a:ext>
            </a:extLst>
          </p:cNvPr>
          <p:cNvSpPr/>
          <p:nvPr/>
        </p:nvSpPr>
        <p:spPr>
          <a:xfrm>
            <a:off x="7738484" y="2367996"/>
            <a:ext cx="1585518" cy="54528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FN</a:t>
            </a:r>
          </a:p>
        </p:txBody>
      </p:sp>
      <p:sp>
        <p:nvSpPr>
          <p:cNvPr id="53" name="Retângulo: Cantos Arredondados 52">
            <a:extLst>
              <a:ext uri="{FF2B5EF4-FFF2-40B4-BE49-F238E27FC236}">
                <a16:creationId xmlns:a16="http://schemas.microsoft.com/office/drawing/2014/main" id="{FD955590-F2B7-AB53-32E5-24FE0AD1C5FC}"/>
              </a:ext>
            </a:extLst>
          </p:cNvPr>
          <p:cNvSpPr/>
          <p:nvPr/>
        </p:nvSpPr>
        <p:spPr>
          <a:xfrm>
            <a:off x="9596647" y="2367995"/>
            <a:ext cx="1540780" cy="54528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VP</a:t>
            </a:r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29D9672D-F0C9-30FE-A775-E07FF5A085B4}"/>
              </a:ext>
            </a:extLst>
          </p:cNvPr>
          <p:cNvSpPr/>
          <p:nvPr/>
        </p:nvSpPr>
        <p:spPr>
          <a:xfrm rot="16200000">
            <a:off x="4350532" y="1884409"/>
            <a:ext cx="3093097" cy="35233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VALOR REAL</a:t>
            </a:r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9B3038AF-68B0-6045-4542-0FA29A30F56E}"/>
              </a:ext>
            </a:extLst>
          </p:cNvPr>
          <p:cNvSpPr/>
          <p:nvPr/>
        </p:nvSpPr>
        <p:spPr>
          <a:xfrm>
            <a:off x="7515075" y="138004"/>
            <a:ext cx="3093095" cy="363162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VALOR PREDITO</a:t>
            </a:r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741E51F9-C288-FB3E-B5D2-CDBA340672EC}"/>
              </a:ext>
            </a:extLst>
          </p:cNvPr>
          <p:cNvSpPr/>
          <p:nvPr/>
        </p:nvSpPr>
        <p:spPr>
          <a:xfrm>
            <a:off x="322238" y="520941"/>
            <a:ext cx="5262351" cy="309309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99AB52EC-7108-6C82-5830-2E8BC0978068}"/>
              </a:ext>
            </a:extLst>
          </p:cNvPr>
          <p:cNvSpPr/>
          <p:nvPr/>
        </p:nvSpPr>
        <p:spPr>
          <a:xfrm>
            <a:off x="6091449" y="514029"/>
            <a:ext cx="5262351" cy="309309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46" name="Seta: de Cima para Baixo 1045">
            <a:extLst>
              <a:ext uri="{FF2B5EF4-FFF2-40B4-BE49-F238E27FC236}">
                <a16:creationId xmlns:a16="http://schemas.microsoft.com/office/drawing/2014/main" id="{0C3267AE-76B8-C91A-5F32-6EAC8C58BD92}"/>
              </a:ext>
            </a:extLst>
          </p:cNvPr>
          <p:cNvSpPr/>
          <p:nvPr/>
        </p:nvSpPr>
        <p:spPr>
          <a:xfrm>
            <a:off x="3577165" y="4358219"/>
            <a:ext cx="352338" cy="188752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7" name="Seta: de Cima para Baixo 1046">
            <a:extLst>
              <a:ext uri="{FF2B5EF4-FFF2-40B4-BE49-F238E27FC236}">
                <a16:creationId xmlns:a16="http://schemas.microsoft.com/office/drawing/2014/main" id="{B0948A10-86B7-1EDF-1461-71A8A27E1C80}"/>
              </a:ext>
            </a:extLst>
          </p:cNvPr>
          <p:cNvSpPr/>
          <p:nvPr/>
        </p:nvSpPr>
        <p:spPr>
          <a:xfrm rot="5400000">
            <a:off x="3545009" y="4320470"/>
            <a:ext cx="352338" cy="188752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8" name="Retângulo: Cantos Arredondados 1047">
            <a:extLst>
              <a:ext uri="{FF2B5EF4-FFF2-40B4-BE49-F238E27FC236}">
                <a16:creationId xmlns:a16="http://schemas.microsoft.com/office/drawing/2014/main" id="{D93AB318-37B1-7A66-BDFE-CB23F7E9B1EF}"/>
              </a:ext>
            </a:extLst>
          </p:cNvPr>
          <p:cNvSpPr/>
          <p:nvPr/>
        </p:nvSpPr>
        <p:spPr>
          <a:xfrm>
            <a:off x="2036385" y="4509220"/>
            <a:ext cx="1585518" cy="57884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Decisão Correta (1-</a:t>
            </a:r>
            <a:r>
              <a:rPr lang="el-G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α</a:t>
            </a:r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49" name="Retângulo: Cantos Arredondados 1048">
            <a:extLst>
              <a:ext uri="{FF2B5EF4-FFF2-40B4-BE49-F238E27FC236}">
                <a16:creationId xmlns:a16="http://schemas.microsoft.com/office/drawing/2014/main" id="{E1BFF80F-DB7F-8BFA-BF70-E0D0D68C06F9}"/>
              </a:ext>
            </a:extLst>
          </p:cNvPr>
          <p:cNvSpPr/>
          <p:nvPr/>
        </p:nvSpPr>
        <p:spPr>
          <a:xfrm>
            <a:off x="3884762" y="4509220"/>
            <a:ext cx="1560352" cy="57884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 Tipo II (β)</a:t>
            </a:r>
          </a:p>
        </p:txBody>
      </p:sp>
      <p:sp>
        <p:nvSpPr>
          <p:cNvPr id="1050" name="Retângulo 1049">
            <a:extLst>
              <a:ext uri="{FF2B5EF4-FFF2-40B4-BE49-F238E27FC236}">
                <a16:creationId xmlns:a16="http://schemas.microsoft.com/office/drawing/2014/main" id="{8C7F0D20-6DB7-6F01-1F3B-B9386D3FE5A8}"/>
              </a:ext>
            </a:extLst>
          </p:cNvPr>
          <p:cNvSpPr/>
          <p:nvPr/>
        </p:nvSpPr>
        <p:spPr>
          <a:xfrm>
            <a:off x="436889" y="4509219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Não rejeitar que ele é adimplente</a:t>
            </a:r>
          </a:p>
        </p:txBody>
      </p:sp>
      <p:sp>
        <p:nvSpPr>
          <p:cNvPr id="1051" name="Retângulo 1050">
            <a:extLst>
              <a:ext uri="{FF2B5EF4-FFF2-40B4-BE49-F238E27FC236}">
                <a16:creationId xmlns:a16="http://schemas.microsoft.com/office/drawing/2014/main" id="{126A8701-FD9A-AE6D-8724-9A7EEB0259EC}"/>
              </a:ext>
            </a:extLst>
          </p:cNvPr>
          <p:cNvSpPr/>
          <p:nvPr/>
        </p:nvSpPr>
        <p:spPr>
          <a:xfrm>
            <a:off x="428494" y="5465564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Rejeitar que ele é adimplente</a:t>
            </a:r>
          </a:p>
        </p:txBody>
      </p:sp>
      <p:sp>
        <p:nvSpPr>
          <p:cNvPr id="1052" name="Retângulo 1051">
            <a:extLst>
              <a:ext uri="{FF2B5EF4-FFF2-40B4-BE49-F238E27FC236}">
                <a16:creationId xmlns:a16="http://schemas.microsoft.com/office/drawing/2014/main" id="{3A04E49F-34E7-31BC-2349-DE0D18BFB967}"/>
              </a:ext>
            </a:extLst>
          </p:cNvPr>
          <p:cNvSpPr/>
          <p:nvPr/>
        </p:nvSpPr>
        <p:spPr>
          <a:xfrm>
            <a:off x="2016813" y="3888432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 é realmente adimplente</a:t>
            </a:r>
          </a:p>
        </p:txBody>
      </p:sp>
      <p:sp>
        <p:nvSpPr>
          <p:cNvPr id="1053" name="Retângulo 1052">
            <a:extLst>
              <a:ext uri="{FF2B5EF4-FFF2-40B4-BE49-F238E27FC236}">
                <a16:creationId xmlns:a16="http://schemas.microsoft.com/office/drawing/2014/main" id="{C1FC3A02-3D57-D2AC-B80B-51B353B711E7}"/>
              </a:ext>
            </a:extLst>
          </p:cNvPr>
          <p:cNvSpPr/>
          <p:nvPr/>
        </p:nvSpPr>
        <p:spPr>
          <a:xfrm>
            <a:off x="3921810" y="3888432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 é realmente inadimplente</a:t>
            </a:r>
          </a:p>
        </p:txBody>
      </p:sp>
      <p:sp>
        <p:nvSpPr>
          <p:cNvPr id="1054" name="Retângulo: Cantos Arredondados 1053">
            <a:extLst>
              <a:ext uri="{FF2B5EF4-FFF2-40B4-BE49-F238E27FC236}">
                <a16:creationId xmlns:a16="http://schemas.microsoft.com/office/drawing/2014/main" id="{EA26EA5B-DE56-C9E5-97FF-B1F4590171E1}"/>
              </a:ext>
            </a:extLst>
          </p:cNvPr>
          <p:cNvSpPr/>
          <p:nvPr/>
        </p:nvSpPr>
        <p:spPr>
          <a:xfrm>
            <a:off x="2036385" y="5482346"/>
            <a:ext cx="1585518" cy="54528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 Tipo I (</a:t>
            </a:r>
            <a:r>
              <a:rPr lang="el-G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55" name="Retângulo: Cantos Arredondados 1054">
            <a:extLst>
              <a:ext uri="{FF2B5EF4-FFF2-40B4-BE49-F238E27FC236}">
                <a16:creationId xmlns:a16="http://schemas.microsoft.com/office/drawing/2014/main" id="{78CDC0BB-5F56-71B4-555F-A1F87D8457D0}"/>
              </a:ext>
            </a:extLst>
          </p:cNvPr>
          <p:cNvSpPr/>
          <p:nvPr/>
        </p:nvSpPr>
        <p:spPr>
          <a:xfrm>
            <a:off x="3894548" y="5482345"/>
            <a:ext cx="1540780" cy="54528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Decisão Correta (1-</a:t>
            </a:r>
            <a:r>
              <a:rPr lang="el-G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β)</a:t>
            </a:r>
          </a:p>
        </p:txBody>
      </p:sp>
      <p:sp>
        <p:nvSpPr>
          <p:cNvPr id="1056" name="Seta: de Cima para Baixo 1055">
            <a:extLst>
              <a:ext uri="{FF2B5EF4-FFF2-40B4-BE49-F238E27FC236}">
                <a16:creationId xmlns:a16="http://schemas.microsoft.com/office/drawing/2014/main" id="{C5CCE349-A6A1-5730-DB46-0F5F8BF19584}"/>
              </a:ext>
            </a:extLst>
          </p:cNvPr>
          <p:cNvSpPr/>
          <p:nvPr/>
        </p:nvSpPr>
        <p:spPr>
          <a:xfrm>
            <a:off x="9279264" y="4351307"/>
            <a:ext cx="352338" cy="188752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7" name="Seta: de Cima para Baixo 1056">
            <a:extLst>
              <a:ext uri="{FF2B5EF4-FFF2-40B4-BE49-F238E27FC236}">
                <a16:creationId xmlns:a16="http://schemas.microsoft.com/office/drawing/2014/main" id="{DB630546-8098-EB2C-3E3A-4ADE1AF9FBA8}"/>
              </a:ext>
            </a:extLst>
          </p:cNvPr>
          <p:cNvSpPr/>
          <p:nvPr/>
        </p:nvSpPr>
        <p:spPr>
          <a:xfrm rot="5400000">
            <a:off x="9247108" y="4313558"/>
            <a:ext cx="352338" cy="188752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8" name="Retângulo: Cantos Arredondados 1057">
            <a:extLst>
              <a:ext uri="{FF2B5EF4-FFF2-40B4-BE49-F238E27FC236}">
                <a16:creationId xmlns:a16="http://schemas.microsoft.com/office/drawing/2014/main" id="{3B5104FA-64AF-F6A9-4BF8-98E2F2F1816D}"/>
              </a:ext>
            </a:extLst>
          </p:cNvPr>
          <p:cNvSpPr/>
          <p:nvPr/>
        </p:nvSpPr>
        <p:spPr>
          <a:xfrm>
            <a:off x="7738484" y="4502308"/>
            <a:ext cx="1585518" cy="57884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Adimplente</a:t>
            </a:r>
          </a:p>
        </p:txBody>
      </p:sp>
      <p:sp>
        <p:nvSpPr>
          <p:cNvPr id="1059" name="Retângulo: Cantos Arredondados 1058">
            <a:extLst>
              <a:ext uri="{FF2B5EF4-FFF2-40B4-BE49-F238E27FC236}">
                <a16:creationId xmlns:a16="http://schemas.microsoft.com/office/drawing/2014/main" id="{7515AD5B-97DA-FAA9-D094-7AE354FD8C95}"/>
              </a:ext>
            </a:extLst>
          </p:cNvPr>
          <p:cNvSpPr/>
          <p:nvPr/>
        </p:nvSpPr>
        <p:spPr>
          <a:xfrm>
            <a:off x="9586861" y="4502308"/>
            <a:ext cx="1560352" cy="57884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</a:t>
            </a:r>
          </a:p>
        </p:txBody>
      </p:sp>
      <p:sp>
        <p:nvSpPr>
          <p:cNvPr id="1060" name="Retângulo 1059">
            <a:extLst>
              <a:ext uri="{FF2B5EF4-FFF2-40B4-BE49-F238E27FC236}">
                <a16:creationId xmlns:a16="http://schemas.microsoft.com/office/drawing/2014/main" id="{D813D70F-4D7A-67BE-6F68-F9107A5082F9}"/>
              </a:ext>
            </a:extLst>
          </p:cNvPr>
          <p:cNvSpPr/>
          <p:nvPr/>
        </p:nvSpPr>
        <p:spPr>
          <a:xfrm>
            <a:off x="6138988" y="4502307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Adimplente</a:t>
            </a:r>
          </a:p>
        </p:txBody>
      </p:sp>
      <p:sp>
        <p:nvSpPr>
          <p:cNvPr id="1061" name="Retângulo 1060">
            <a:extLst>
              <a:ext uri="{FF2B5EF4-FFF2-40B4-BE49-F238E27FC236}">
                <a16:creationId xmlns:a16="http://schemas.microsoft.com/office/drawing/2014/main" id="{750F4BC6-3089-2423-98B2-90BBE5F3365E}"/>
              </a:ext>
            </a:extLst>
          </p:cNvPr>
          <p:cNvSpPr/>
          <p:nvPr/>
        </p:nvSpPr>
        <p:spPr>
          <a:xfrm>
            <a:off x="6130593" y="5458652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Inadimplente</a:t>
            </a:r>
          </a:p>
        </p:txBody>
      </p:sp>
      <p:sp>
        <p:nvSpPr>
          <p:cNvPr id="1062" name="Retângulo 1061">
            <a:extLst>
              <a:ext uri="{FF2B5EF4-FFF2-40B4-BE49-F238E27FC236}">
                <a16:creationId xmlns:a16="http://schemas.microsoft.com/office/drawing/2014/main" id="{6F272AF7-4BC9-7239-4DCD-C29A7669622A}"/>
              </a:ext>
            </a:extLst>
          </p:cNvPr>
          <p:cNvSpPr/>
          <p:nvPr/>
        </p:nvSpPr>
        <p:spPr>
          <a:xfrm>
            <a:off x="7718912" y="3881520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Adimplente</a:t>
            </a:r>
          </a:p>
        </p:txBody>
      </p:sp>
      <p:sp>
        <p:nvSpPr>
          <p:cNvPr id="1063" name="Retângulo 1062">
            <a:extLst>
              <a:ext uri="{FF2B5EF4-FFF2-40B4-BE49-F238E27FC236}">
                <a16:creationId xmlns:a16="http://schemas.microsoft.com/office/drawing/2014/main" id="{3119CD82-F559-C046-67F6-F3432EF4A699}"/>
              </a:ext>
            </a:extLst>
          </p:cNvPr>
          <p:cNvSpPr/>
          <p:nvPr/>
        </p:nvSpPr>
        <p:spPr>
          <a:xfrm>
            <a:off x="9623909" y="3881520"/>
            <a:ext cx="1560352" cy="5788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Inadimplente</a:t>
            </a:r>
          </a:p>
        </p:txBody>
      </p:sp>
      <p:sp>
        <p:nvSpPr>
          <p:cNvPr id="1064" name="Retângulo: Cantos Arredondados 1063">
            <a:extLst>
              <a:ext uri="{FF2B5EF4-FFF2-40B4-BE49-F238E27FC236}">
                <a16:creationId xmlns:a16="http://schemas.microsoft.com/office/drawing/2014/main" id="{1066E43E-B14E-4364-C05D-4702C62D9B3C}"/>
              </a:ext>
            </a:extLst>
          </p:cNvPr>
          <p:cNvSpPr/>
          <p:nvPr/>
        </p:nvSpPr>
        <p:spPr>
          <a:xfrm>
            <a:off x="7738484" y="5475434"/>
            <a:ext cx="1585518" cy="545281"/>
          </a:xfrm>
          <a:prstGeom prst="roundRect">
            <a:avLst/>
          </a:prstGeom>
          <a:solidFill>
            <a:srgbClr val="9933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</a:p>
        </p:txBody>
      </p:sp>
      <p:sp>
        <p:nvSpPr>
          <p:cNvPr id="1065" name="Retângulo: Cantos Arredondados 1064">
            <a:extLst>
              <a:ext uri="{FF2B5EF4-FFF2-40B4-BE49-F238E27FC236}">
                <a16:creationId xmlns:a16="http://schemas.microsoft.com/office/drawing/2014/main" id="{1AB0DBAC-A165-89BF-B82D-FD964D158870}"/>
              </a:ext>
            </a:extLst>
          </p:cNvPr>
          <p:cNvSpPr/>
          <p:nvPr/>
        </p:nvSpPr>
        <p:spPr>
          <a:xfrm>
            <a:off x="9596647" y="5475433"/>
            <a:ext cx="1540780" cy="54528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VP</a:t>
            </a:r>
          </a:p>
        </p:txBody>
      </p:sp>
      <p:sp>
        <p:nvSpPr>
          <p:cNvPr id="1066" name="Retângulo 1065">
            <a:extLst>
              <a:ext uri="{FF2B5EF4-FFF2-40B4-BE49-F238E27FC236}">
                <a16:creationId xmlns:a16="http://schemas.microsoft.com/office/drawing/2014/main" id="{650E4641-3CD2-C67A-71F1-50703ADE2E5E}"/>
              </a:ext>
            </a:extLst>
          </p:cNvPr>
          <p:cNvSpPr/>
          <p:nvPr/>
        </p:nvSpPr>
        <p:spPr>
          <a:xfrm rot="16200000">
            <a:off x="4350532" y="4991847"/>
            <a:ext cx="3093097" cy="35233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BOM E MAU PAGADOR</a:t>
            </a:r>
          </a:p>
        </p:txBody>
      </p:sp>
      <p:sp>
        <p:nvSpPr>
          <p:cNvPr id="1068" name="Retângulo 1067">
            <a:extLst>
              <a:ext uri="{FF2B5EF4-FFF2-40B4-BE49-F238E27FC236}">
                <a16:creationId xmlns:a16="http://schemas.microsoft.com/office/drawing/2014/main" id="{292733F9-535A-5780-54C0-E4A0D0BA9450}"/>
              </a:ext>
            </a:extLst>
          </p:cNvPr>
          <p:cNvSpPr/>
          <p:nvPr/>
        </p:nvSpPr>
        <p:spPr>
          <a:xfrm>
            <a:off x="322238" y="3628379"/>
            <a:ext cx="5262351" cy="309309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69" name="Retângulo 1068">
            <a:extLst>
              <a:ext uri="{FF2B5EF4-FFF2-40B4-BE49-F238E27FC236}">
                <a16:creationId xmlns:a16="http://schemas.microsoft.com/office/drawing/2014/main" id="{584A7069-1D15-27F8-9605-96703AA8CF35}"/>
              </a:ext>
            </a:extLst>
          </p:cNvPr>
          <p:cNvSpPr/>
          <p:nvPr/>
        </p:nvSpPr>
        <p:spPr>
          <a:xfrm>
            <a:off x="6091449" y="3621467"/>
            <a:ext cx="5262351" cy="309309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31935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tângulo 38">
            <a:extLst>
              <a:ext uri="{FF2B5EF4-FFF2-40B4-BE49-F238E27FC236}">
                <a16:creationId xmlns:a16="http://schemas.microsoft.com/office/drawing/2014/main" id="{A137145E-EE79-BA18-7625-B9D5C1601B81}"/>
              </a:ext>
            </a:extLst>
          </p:cNvPr>
          <p:cNvSpPr/>
          <p:nvPr/>
        </p:nvSpPr>
        <p:spPr>
          <a:xfrm>
            <a:off x="0" y="0"/>
            <a:ext cx="5051394" cy="6858000"/>
          </a:xfrm>
          <a:prstGeom prst="rect">
            <a:avLst/>
          </a:prstGeom>
          <a:solidFill>
            <a:srgbClr val="28396E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E6F8CCC3-00D3-968F-3B75-C2770F5C4017}"/>
              </a:ext>
            </a:extLst>
          </p:cNvPr>
          <p:cNvSpPr/>
          <p:nvPr/>
        </p:nvSpPr>
        <p:spPr>
          <a:xfrm rot="5400000">
            <a:off x="2331791" y="2055844"/>
            <a:ext cx="1549309" cy="28704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500A7D93-88AE-E7B6-160C-23583CFBFEA4}"/>
              </a:ext>
            </a:extLst>
          </p:cNvPr>
          <p:cNvSpPr/>
          <p:nvPr/>
        </p:nvSpPr>
        <p:spPr>
          <a:xfrm rot="5400000">
            <a:off x="1893823" y="2064642"/>
            <a:ext cx="1549309" cy="28704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44F5CAD6-659B-D72A-DEF1-B6C9C67849E4}"/>
              </a:ext>
            </a:extLst>
          </p:cNvPr>
          <p:cNvSpPr/>
          <p:nvPr/>
        </p:nvSpPr>
        <p:spPr>
          <a:xfrm rot="5400000">
            <a:off x="1309381" y="2071970"/>
            <a:ext cx="1549309" cy="28704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BD8C2782-DD5C-309C-EBF9-D97468EC8D67}"/>
              </a:ext>
            </a:extLst>
          </p:cNvPr>
          <p:cNvSpPr/>
          <p:nvPr/>
        </p:nvSpPr>
        <p:spPr>
          <a:xfrm rot="5400000">
            <a:off x="871412" y="2055846"/>
            <a:ext cx="1549309" cy="28704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Triângulo isósceles 46">
            <a:extLst>
              <a:ext uri="{FF2B5EF4-FFF2-40B4-BE49-F238E27FC236}">
                <a16:creationId xmlns:a16="http://schemas.microsoft.com/office/drawing/2014/main" id="{8B579E88-A6C4-811B-84EA-0DF2B3012045}"/>
              </a:ext>
            </a:extLst>
          </p:cNvPr>
          <p:cNvSpPr/>
          <p:nvPr/>
        </p:nvSpPr>
        <p:spPr>
          <a:xfrm>
            <a:off x="1506244" y="381741"/>
            <a:ext cx="1747422" cy="870011"/>
          </a:xfrm>
          <a:prstGeom prst="triangl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911CE7B-28F0-E5CB-D99D-FDB0086DF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0283" y="293877"/>
            <a:ext cx="5051394" cy="753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7FA08E50-E764-CEC3-9CB0-7020F26253B7}"/>
              </a:ext>
            </a:extLst>
          </p:cNvPr>
          <p:cNvSpPr txBox="1"/>
          <p:nvPr/>
        </p:nvSpPr>
        <p:spPr>
          <a:xfrm>
            <a:off x="5051394" y="1873906"/>
            <a:ext cx="69723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ANÁLISE DE RISCO DE CRÉDITO DIRECIONADA POR MODELAGEM MATEMÁTICA E APRENDIZADO DE MÁQUINA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1F777C0D-99E4-75CA-8CB7-9C1CA06912BE}"/>
              </a:ext>
            </a:extLst>
          </p:cNvPr>
          <p:cNvSpPr/>
          <p:nvPr/>
        </p:nvSpPr>
        <p:spPr>
          <a:xfrm>
            <a:off x="5486400" y="5051394"/>
            <a:ext cx="5495277" cy="15127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Autor: Leonardo Aderaldo Vargas</a:t>
            </a:r>
          </a:p>
          <a:p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Orientador: Prof. Dr. Galdenoro </a:t>
            </a:r>
            <a:r>
              <a:rPr lang="pt-BR" sz="16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Botura</a:t>
            </a:r>
            <a:r>
              <a:rPr lang="pt-BR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Junior</a:t>
            </a:r>
          </a:p>
          <a:p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Coorientador: Prof. Dr. Leopoldo André </a:t>
            </a:r>
            <a:r>
              <a:rPr lang="pt-BR" sz="16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Lusquino</a:t>
            </a:r>
            <a:r>
              <a:rPr lang="pt-BR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Filho</a:t>
            </a:r>
          </a:p>
          <a:p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riângulo isósceles 45">
            <a:extLst>
              <a:ext uri="{FF2B5EF4-FFF2-40B4-BE49-F238E27FC236}">
                <a16:creationId xmlns:a16="http://schemas.microsoft.com/office/drawing/2014/main" id="{CC78FD4D-F760-EAEA-8603-B6C3D8A1D4E6}"/>
              </a:ext>
            </a:extLst>
          </p:cNvPr>
          <p:cNvSpPr/>
          <p:nvPr/>
        </p:nvSpPr>
        <p:spPr>
          <a:xfrm>
            <a:off x="1789590" y="479394"/>
            <a:ext cx="1180730" cy="674703"/>
          </a:xfrm>
          <a:prstGeom prst="triangl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F3AA6FF8-A5BA-8700-BD7A-3A26BBDF857B}"/>
              </a:ext>
            </a:extLst>
          </p:cNvPr>
          <p:cNvSpPr/>
          <p:nvPr/>
        </p:nvSpPr>
        <p:spPr>
          <a:xfrm>
            <a:off x="1506244" y="1251752"/>
            <a:ext cx="1747422" cy="17755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094BA112-B68A-07D5-D9F1-558B29A2F592}"/>
              </a:ext>
            </a:extLst>
          </p:cNvPr>
          <p:cNvSpPr/>
          <p:nvPr/>
        </p:nvSpPr>
        <p:spPr>
          <a:xfrm rot="10800000">
            <a:off x="1502544" y="2974021"/>
            <a:ext cx="1747420" cy="28704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F93DD7B7-CBC9-7C9A-7D8E-061BF6D05E92}"/>
              </a:ext>
            </a:extLst>
          </p:cNvPr>
          <p:cNvSpPr/>
          <p:nvPr/>
        </p:nvSpPr>
        <p:spPr>
          <a:xfrm rot="10800000">
            <a:off x="1536942" y="3054620"/>
            <a:ext cx="1678621" cy="134646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6" name="Gráfico 55" descr="Moedas">
            <a:extLst>
              <a:ext uri="{FF2B5EF4-FFF2-40B4-BE49-F238E27FC236}">
                <a16:creationId xmlns:a16="http://schemas.microsoft.com/office/drawing/2014/main" id="{872B1853-6F43-57D8-E660-4A946F051C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28419" y="632574"/>
            <a:ext cx="593324" cy="593324"/>
          </a:xfrm>
          <a:prstGeom prst="rect">
            <a:avLst/>
          </a:prstGeom>
        </p:spPr>
      </p:pic>
      <p:cxnSp>
        <p:nvCxnSpPr>
          <p:cNvPr id="58" name="Conector reto 57">
            <a:extLst>
              <a:ext uri="{FF2B5EF4-FFF2-40B4-BE49-F238E27FC236}">
                <a16:creationId xmlns:a16="http://schemas.microsoft.com/office/drawing/2014/main" id="{8F958488-9D5A-7E51-05A1-FC27DC16E6A4}"/>
              </a:ext>
            </a:extLst>
          </p:cNvPr>
          <p:cNvCxnSpPr>
            <a:cxnSpLocks/>
          </p:cNvCxnSpPr>
          <p:nvPr/>
        </p:nvCxnSpPr>
        <p:spPr>
          <a:xfrm flipH="1">
            <a:off x="804169" y="3429000"/>
            <a:ext cx="985421" cy="1779824"/>
          </a:xfrm>
          <a:prstGeom prst="line">
            <a:avLst/>
          </a:prstGeom>
          <a:ln w="762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to 59">
            <a:extLst>
              <a:ext uri="{FF2B5EF4-FFF2-40B4-BE49-F238E27FC236}">
                <a16:creationId xmlns:a16="http://schemas.microsoft.com/office/drawing/2014/main" id="{9BB5C082-1577-AA94-74E2-D7A59F9AABF1}"/>
              </a:ext>
            </a:extLst>
          </p:cNvPr>
          <p:cNvCxnSpPr>
            <a:cxnSpLocks/>
          </p:cNvCxnSpPr>
          <p:nvPr/>
        </p:nvCxnSpPr>
        <p:spPr>
          <a:xfrm flipH="1" flipV="1">
            <a:off x="2962923" y="3279709"/>
            <a:ext cx="985421" cy="1779824"/>
          </a:xfrm>
          <a:prstGeom prst="line">
            <a:avLst/>
          </a:prstGeom>
          <a:ln w="762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tângulo: Cantos Arredondados 60">
            <a:extLst>
              <a:ext uri="{FF2B5EF4-FFF2-40B4-BE49-F238E27FC236}">
                <a16:creationId xmlns:a16="http://schemas.microsoft.com/office/drawing/2014/main" id="{6A10593F-E1BA-9435-A6A6-C38D52CF3352}"/>
              </a:ext>
            </a:extLst>
          </p:cNvPr>
          <p:cNvSpPr/>
          <p:nvPr/>
        </p:nvSpPr>
        <p:spPr>
          <a:xfrm>
            <a:off x="346229" y="5291091"/>
            <a:ext cx="1190712" cy="656953"/>
          </a:xfrm>
          <a:prstGeom prst="roundRect">
            <a:avLst/>
          </a:prstGeom>
          <a:solidFill>
            <a:srgbClr val="35D39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3EAE4452-DF98-7DC4-3A57-7F20FC9BD4D0}"/>
              </a:ext>
            </a:extLst>
          </p:cNvPr>
          <p:cNvSpPr/>
          <p:nvPr/>
        </p:nvSpPr>
        <p:spPr>
          <a:xfrm>
            <a:off x="493451" y="5376757"/>
            <a:ext cx="864833" cy="48679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R$</a:t>
            </a: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5FAA9FA1-1840-81EC-058D-CA4CE4F21A67}"/>
              </a:ext>
            </a:extLst>
          </p:cNvPr>
          <p:cNvSpPr/>
          <p:nvPr/>
        </p:nvSpPr>
        <p:spPr>
          <a:xfrm>
            <a:off x="3419382" y="5206595"/>
            <a:ext cx="1190712" cy="656953"/>
          </a:xfrm>
          <a:prstGeom prst="roundRect">
            <a:avLst/>
          </a:prstGeom>
          <a:solidFill>
            <a:srgbClr val="35D39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24" name="Retângulo: Cantos Arredondados 1023">
            <a:extLst>
              <a:ext uri="{FF2B5EF4-FFF2-40B4-BE49-F238E27FC236}">
                <a16:creationId xmlns:a16="http://schemas.microsoft.com/office/drawing/2014/main" id="{003D0B0E-3232-FA57-D1EB-F2832266B343}"/>
              </a:ext>
            </a:extLst>
          </p:cNvPr>
          <p:cNvSpPr/>
          <p:nvPr/>
        </p:nvSpPr>
        <p:spPr>
          <a:xfrm>
            <a:off x="3566604" y="5292261"/>
            <a:ext cx="864833" cy="486791"/>
          </a:xfrm>
          <a:prstGeom prst="roundRect">
            <a:avLst/>
          </a:prstGeom>
          <a:solidFill>
            <a:srgbClr val="1B7B5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R$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760FAF4E-5ADE-116B-CA4F-1BBB440E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E7D2D-E592-41F1-8B20-DBD4249F3386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56700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3307</TotalTime>
  <Words>4232</Words>
  <Application>Microsoft Office PowerPoint</Application>
  <PresentationFormat>Widescreen</PresentationFormat>
  <Paragraphs>1370</Paragraphs>
  <Slides>27</Slides>
  <Notes>15</Notes>
  <HiddenSlides>16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27</vt:i4>
      </vt:variant>
    </vt:vector>
  </HeadingPairs>
  <TitlesOfParts>
    <vt:vector size="35" baseType="lpstr">
      <vt:lpstr>Arial</vt:lpstr>
      <vt:lpstr>Calibri</vt:lpstr>
      <vt:lpstr>Calibri Light</vt:lpstr>
      <vt:lpstr>Cambria Math</vt:lpstr>
      <vt:lpstr>Fira Sans Extra Condensed Medium</vt:lpstr>
      <vt:lpstr>Instrument Sans</vt:lpstr>
      <vt:lpstr>Times New Roman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Ciclo de Crédito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Ciclo de Crédito</dc:title>
  <dc:creator>Leonardo Vargas</dc:creator>
  <cp:lastModifiedBy>Leonardo Vargas</cp:lastModifiedBy>
  <cp:revision>271</cp:revision>
  <dcterms:created xsi:type="dcterms:W3CDTF">2023-03-22T15:15:24Z</dcterms:created>
  <dcterms:modified xsi:type="dcterms:W3CDTF">2024-04-02T02:53:56Z</dcterms:modified>
</cp:coreProperties>
</file>